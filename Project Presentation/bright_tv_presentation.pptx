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E1A"/>
          </a:solidFill>
          <a:ln/>
        </p:spPr>
      </p:sp>
      <p:sp>
        <p:nvSpPr>
          <p:cNvPr id="3" name="Shape 1"/>
          <p:cNvSpPr/>
          <p:nvPr/>
        </p:nvSpPr>
        <p:spPr>
          <a:xfrm>
            <a:off x="7772400" y="0"/>
            <a:ext cx="4416552" cy="6858000"/>
          </a:xfrm>
          <a:prstGeom prst="rect">
            <a:avLst/>
          </a:prstGeom>
          <a:solidFill>
            <a:srgbClr val="111827"/>
          </a:solidFill>
          <a:ln/>
        </p:spPr>
      </p:sp>
      <p:sp>
        <p:nvSpPr>
          <p:cNvPr id="4" name="Shape 2"/>
          <p:cNvSpPr/>
          <p:nvPr/>
        </p:nvSpPr>
        <p:spPr>
          <a:xfrm>
            <a:off x="0" y="6035040"/>
            <a:ext cx="12188952" cy="822960"/>
          </a:xfrm>
          <a:prstGeom prst="rect">
            <a:avLst/>
          </a:prstGeom>
          <a:solidFill>
            <a:srgbClr val="1A2236"/>
          </a:solidFill>
          <a:ln/>
        </p:spPr>
      </p:sp>
      <p:sp>
        <p:nvSpPr>
          <p:cNvPr id="5" name="Shape 3"/>
          <p:cNvSpPr/>
          <p:nvPr/>
        </p:nvSpPr>
        <p:spPr>
          <a:xfrm>
            <a:off x="0" y="0"/>
            <a:ext cx="12188952" cy="73152"/>
          </a:xfrm>
          <a:prstGeom prst="rect">
            <a:avLst/>
          </a:prstGeom>
          <a:solidFill>
            <a:srgbClr val="F59E0B"/>
          </a:solidFill>
          <a:ln/>
        </p:spPr>
      </p:sp>
      <p:sp>
        <p:nvSpPr>
          <p:cNvPr id="6" name="Shape 4"/>
          <p:cNvSpPr/>
          <p:nvPr/>
        </p:nvSpPr>
        <p:spPr>
          <a:xfrm>
            <a:off x="640080" y="640080"/>
            <a:ext cx="164592" cy="548640"/>
          </a:xfrm>
          <a:prstGeom prst="rect">
            <a:avLst/>
          </a:prstGeom>
          <a:solidFill>
            <a:srgbClr val="F59E0B"/>
          </a:solidFill>
          <a:ln/>
        </p:spPr>
      </p:sp>
      <p:sp>
        <p:nvSpPr>
          <p:cNvPr id="7" name="Text 5"/>
          <p:cNvSpPr/>
          <p:nvPr/>
        </p:nvSpPr>
        <p:spPr>
          <a:xfrm>
            <a:off x="914400" y="640080"/>
            <a:ext cx="3657600" cy="548640"/>
          </a:xfrm>
          <a:prstGeom prst="rect">
            <a:avLst/>
          </a:prstGeom>
          <a:noFill/>
          <a:ln/>
        </p:spPr>
        <p:txBody>
          <a:bodyPr wrap="square" rtlCol="0" anchor="ctr"/>
          <a:lstStyle/>
          <a:p>
            <a:pPr indent="0" marL="0">
              <a:buNone/>
            </a:pPr>
            <a:r>
              <a:rPr lang="en-US" sz="2800" b="1" i="1" dirty="0">
                <a:solidFill>
                  <a:srgbClr val="F5F7FA"/>
                </a:solidFill>
                <a:latin typeface="Georgia" pitchFamily="34" charset="0"/>
                <a:ea typeface="Georgia" pitchFamily="34" charset="-122"/>
                <a:cs typeface="Georgia" pitchFamily="34" charset="-120"/>
              </a:rPr>
              <a:t>bright.tv</a:t>
            </a:r>
            <a:endParaRPr lang="en-US" sz="2800" dirty="0"/>
          </a:p>
        </p:txBody>
      </p:sp>
      <p:sp>
        <p:nvSpPr>
          <p:cNvPr id="8" name="Text 6"/>
          <p:cNvSpPr/>
          <p:nvPr/>
        </p:nvSpPr>
        <p:spPr>
          <a:xfrm>
            <a:off x="914400" y="1143000"/>
            <a:ext cx="5486400" cy="274320"/>
          </a:xfrm>
          <a:prstGeom prst="rect">
            <a:avLst/>
          </a:prstGeom>
          <a:noFill/>
          <a:ln/>
        </p:spPr>
        <p:txBody>
          <a:bodyPr wrap="square" rtlCol="0" anchor="ctr"/>
          <a:lstStyle/>
          <a:p>
            <a:pPr indent="0" marL="0">
              <a:buNone/>
            </a:pPr>
            <a:r>
              <a:rPr lang="en-US" sz="900" spc="500" kern="0" dirty="0">
                <a:solidFill>
                  <a:srgbClr val="F59E0B"/>
                </a:solidFill>
                <a:latin typeface="Consolas" pitchFamily="34" charset="0"/>
                <a:ea typeface="Consolas" pitchFamily="34" charset="-122"/>
                <a:cs typeface="Consolas" pitchFamily="34" charset="-120"/>
              </a:rPr>
              <a:t>LIVE · NATIONAL · 9 PROVINCES</a:t>
            </a:r>
            <a:endParaRPr lang="en-US" sz="900" dirty="0"/>
          </a:p>
        </p:txBody>
      </p:sp>
      <p:sp>
        <p:nvSpPr>
          <p:cNvPr id="9" name="Text 7"/>
          <p:cNvSpPr/>
          <p:nvPr/>
        </p:nvSpPr>
        <p:spPr>
          <a:xfrm>
            <a:off x="640080" y="2240280"/>
            <a:ext cx="7315200" cy="640080"/>
          </a:xfrm>
          <a:prstGeom prst="rect">
            <a:avLst/>
          </a:prstGeom>
          <a:noFill/>
          <a:ln/>
        </p:spPr>
        <p:txBody>
          <a:bodyPr wrap="square" rtlCol="0" anchor="ctr"/>
          <a:lstStyle/>
          <a:p>
            <a:pPr indent="0" marL="0">
              <a:buNone/>
            </a:pPr>
            <a:r>
              <a:rPr lang="en-US" sz="4400" i="1" dirty="0">
                <a:solidFill>
                  <a:srgbClr val="B8C2D4"/>
                </a:solidFill>
                <a:latin typeface="Georgia" pitchFamily="34" charset="0"/>
                <a:ea typeface="Georgia" pitchFamily="34" charset="-122"/>
                <a:cs typeface="Georgia" pitchFamily="34" charset="-120"/>
              </a:rPr>
              <a:t>Growing the</a:t>
            </a:r>
            <a:endParaRPr lang="en-US" sz="4400" dirty="0"/>
          </a:p>
        </p:txBody>
      </p:sp>
      <p:sp>
        <p:nvSpPr>
          <p:cNvPr id="10" name="Text 8"/>
          <p:cNvSpPr/>
          <p:nvPr/>
        </p:nvSpPr>
        <p:spPr>
          <a:xfrm>
            <a:off x="640080" y="2788920"/>
            <a:ext cx="7498080" cy="1097280"/>
          </a:xfrm>
          <a:prstGeom prst="rect">
            <a:avLst/>
          </a:prstGeom>
          <a:noFill/>
          <a:ln/>
        </p:spPr>
        <p:txBody>
          <a:bodyPr wrap="square" rtlCol="0" anchor="ctr"/>
          <a:lstStyle/>
          <a:p>
            <a:pPr indent="0" marL="0">
              <a:buNone/>
            </a:pPr>
            <a:r>
              <a:rPr lang="en-US" sz="6000" b="1" dirty="0">
                <a:solidFill>
                  <a:srgbClr val="F5F7FA"/>
                </a:solidFill>
                <a:latin typeface="Georgia" pitchFamily="34" charset="0"/>
                <a:ea typeface="Georgia" pitchFamily="34" charset="-122"/>
                <a:cs typeface="Georgia" pitchFamily="34" charset="-120"/>
              </a:rPr>
              <a:t>Subscription Base</a:t>
            </a:r>
            <a:endParaRPr lang="en-US" sz="6000" dirty="0"/>
          </a:p>
        </p:txBody>
      </p:sp>
      <p:sp>
        <p:nvSpPr>
          <p:cNvPr id="11" name="Text 9"/>
          <p:cNvSpPr/>
          <p:nvPr/>
        </p:nvSpPr>
        <p:spPr>
          <a:xfrm>
            <a:off x="640080" y="3840480"/>
            <a:ext cx="7498080" cy="731520"/>
          </a:xfrm>
          <a:prstGeom prst="rect">
            <a:avLst/>
          </a:prstGeom>
          <a:noFill/>
          <a:ln/>
        </p:spPr>
        <p:txBody>
          <a:bodyPr wrap="square" rtlCol="0" anchor="ctr"/>
          <a:lstStyle/>
          <a:p>
            <a:pPr indent="0" marL="0">
              <a:buNone/>
            </a:pPr>
            <a:r>
              <a:rPr lang="en-US" sz="4400" i="1" dirty="0">
                <a:solidFill>
                  <a:srgbClr val="F59E0B"/>
                </a:solidFill>
                <a:latin typeface="Georgia" pitchFamily="34" charset="0"/>
                <a:ea typeface="Georgia" pitchFamily="34" charset="-122"/>
                <a:cs typeface="Georgia" pitchFamily="34" charset="-120"/>
              </a:rPr>
              <a:t>of bright.tv</a:t>
            </a:r>
            <a:endParaRPr lang="en-US" sz="4400" dirty="0"/>
          </a:p>
        </p:txBody>
      </p:sp>
      <p:sp>
        <p:nvSpPr>
          <p:cNvPr id="12" name="Text 10"/>
          <p:cNvSpPr/>
          <p:nvPr/>
        </p:nvSpPr>
        <p:spPr>
          <a:xfrm>
            <a:off x="658368" y="4754880"/>
            <a:ext cx="7315200" cy="365760"/>
          </a:xfrm>
          <a:prstGeom prst="rect">
            <a:avLst/>
          </a:prstGeom>
          <a:noFill/>
          <a:ln/>
        </p:spPr>
        <p:txBody>
          <a:bodyPr wrap="square" rtlCol="0" anchor="ctr"/>
          <a:lstStyle/>
          <a:p>
            <a:pPr indent="0" marL="0">
              <a:buNone/>
            </a:pPr>
            <a:r>
              <a:rPr lang="en-US" sz="1800" dirty="0">
                <a:solidFill>
                  <a:srgbClr val="B8C2D4"/>
                </a:solidFill>
                <a:latin typeface="Calibri" pitchFamily="34" charset="0"/>
                <a:ea typeface="Calibri" pitchFamily="34" charset="-122"/>
                <a:cs typeface="Calibri" pitchFamily="34" charset="-120"/>
              </a:rPr>
              <a:t>A Strategic Growth &amp; Market Analysis</a:t>
            </a:r>
            <a:endParaRPr lang="en-US" sz="1800" dirty="0"/>
          </a:p>
        </p:txBody>
      </p:sp>
      <p:sp>
        <p:nvSpPr>
          <p:cNvPr id="13" name="Shape 11"/>
          <p:cNvSpPr/>
          <p:nvPr/>
        </p:nvSpPr>
        <p:spPr>
          <a:xfrm>
            <a:off x="658368" y="5212080"/>
            <a:ext cx="457200" cy="36576"/>
          </a:xfrm>
          <a:prstGeom prst="rect">
            <a:avLst/>
          </a:prstGeom>
          <a:solidFill>
            <a:srgbClr val="F59E0B"/>
          </a:solidFill>
          <a:ln/>
        </p:spPr>
      </p:sp>
      <p:sp>
        <p:nvSpPr>
          <p:cNvPr id="14" name="Text 12"/>
          <p:cNvSpPr/>
          <p:nvPr/>
        </p:nvSpPr>
        <p:spPr>
          <a:xfrm>
            <a:off x="658368" y="5349240"/>
            <a:ext cx="2743200" cy="228600"/>
          </a:xfrm>
          <a:prstGeom prst="rect">
            <a:avLst/>
          </a:prstGeom>
          <a:noFill/>
          <a:ln/>
        </p:spPr>
        <p:txBody>
          <a:bodyPr wrap="square" rtlCol="0" anchor="ctr"/>
          <a:lstStyle/>
          <a:p>
            <a:pPr indent="0" marL="0">
              <a:buNone/>
            </a:pPr>
            <a:r>
              <a:rPr lang="en-US" sz="900" spc="400" kern="0" dirty="0">
                <a:solidFill>
                  <a:srgbClr val="7A879F"/>
                </a:solidFill>
                <a:latin typeface="Consolas" pitchFamily="34" charset="0"/>
                <a:ea typeface="Consolas" pitchFamily="34" charset="-122"/>
                <a:cs typeface="Consolas" pitchFamily="34" charset="-120"/>
              </a:rPr>
              <a:t>PREPARED BY</a:t>
            </a:r>
            <a:endParaRPr lang="en-US" sz="900" dirty="0"/>
          </a:p>
        </p:txBody>
      </p:sp>
      <p:sp>
        <p:nvSpPr>
          <p:cNvPr id="15" name="Text 13"/>
          <p:cNvSpPr/>
          <p:nvPr/>
        </p:nvSpPr>
        <p:spPr>
          <a:xfrm>
            <a:off x="658368" y="5577840"/>
            <a:ext cx="4572000" cy="365760"/>
          </a:xfrm>
          <a:prstGeom prst="rect">
            <a:avLst/>
          </a:prstGeom>
          <a:noFill/>
          <a:ln/>
        </p:spPr>
        <p:txBody>
          <a:bodyPr wrap="square" rtlCol="0" anchor="ctr"/>
          <a:lstStyle/>
          <a:p>
            <a:pPr indent="0" marL="0">
              <a:buNone/>
            </a:pPr>
            <a:r>
              <a:rPr lang="en-US" sz="2200" b="1" dirty="0">
                <a:solidFill>
                  <a:srgbClr val="F5F7FA"/>
                </a:solidFill>
                <a:latin typeface="Georgia" pitchFamily="34" charset="0"/>
                <a:ea typeface="Georgia" pitchFamily="34" charset="-122"/>
                <a:cs typeface="Georgia" pitchFamily="34" charset="-120"/>
              </a:rPr>
              <a:t>Ishe Anopa Group</a:t>
            </a:r>
            <a:endParaRPr lang="en-US" sz="2200" dirty="0"/>
          </a:p>
        </p:txBody>
      </p:sp>
      <p:sp>
        <p:nvSpPr>
          <p:cNvPr id="16" name="Shape 14"/>
          <p:cNvSpPr/>
          <p:nvPr/>
        </p:nvSpPr>
        <p:spPr>
          <a:xfrm>
            <a:off x="8229600" y="914400"/>
            <a:ext cx="3502152" cy="4937760"/>
          </a:xfrm>
          <a:prstGeom prst="rect">
            <a:avLst/>
          </a:prstGeom>
          <a:solidFill>
            <a:srgbClr val="1A2236"/>
          </a:solidFill>
          <a:ln w="12700">
            <a:solidFill>
              <a:srgbClr val="F59E0B"/>
            </a:solidFill>
            <a:prstDash val="solid"/>
          </a:ln>
        </p:spPr>
      </p:sp>
      <p:sp>
        <p:nvSpPr>
          <p:cNvPr id="17" name="Text 15"/>
          <p:cNvSpPr/>
          <p:nvPr/>
        </p:nvSpPr>
        <p:spPr>
          <a:xfrm>
            <a:off x="8412480" y="1097280"/>
            <a:ext cx="914400" cy="365760"/>
          </a:xfrm>
          <a:prstGeom prst="rect">
            <a:avLst/>
          </a:prstGeom>
          <a:noFill/>
          <a:ln/>
        </p:spPr>
        <p:txBody>
          <a:bodyPr wrap="square" rtlCol="0" anchor="ctr"/>
          <a:lstStyle/>
          <a:p>
            <a:pPr indent="0" marL="0">
              <a:buNone/>
            </a:pPr>
            <a:r>
              <a:rPr lang="en-US" sz="1100" b="1" spc="300" kern="0" dirty="0">
                <a:solidFill>
                  <a:srgbClr val="F59E0B"/>
                </a:solidFill>
                <a:latin typeface="Consolas" pitchFamily="34" charset="0"/>
                <a:ea typeface="Consolas" pitchFamily="34" charset="-122"/>
                <a:cs typeface="Consolas" pitchFamily="34" charset="-120"/>
              </a:rPr>
              <a:t>TX</a:t>
            </a:r>
            <a:endParaRPr lang="en-US" sz="1100" dirty="0"/>
          </a:p>
        </p:txBody>
      </p:sp>
      <p:sp>
        <p:nvSpPr>
          <p:cNvPr id="18" name="Text 16"/>
          <p:cNvSpPr/>
          <p:nvPr/>
        </p:nvSpPr>
        <p:spPr>
          <a:xfrm>
            <a:off x="10607040" y="1097280"/>
            <a:ext cx="1097280" cy="365760"/>
          </a:xfrm>
          <a:prstGeom prst="rect">
            <a:avLst/>
          </a:prstGeom>
          <a:noFill/>
          <a:ln/>
        </p:spPr>
        <p:txBody>
          <a:bodyPr wrap="square" rtlCol="0" anchor="ctr"/>
          <a:lstStyle/>
          <a:p>
            <a:pPr indent="0" marL="0">
              <a:buNone/>
            </a:pPr>
            <a:r>
              <a:rPr lang="en-US" sz="1000" b="1" dirty="0">
                <a:solidFill>
                  <a:srgbClr val="E11D48"/>
                </a:solidFill>
                <a:latin typeface="Consolas" pitchFamily="34" charset="0"/>
                <a:ea typeface="Consolas" pitchFamily="34" charset="-122"/>
                <a:cs typeface="Consolas" pitchFamily="34" charset="-120"/>
              </a:rPr>
              <a:t>● ON AIR</a:t>
            </a:r>
            <a:endParaRPr lang="en-US" sz="1000" dirty="0"/>
          </a:p>
        </p:txBody>
      </p:sp>
      <p:sp>
        <p:nvSpPr>
          <p:cNvPr id="19" name="Shape 17"/>
          <p:cNvSpPr/>
          <p:nvPr/>
        </p:nvSpPr>
        <p:spPr>
          <a:xfrm>
            <a:off x="8412480" y="1554480"/>
            <a:ext cx="3136392" cy="18288"/>
          </a:xfrm>
          <a:prstGeom prst="rect">
            <a:avLst/>
          </a:prstGeom>
          <a:solidFill>
            <a:srgbClr val="2A3650"/>
          </a:solidFill>
          <a:ln/>
        </p:spPr>
      </p:sp>
      <p:sp>
        <p:nvSpPr>
          <p:cNvPr id="20" name="Text 18"/>
          <p:cNvSpPr/>
          <p:nvPr/>
        </p:nvSpPr>
        <p:spPr>
          <a:xfrm>
            <a:off x="8412480" y="1874520"/>
            <a:ext cx="1463040" cy="640080"/>
          </a:xfrm>
          <a:prstGeom prst="rect">
            <a:avLst/>
          </a:prstGeom>
          <a:noFill/>
          <a:ln/>
        </p:spPr>
        <p:txBody>
          <a:bodyPr wrap="square" rtlCol="0" anchor="ctr"/>
          <a:lstStyle/>
          <a:p>
            <a:pPr indent="0" marL="0">
              <a:buNone/>
            </a:pPr>
            <a:r>
              <a:rPr lang="en-US" sz="4400" b="1" dirty="0">
                <a:solidFill>
                  <a:srgbClr val="F5F7FA"/>
                </a:solidFill>
                <a:latin typeface="Georgia" pitchFamily="34" charset="0"/>
                <a:ea typeface="Georgia" pitchFamily="34" charset="-122"/>
                <a:cs typeface="Georgia" pitchFamily="34" charset="-120"/>
              </a:rPr>
              <a:t>9</a:t>
            </a:r>
            <a:endParaRPr lang="en-US" sz="4400" dirty="0"/>
          </a:p>
        </p:txBody>
      </p:sp>
      <p:sp>
        <p:nvSpPr>
          <p:cNvPr id="21" name="Text 19"/>
          <p:cNvSpPr/>
          <p:nvPr/>
        </p:nvSpPr>
        <p:spPr>
          <a:xfrm>
            <a:off x="9966960" y="2057400"/>
            <a:ext cx="1828800" cy="365760"/>
          </a:xfrm>
          <a:prstGeom prst="rect">
            <a:avLst/>
          </a:prstGeom>
          <a:noFill/>
          <a:ln/>
        </p:spPr>
        <p:txBody>
          <a:bodyPr wrap="square" rtlCol="0" anchor="ctr"/>
          <a:lstStyle/>
          <a:p>
            <a:pPr indent="0" marL="0">
              <a:buNone/>
            </a:pPr>
            <a:r>
              <a:rPr lang="en-US" sz="900" spc="300" kern="0" dirty="0">
                <a:solidFill>
                  <a:srgbClr val="7A879F"/>
                </a:solidFill>
                <a:latin typeface="Consolas" pitchFamily="34" charset="0"/>
                <a:ea typeface="Consolas" pitchFamily="34" charset="-122"/>
                <a:cs typeface="Consolas" pitchFamily="34" charset="-120"/>
              </a:rPr>
              <a:t>PROVINCES</a:t>
            </a:r>
            <a:endParaRPr lang="en-US" sz="900" dirty="0"/>
          </a:p>
        </p:txBody>
      </p:sp>
      <p:sp>
        <p:nvSpPr>
          <p:cNvPr id="22" name="Text 20"/>
          <p:cNvSpPr/>
          <p:nvPr/>
        </p:nvSpPr>
        <p:spPr>
          <a:xfrm>
            <a:off x="8412480" y="2834640"/>
            <a:ext cx="1463040" cy="640080"/>
          </a:xfrm>
          <a:prstGeom prst="rect">
            <a:avLst/>
          </a:prstGeom>
          <a:noFill/>
          <a:ln/>
        </p:spPr>
        <p:txBody>
          <a:bodyPr wrap="square" rtlCol="0" anchor="ctr"/>
          <a:lstStyle/>
          <a:p>
            <a:pPr indent="0" marL="0">
              <a:buNone/>
            </a:pPr>
            <a:r>
              <a:rPr lang="en-US" sz="4400" b="1" dirty="0">
                <a:solidFill>
                  <a:srgbClr val="F5F7FA"/>
                </a:solidFill>
                <a:latin typeface="Georgia" pitchFamily="34" charset="0"/>
                <a:ea typeface="Georgia" pitchFamily="34" charset="-122"/>
                <a:cs typeface="Georgia" pitchFamily="34" charset="-120"/>
              </a:rPr>
              <a:t>~10</a:t>
            </a:r>
            <a:endParaRPr lang="en-US" sz="4400" dirty="0"/>
          </a:p>
        </p:txBody>
      </p:sp>
      <p:sp>
        <p:nvSpPr>
          <p:cNvPr id="23" name="Text 21"/>
          <p:cNvSpPr/>
          <p:nvPr/>
        </p:nvSpPr>
        <p:spPr>
          <a:xfrm>
            <a:off x="9966960" y="3017520"/>
            <a:ext cx="1828800" cy="365760"/>
          </a:xfrm>
          <a:prstGeom prst="rect">
            <a:avLst/>
          </a:prstGeom>
          <a:noFill/>
          <a:ln/>
        </p:spPr>
        <p:txBody>
          <a:bodyPr wrap="square" rtlCol="0" anchor="ctr"/>
          <a:lstStyle/>
          <a:p>
            <a:pPr indent="0" marL="0">
              <a:buNone/>
            </a:pPr>
            <a:r>
              <a:rPr lang="en-US" sz="900" spc="300" kern="0" dirty="0">
                <a:solidFill>
                  <a:srgbClr val="7A879F"/>
                </a:solidFill>
                <a:latin typeface="Consolas" pitchFamily="34" charset="0"/>
                <a:ea typeface="Consolas" pitchFamily="34" charset="-122"/>
                <a:cs typeface="Consolas" pitchFamily="34" charset="-120"/>
              </a:rPr>
              <a:t>CHANNELS</a:t>
            </a:r>
            <a:endParaRPr lang="en-US" sz="900" dirty="0"/>
          </a:p>
        </p:txBody>
      </p:sp>
      <p:sp>
        <p:nvSpPr>
          <p:cNvPr id="24" name="Text 22"/>
          <p:cNvSpPr/>
          <p:nvPr/>
        </p:nvSpPr>
        <p:spPr>
          <a:xfrm>
            <a:off x="8412480" y="3794760"/>
            <a:ext cx="1463040" cy="640080"/>
          </a:xfrm>
          <a:prstGeom prst="rect">
            <a:avLst/>
          </a:prstGeom>
          <a:noFill/>
          <a:ln/>
        </p:spPr>
        <p:txBody>
          <a:bodyPr wrap="square" rtlCol="0" anchor="ctr"/>
          <a:lstStyle/>
          <a:p>
            <a:pPr indent="0" marL="0">
              <a:buNone/>
            </a:pPr>
            <a:r>
              <a:rPr lang="en-US" sz="4400" b="1" dirty="0">
                <a:solidFill>
                  <a:srgbClr val="F5F7FA"/>
                </a:solidFill>
                <a:latin typeface="Georgia" pitchFamily="34" charset="0"/>
                <a:ea typeface="Georgia" pitchFamily="34" charset="-122"/>
                <a:cs typeface="Georgia" pitchFamily="34" charset="-120"/>
              </a:rPr>
              <a:t>10K</a:t>
            </a:r>
            <a:endParaRPr lang="en-US" sz="4400" dirty="0"/>
          </a:p>
        </p:txBody>
      </p:sp>
      <p:sp>
        <p:nvSpPr>
          <p:cNvPr id="25" name="Text 23"/>
          <p:cNvSpPr/>
          <p:nvPr/>
        </p:nvSpPr>
        <p:spPr>
          <a:xfrm>
            <a:off x="9966960" y="3977640"/>
            <a:ext cx="1828800" cy="365760"/>
          </a:xfrm>
          <a:prstGeom prst="rect">
            <a:avLst/>
          </a:prstGeom>
          <a:noFill/>
          <a:ln/>
        </p:spPr>
        <p:txBody>
          <a:bodyPr wrap="square" rtlCol="0" anchor="ctr"/>
          <a:lstStyle/>
          <a:p>
            <a:pPr indent="0" marL="0">
              <a:buNone/>
            </a:pPr>
            <a:r>
              <a:rPr lang="en-US" sz="900" spc="300" kern="0" dirty="0">
                <a:solidFill>
                  <a:srgbClr val="7A879F"/>
                </a:solidFill>
                <a:latin typeface="Consolas" pitchFamily="34" charset="0"/>
                <a:ea typeface="Consolas" pitchFamily="34" charset="-122"/>
                <a:cs typeface="Consolas" pitchFamily="34" charset="-120"/>
              </a:rPr>
              <a:t>RECORDS ANALYSED</a:t>
            </a:r>
            <a:endParaRPr lang="en-US" sz="900" dirty="0"/>
          </a:p>
        </p:txBody>
      </p:sp>
      <p:sp>
        <p:nvSpPr>
          <p:cNvPr id="26" name="Text 24"/>
          <p:cNvSpPr/>
          <p:nvPr/>
        </p:nvSpPr>
        <p:spPr>
          <a:xfrm>
            <a:off x="8412480" y="4754880"/>
            <a:ext cx="1463040" cy="640080"/>
          </a:xfrm>
          <a:prstGeom prst="rect">
            <a:avLst/>
          </a:prstGeom>
          <a:noFill/>
          <a:ln/>
        </p:spPr>
        <p:txBody>
          <a:bodyPr wrap="square" rtlCol="0" anchor="ctr"/>
          <a:lstStyle/>
          <a:p>
            <a:pPr indent="0" marL="0">
              <a:buNone/>
            </a:pPr>
            <a:r>
              <a:rPr lang="en-US" sz="4400" b="1" dirty="0">
                <a:solidFill>
                  <a:srgbClr val="F5F7FA"/>
                </a:solidFill>
                <a:latin typeface="Georgia" pitchFamily="34" charset="0"/>
                <a:ea typeface="Georgia" pitchFamily="34" charset="-122"/>
                <a:cs typeface="Georgia" pitchFamily="34" charset="-120"/>
              </a:rPr>
              <a:t>#1</a:t>
            </a:r>
            <a:endParaRPr lang="en-US" sz="4400" dirty="0"/>
          </a:p>
        </p:txBody>
      </p:sp>
      <p:sp>
        <p:nvSpPr>
          <p:cNvPr id="27" name="Text 25"/>
          <p:cNvSpPr/>
          <p:nvPr/>
        </p:nvSpPr>
        <p:spPr>
          <a:xfrm>
            <a:off x="9966960" y="4937760"/>
            <a:ext cx="1828800" cy="365760"/>
          </a:xfrm>
          <a:prstGeom prst="rect">
            <a:avLst/>
          </a:prstGeom>
          <a:noFill/>
          <a:ln/>
        </p:spPr>
        <p:txBody>
          <a:bodyPr wrap="square" rtlCol="0" anchor="ctr"/>
          <a:lstStyle/>
          <a:p>
            <a:pPr indent="0" marL="0">
              <a:buNone/>
            </a:pPr>
            <a:r>
              <a:rPr lang="en-US" sz="900" spc="300" kern="0" dirty="0">
                <a:solidFill>
                  <a:srgbClr val="7A879F"/>
                </a:solidFill>
                <a:latin typeface="Consolas" pitchFamily="34" charset="0"/>
                <a:ea typeface="Consolas" pitchFamily="34" charset="-122"/>
                <a:cs typeface="Consolas" pitchFamily="34" charset="-120"/>
              </a:rPr>
              <a:t>IN SPORTS</a:t>
            </a:r>
            <a:endParaRPr lang="en-US" sz="900" dirty="0"/>
          </a:p>
        </p:txBody>
      </p:sp>
      <p:sp>
        <p:nvSpPr>
          <p:cNvPr id="28" name="Text 26"/>
          <p:cNvSpPr/>
          <p:nvPr/>
        </p:nvSpPr>
        <p:spPr>
          <a:xfrm>
            <a:off x="640080" y="6263640"/>
            <a:ext cx="2743200" cy="274320"/>
          </a:xfrm>
          <a:prstGeom prst="rect">
            <a:avLst/>
          </a:prstGeom>
          <a:noFill/>
          <a:ln/>
        </p:spPr>
        <p:txBody>
          <a:bodyPr wrap="square" rtlCol="0" anchor="ctr"/>
          <a:lstStyle/>
          <a:p>
            <a:pPr indent="0" marL="0">
              <a:buNone/>
            </a:pPr>
            <a:r>
              <a:rPr lang="en-US" sz="1000" spc="400" kern="0" dirty="0">
                <a:solidFill>
                  <a:srgbClr val="F59E0B"/>
                </a:solidFill>
                <a:latin typeface="Consolas" pitchFamily="34" charset="0"/>
                <a:ea typeface="Consolas" pitchFamily="34" charset="-122"/>
                <a:cs typeface="Consolas" pitchFamily="34" charset="-120"/>
              </a:rPr>
              <a:t>APRIL · 2026</a:t>
            </a:r>
            <a:endParaRPr lang="en-US" sz="1000" dirty="0"/>
          </a:p>
        </p:txBody>
      </p:sp>
      <p:sp>
        <p:nvSpPr>
          <p:cNvPr id="29" name="Text 27"/>
          <p:cNvSpPr/>
          <p:nvPr/>
        </p:nvSpPr>
        <p:spPr>
          <a:xfrm>
            <a:off x="8229600" y="6263640"/>
            <a:ext cx="3657600" cy="274320"/>
          </a:xfrm>
          <a:prstGeom prst="rect">
            <a:avLst/>
          </a:prstGeom>
          <a:noFill/>
          <a:ln/>
        </p:spPr>
        <p:txBody>
          <a:bodyPr wrap="square" rtlCol="0" anchor="ctr"/>
          <a:lstStyle/>
          <a:p>
            <a:pPr algn="r" indent="0" marL="0">
              <a:buNone/>
            </a:pPr>
            <a:r>
              <a:rPr lang="en-US" sz="900" spc="300" kern="0" dirty="0">
                <a:solidFill>
                  <a:srgbClr val="7A879F"/>
                </a:solidFill>
                <a:latin typeface="Consolas" pitchFamily="34" charset="0"/>
                <a:ea typeface="Consolas" pitchFamily="34" charset="-122"/>
                <a:cs typeface="Consolas" pitchFamily="34" charset="-120"/>
              </a:rPr>
              <a:t>CONFIDENTIAL · INTERNAL DISTRIBUTION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2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00</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NAVIGATION</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Table of Contents</a:t>
            </a:r>
            <a:endParaRPr lang="en-US" sz="3600" dirty="0"/>
          </a:p>
        </p:txBody>
      </p:sp>
      <p:sp>
        <p:nvSpPr>
          <p:cNvPr id="11" name="Text 9"/>
          <p:cNvSpPr/>
          <p:nvPr/>
        </p:nvSpPr>
        <p:spPr>
          <a:xfrm>
            <a:off x="457200" y="1691640"/>
            <a:ext cx="8229600" cy="320040"/>
          </a:xfrm>
          <a:prstGeom prst="rect">
            <a:avLst/>
          </a:prstGeom>
          <a:noFill/>
          <a:ln/>
        </p:spPr>
        <p:txBody>
          <a:bodyPr wrap="square" rtlCol="0" anchor="ctr"/>
          <a:lstStyle/>
          <a:p>
            <a:pPr indent="0" marL="0">
              <a:buNone/>
            </a:pPr>
            <a:r>
              <a:rPr lang="en-US" sz="1400" i="1" dirty="0">
                <a:solidFill>
                  <a:srgbClr val="B8C2D4"/>
                </a:solidFill>
                <a:latin typeface="Calibri" pitchFamily="34" charset="0"/>
                <a:ea typeface="Calibri" pitchFamily="34" charset="-122"/>
                <a:cs typeface="Calibri" pitchFamily="34" charset="-120"/>
              </a:rPr>
              <a:t>A roadmap through bright.tv’s growth story — from data integrity to monetisation.</a:t>
            </a:r>
            <a:endParaRPr lang="en-US" sz="1400" dirty="0"/>
          </a:p>
        </p:txBody>
      </p:sp>
      <p:sp>
        <p:nvSpPr>
          <p:cNvPr id="12" name="Shape 10"/>
          <p:cNvSpPr/>
          <p:nvPr/>
        </p:nvSpPr>
        <p:spPr>
          <a:xfrm>
            <a:off x="457200" y="2377440"/>
            <a:ext cx="11247120" cy="640080"/>
          </a:xfrm>
          <a:prstGeom prst="rect">
            <a:avLst/>
          </a:prstGeom>
          <a:solidFill>
            <a:srgbClr val="1A2236"/>
          </a:solidFill>
          <a:ln w="6350">
            <a:solidFill>
              <a:srgbClr val="2A3650"/>
            </a:solidFill>
            <a:prstDash val="solid"/>
          </a:ln>
        </p:spPr>
      </p:sp>
      <p:sp>
        <p:nvSpPr>
          <p:cNvPr id="13" name="Shape 11"/>
          <p:cNvSpPr/>
          <p:nvPr/>
        </p:nvSpPr>
        <p:spPr>
          <a:xfrm>
            <a:off x="457200" y="2377440"/>
            <a:ext cx="73152" cy="640080"/>
          </a:xfrm>
          <a:prstGeom prst="rect">
            <a:avLst/>
          </a:prstGeom>
          <a:solidFill>
            <a:srgbClr val="F59E0B"/>
          </a:solidFill>
          <a:ln/>
        </p:spPr>
      </p:sp>
      <p:sp>
        <p:nvSpPr>
          <p:cNvPr id="14" name="Text 12"/>
          <p:cNvSpPr/>
          <p:nvPr/>
        </p:nvSpPr>
        <p:spPr>
          <a:xfrm>
            <a:off x="685800" y="2377440"/>
            <a:ext cx="914400" cy="640080"/>
          </a:xfrm>
          <a:prstGeom prst="rect">
            <a:avLst/>
          </a:prstGeom>
          <a:noFill/>
          <a:ln/>
        </p:spPr>
        <p:txBody>
          <a:bodyPr wrap="square" rtlCol="0" anchor="ctr"/>
          <a:lstStyle/>
          <a:p>
            <a:pPr indent="0" marL="0">
              <a:buNone/>
            </a:pPr>
            <a:r>
              <a:rPr lang="en-US" sz="2200" b="1" dirty="0">
                <a:solidFill>
                  <a:srgbClr val="F59E0B"/>
                </a:solidFill>
                <a:latin typeface="Consolas" pitchFamily="34" charset="0"/>
                <a:ea typeface="Consolas" pitchFamily="34" charset="-122"/>
                <a:cs typeface="Consolas" pitchFamily="34" charset="-120"/>
              </a:rPr>
              <a:t>01</a:t>
            </a:r>
            <a:endParaRPr lang="en-US" sz="2200" dirty="0"/>
          </a:p>
        </p:txBody>
      </p:sp>
      <p:sp>
        <p:nvSpPr>
          <p:cNvPr id="15" name="Text 13"/>
          <p:cNvSpPr/>
          <p:nvPr/>
        </p:nvSpPr>
        <p:spPr>
          <a:xfrm>
            <a:off x="1691640" y="2377440"/>
            <a:ext cx="5029200" cy="640080"/>
          </a:xfrm>
          <a:prstGeom prst="rect">
            <a:avLst/>
          </a:prstGeom>
          <a:noFill/>
          <a:ln/>
        </p:spPr>
        <p:txBody>
          <a:bodyPr wrap="square" rtlCol="0" anchor="ctr"/>
          <a:lstStyle/>
          <a:p>
            <a:pPr indent="0" marL="0">
              <a:buNone/>
            </a:pPr>
            <a:r>
              <a:rPr lang="en-US" sz="1800" b="1" dirty="0">
                <a:solidFill>
                  <a:srgbClr val="F5F7FA"/>
                </a:solidFill>
                <a:latin typeface="Georgia" pitchFamily="34" charset="0"/>
                <a:ea typeface="Georgia" pitchFamily="34" charset="-122"/>
                <a:cs typeface="Georgia" pitchFamily="34" charset="-120"/>
              </a:rPr>
              <a:t>Introduction &amp; Business Context</a:t>
            </a:r>
            <a:endParaRPr lang="en-US" sz="1800" dirty="0"/>
          </a:p>
        </p:txBody>
      </p:sp>
      <p:sp>
        <p:nvSpPr>
          <p:cNvPr id="16" name="Text 14"/>
          <p:cNvSpPr/>
          <p:nvPr/>
        </p:nvSpPr>
        <p:spPr>
          <a:xfrm>
            <a:off x="6858000" y="2377440"/>
            <a:ext cx="4754880" cy="640080"/>
          </a:xfrm>
          <a:prstGeom prst="rect">
            <a:avLst/>
          </a:prstGeom>
          <a:noFill/>
          <a:ln/>
        </p:spPr>
        <p:txBody>
          <a:bodyPr wrap="square" rtlCol="0" anchor="ctr"/>
          <a:lstStyle/>
          <a:p>
            <a:pPr indent="0" marL="0">
              <a:buNone/>
            </a:pPr>
            <a:r>
              <a:rPr lang="en-US" sz="1200" i="1" dirty="0">
                <a:solidFill>
                  <a:srgbClr val="B8C2D4"/>
                </a:solidFill>
                <a:latin typeface="Calibri" pitchFamily="34" charset="0"/>
                <a:ea typeface="Calibri" pitchFamily="34" charset="-122"/>
                <a:cs typeface="Calibri" pitchFamily="34" charset="-120"/>
              </a:rPr>
              <a:t>Who bright.tv is, the playing field.</a:t>
            </a:r>
            <a:endParaRPr lang="en-US" sz="1200" dirty="0"/>
          </a:p>
        </p:txBody>
      </p:sp>
      <p:sp>
        <p:nvSpPr>
          <p:cNvPr id="17" name="Shape 15"/>
          <p:cNvSpPr/>
          <p:nvPr/>
        </p:nvSpPr>
        <p:spPr>
          <a:xfrm>
            <a:off x="457200" y="3154680"/>
            <a:ext cx="11247120" cy="640080"/>
          </a:xfrm>
          <a:prstGeom prst="rect">
            <a:avLst/>
          </a:prstGeom>
          <a:solidFill>
            <a:srgbClr val="1A2236"/>
          </a:solidFill>
          <a:ln w="6350">
            <a:solidFill>
              <a:srgbClr val="2A3650"/>
            </a:solidFill>
            <a:prstDash val="solid"/>
          </a:ln>
        </p:spPr>
      </p:sp>
      <p:sp>
        <p:nvSpPr>
          <p:cNvPr id="18" name="Shape 16"/>
          <p:cNvSpPr/>
          <p:nvPr/>
        </p:nvSpPr>
        <p:spPr>
          <a:xfrm>
            <a:off x="457200" y="3154680"/>
            <a:ext cx="73152" cy="640080"/>
          </a:xfrm>
          <a:prstGeom prst="rect">
            <a:avLst/>
          </a:prstGeom>
          <a:solidFill>
            <a:srgbClr val="F59E0B"/>
          </a:solidFill>
          <a:ln/>
        </p:spPr>
      </p:sp>
      <p:sp>
        <p:nvSpPr>
          <p:cNvPr id="19" name="Text 17"/>
          <p:cNvSpPr/>
          <p:nvPr/>
        </p:nvSpPr>
        <p:spPr>
          <a:xfrm>
            <a:off x="685800" y="3154680"/>
            <a:ext cx="914400" cy="640080"/>
          </a:xfrm>
          <a:prstGeom prst="rect">
            <a:avLst/>
          </a:prstGeom>
          <a:noFill/>
          <a:ln/>
        </p:spPr>
        <p:txBody>
          <a:bodyPr wrap="square" rtlCol="0" anchor="ctr"/>
          <a:lstStyle/>
          <a:p>
            <a:pPr indent="0" marL="0">
              <a:buNone/>
            </a:pPr>
            <a:r>
              <a:rPr lang="en-US" sz="2200" b="1" dirty="0">
                <a:solidFill>
                  <a:srgbClr val="F59E0B"/>
                </a:solidFill>
                <a:latin typeface="Consolas" pitchFamily="34" charset="0"/>
                <a:ea typeface="Consolas" pitchFamily="34" charset="-122"/>
                <a:cs typeface="Consolas" pitchFamily="34" charset="-120"/>
              </a:rPr>
              <a:t>02</a:t>
            </a:r>
            <a:endParaRPr lang="en-US" sz="2200" dirty="0"/>
          </a:p>
        </p:txBody>
      </p:sp>
      <p:sp>
        <p:nvSpPr>
          <p:cNvPr id="20" name="Text 18"/>
          <p:cNvSpPr/>
          <p:nvPr/>
        </p:nvSpPr>
        <p:spPr>
          <a:xfrm>
            <a:off x="1691640" y="3154680"/>
            <a:ext cx="5029200" cy="640080"/>
          </a:xfrm>
          <a:prstGeom prst="rect">
            <a:avLst/>
          </a:prstGeom>
          <a:noFill/>
          <a:ln/>
        </p:spPr>
        <p:txBody>
          <a:bodyPr wrap="square" rtlCol="0" anchor="ctr"/>
          <a:lstStyle/>
          <a:p>
            <a:pPr indent="0" marL="0">
              <a:buNone/>
            </a:pPr>
            <a:r>
              <a:rPr lang="en-US" sz="1800" b="1" dirty="0">
                <a:solidFill>
                  <a:srgbClr val="F5F7FA"/>
                </a:solidFill>
                <a:latin typeface="Georgia" pitchFamily="34" charset="0"/>
                <a:ea typeface="Georgia" pitchFamily="34" charset="-122"/>
                <a:cs typeface="Georgia" pitchFamily="34" charset="-120"/>
              </a:rPr>
              <a:t>Data Quality &amp; Key Insights</a:t>
            </a:r>
            <a:endParaRPr lang="en-US" sz="1800" dirty="0"/>
          </a:p>
        </p:txBody>
      </p:sp>
      <p:sp>
        <p:nvSpPr>
          <p:cNvPr id="21" name="Text 19"/>
          <p:cNvSpPr/>
          <p:nvPr/>
        </p:nvSpPr>
        <p:spPr>
          <a:xfrm>
            <a:off x="6858000" y="3154680"/>
            <a:ext cx="4754880" cy="640080"/>
          </a:xfrm>
          <a:prstGeom prst="rect">
            <a:avLst/>
          </a:prstGeom>
          <a:noFill/>
          <a:ln/>
        </p:spPr>
        <p:txBody>
          <a:bodyPr wrap="square" rtlCol="0" anchor="ctr"/>
          <a:lstStyle/>
          <a:p>
            <a:pPr indent="0" marL="0">
              <a:buNone/>
            </a:pPr>
            <a:r>
              <a:rPr lang="en-US" sz="1200" i="1" dirty="0">
                <a:solidFill>
                  <a:srgbClr val="B8C2D4"/>
                </a:solidFill>
                <a:latin typeface="Calibri" pitchFamily="34" charset="0"/>
                <a:ea typeface="Calibri" pitchFamily="34" charset="-122"/>
                <a:cs typeface="Calibri" pitchFamily="34" charset="-120"/>
              </a:rPr>
              <a:t>What clean data unlocks.</a:t>
            </a:r>
            <a:endParaRPr lang="en-US" sz="1200" dirty="0"/>
          </a:p>
        </p:txBody>
      </p:sp>
      <p:sp>
        <p:nvSpPr>
          <p:cNvPr id="22" name="Shape 20"/>
          <p:cNvSpPr/>
          <p:nvPr/>
        </p:nvSpPr>
        <p:spPr>
          <a:xfrm>
            <a:off x="457200" y="3931920"/>
            <a:ext cx="11247120" cy="640080"/>
          </a:xfrm>
          <a:prstGeom prst="rect">
            <a:avLst/>
          </a:prstGeom>
          <a:solidFill>
            <a:srgbClr val="1A2236"/>
          </a:solidFill>
          <a:ln w="6350">
            <a:solidFill>
              <a:srgbClr val="2A3650"/>
            </a:solidFill>
            <a:prstDash val="solid"/>
          </a:ln>
        </p:spPr>
      </p:sp>
      <p:sp>
        <p:nvSpPr>
          <p:cNvPr id="23" name="Shape 21"/>
          <p:cNvSpPr/>
          <p:nvPr/>
        </p:nvSpPr>
        <p:spPr>
          <a:xfrm>
            <a:off x="457200" y="3931920"/>
            <a:ext cx="73152" cy="640080"/>
          </a:xfrm>
          <a:prstGeom prst="rect">
            <a:avLst/>
          </a:prstGeom>
          <a:solidFill>
            <a:srgbClr val="F59E0B"/>
          </a:solidFill>
          <a:ln/>
        </p:spPr>
      </p:sp>
      <p:sp>
        <p:nvSpPr>
          <p:cNvPr id="24" name="Text 22"/>
          <p:cNvSpPr/>
          <p:nvPr/>
        </p:nvSpPr>
        <p:spPr>
          <a:xfrm>
            <a:off x="685800" y="3931920"/>
            <a:ext cx="914400" cy="640080"/>
          </a:xfrm>
          <a:prstGeom prst="rect">
            <a:avLst/>
          </a:prstGeom>
          <a:noFill/>
          <a:ln/>
        </p:spPr>
        <p:txBody>
          <a:bodyPr wrap="square" rtlCol="0" anchor="ctr"/>
          <a:lstStyle/>
          <a:p>
            <a:pPr indent="0" marL="0">
              <a:buNone/>
            </a:pPr>
            <a:r>
              <a:rPr lang="en-US" sz="2200" b="1" dirty="0">
                <a:solidFill>
                  <a:srgbClr val="F59E0B"/>
                </a:solidFill>
                <a:latin typeface="Consolas" pitchFamily="34" charset="0"/>
                <a:ea typeface="Consolas" pitchFamily="34" charset="-122"/>
                <a:cs typeface="Consolas" pitchFamily="34" charset="-120"/>
              </a:rPr>
              <a:t>03</a:t>
            </a:r>
            <a:endParaRPr lang="en-US" sz="2200" dirty="0"/>
          </a:p>
        </p:txBody>
      </p:sp>
      <p:sp>
        <p:nvSpPr>
          <p:cNvPr id="25" name="Text 23"/>
          <p:cNvSpPr/>
          <p:nvPr/>
        </p:nvSpPr>
        <p:spPr>
          <a:xfrm>
            <a:off x="1691640" y="3931920"/>
            <a:ext cx="5029200" cy="640080"/>
          </a:xfrm>
          <a:prstGeom prst="rect">
            <a:avLst/>
          </a:prstGeom>
          <a:noFill/>
          <a:ln/>
        </p:spPr>
        <p:txBody>
          <a:bodyPr wrap="square" rtlCol="0" anchor="ctr"/>
          <a:lstStyle/>
          <a:p>
            <a:pPr indent="0" marL="0">
              <a:buNone/>
            </a:pPr>
            <a:r>
              <a:rPr lang="en-US" sz="1800" b="1" dirty="0">
                <a:solidFill>
                  <a:srgbClr val="F5F7FA"/>
                </a:solidFill>
                <a:latin typeface="Georgia" pitchFamily="34" charset="0"/>
                <a:ea typeface="Georgia" pitchFamily="34" charset="-122"/>
                <a:cs typeface="Georgia" pitchFamily="34" charset="-120"/>
              </a:rPr>
              <a:t>Audience &amp; Viewership Analysis</a:t>
            </a:r>
            <a:endParaRPr lang="en-US" sz="1800" dirty="0"/>
          </a:p>
        </p:txBody>
      </p:sp>
      <p:sp>
        <p:nvSpPr>
          <p:cNvPr id="26" name="Text 24"/>
          <p:cNvSpPr/>
          <p:nvPr/>
        </p:nvSpPr>
        <p:spPr>
          <a:xfrm>
            <a:off x="6858000" y="3931920"/>
            <a:ext cx="4754880" cy="640080"/>
          </a:xfrm>
          <a:prstGeom prst="rect">
            <a:avLst/>
          </a:prstGeom>
          <a:noFill/>
          <a:ln/>
        </p:spPr>
        <p:txBody>
          <a:bodyPr wrap="square" rtlCol="0" anchor="ctr"/>
          <a:lstStyle/>
          <a:p>
            <a:pPr indent="0" marL="0">
              <a:buNone/>
            </a:pPr>
            <a:r>
              <a:rPr lang="en-US" sz="1200" i="1" dirty="0">
                <a:solidFill>
                  <a:srgbClr val="B8C2D4"/>
                </a:solidFill>
                <a:latin typeface="Calibri" pitchFamily="34" charset="0"/>
                <a:ea typeface="Calibri" pitchFamily="34" charset="-122"/>
                <a:cs typeface="Calibri" pitchFamily="34" charset="-120"/>
              </a:rPr>
              <a:t>Who is watching, when, and where.</a:t>
            </a:r>
            <a:endParaRPr lang="en-US" sz="1200" dirty="0"/>
          </a:p>
        </p:txBody>
      </p:sp>
      <p:sp>
        <p:nvSpPr>
          <p:cNvPr id="27" name="Shape 25"/>
          <p:cNvSpPr/>
          <p:nvPr/>
        </p:nvSpPr>
        <p:spPr>
          <a:xfrm>
            <a:off x="457200" y="4709160"/>
            <a:ext cx="11247120" cy="640080"/>
          </a:xfrm>
          <a:prstGeom prst="rect">
            <a:avLst/>
          </a:prstGeom>
          <a:solidFill>
            <a:srgbClr val="1A2236"/>
          </a:solidFill>
          <a:ln w="6350">
            <a:solidFill>
              <a:srgbClr val="2A3650"/>
            </a:solidFill>
            <a:prstDash val="solid"/>
          </a:ln>
        </p:spPr>
      </p:sp>
      <p:sp>
        <p:nvSpPr>
          <p:cNvPr id="28" name="Shape 26"/>
          <p:cNvSpPr/>
          <p:nvPr/>
        </p:nvSpPr>
        <p:spPr>
          <a:xfrm>
            <a:off x="457200" y="4709160"/>
            <a:ext cx="73152" cy="640080"/>
          </a:xfrm>
          <a:prstGeom prst="rect">
            <a:avLst/>
          </a:prstGeom>
          <a:solidFill>
            <a:srgbClr val="F59E0B"/>
          </a:solidFill>
          <a:ln/>
        </p:spPr>
      </p:sp>
      <p:sp>
        <p:nvSpPr>
          <p:cNvPr id="29" name="Text 27"/>
          <p:cNvSpPr/>
          <p:nvPr/>
        </p:nvSpPr>
        <p:spPr>
          <a:xfrm>
            <a:off x="685800" y="4709160"/>
            <a:ext cx="914400" cy="640080"/>
          </a:xfrm>
          <a:prstGeom prst="rect">
            <a:avLst/>
          </a:prstGeom>
          <a:noFill/>
          <a:ln/>
        </p:spPr>
        <p:txBody>
          <a:bodyPr wrap="square" rtlCol="0" anchor="ctr"/>
          <a:lstStyle/>
          <a:p>
            <a:pPr indent="0" marL="0">
              <a:buNone/>
            </a:pPr>
            <a:r>
              <a:rPr lang="en-US" sz="2200" b="1" dirty="0">
                <a:solidFill>
                  <a:srgbClr val="F59E0B"/>
                </a:solidFill>
                <a:latin typeface="Consolas" pitchFamily="34" charset="0"/>
                <a:ea typeface="Consolas" pitchFamily="34" charset="-122"/>
                <a:cs typeface="Consolas" pitchFamily="34" charset="-120"/>
              </a:rPr>
              <a:t>04</a:t>
            </a:r>
            <a:endParaRPr lang="en-US" sz="2200" dirty="0"/>
          </a:p>
        </p:txBody>
      </p:sp>
      <p:sp>
        <p:nvSpPr>
          <p:cNvPr id="30" name="Text 28"/>
          <p:cNvSpPr/>
          <p:nvPr/>
        </p:nvSpPr>
        <p:spPr>
          <a:xfrm>
            <a:off x="1691640" y="4709160"/>
            <a:ext cx="5029200" cy="640080"/>
          </a:xfrm>
          <a:prstGeom prst="rect">
            <a:avLst/>
          </a:prstGeom>
          <a:noFill/>
          <a:ln/>
        </p:spPr>
        <p:txBody>
          <a:bodyPr wrap="square" rtlCol="0" anchor="ctr"/>
          <a:lstStyle/>
          <a:p>
            <a:pPr indent="0" marL="0">
              <a:buNone/>
            </a:pPr>
            <a:r>
              <a:rPr lang="en-US" sz="1800" b="1" dirty="0">
                <a:solidFill>
                  <a:srgbClr val="F5F7FA"/>
                </a:solidFill>
                <a:latin typeface="Georgia" pitchFamily="34" charset="0"/>
                <a:ea typeface="Georgia" pitchFamily="34" charset="-122"/>
                <a:cs typeface="Georgia" pitchFamily="34" charset="-120"/>
              </a:rPr>
              <a:t>Growth &amp; Opportunities</a:t>
            </a:r>
            <a:endParaRPr lang="en-US" sz="1800" dirty="0"/>
          </a:p>
        </p:txBody>
      </p:sp>
      <p:sp>
        <p:nvSpPr>
          <p:cNvPr id="31" name="Text 29"/>
          <p:cNvSpPr/>
          <p:nvPr/>
        </p:nvSpPr>
        <p:spPr>
          <a:xfrm>
            <a:off x="6858000" y="4709160"/>
            <a:ext cx="4754880" cy="640080"/>
          </a:xfrm>
          <a:prstGeom prst="rect">
            <a:avLst/>
          </a:prstGeom>
          <a:noFill/>
          <a:ln/>
        </p:spPr>
        <p:txBody>
          <a:bodyPr wrap="square" rtlCol="0" anchor="ctr"/>
          <a:lstStyle/>
          <a:p>
            <a:pPr indent="0" marL="0">
              <a:buNone/>
            </a:pPr>
            <a:r>
              <a:rPr lang="en-US" sz="1200" i="1" dirty="0">
                <a:solidFill>
                  <a:srgbClr val="B8C2D4"/>
                </a:solidFill>
                <a:latin typeface="Calibri" pitchFamily="34" charset="0"/>
                <a:ea typeface="Calibri" pitchFamily="34" charset="-122"/>
                <a:cs typeface="Calibri" pitchFamily="34" charset="-120"/>
              </a:rPr>
              <a:t>The female audience gap, prime-time leverage.</a:t>
            </a:r>
            <a:endParaRPr lang="en-US" sz="1200" dirty="0"/>
          </a:p>
        </p:txBody>
      </p:sp>
      <p:sp>
        <p:nvSpPr>
          <p:cNvPr id="32" name="Shape 30"/>
          <p:cNvSpPr/>
          <p:nvPr/>
        </p:nvSpPr>
        <p:spPr>
          <a:xfrm>
            <a:off x="457200" y="5486400"/>
            <a:ext cx="11247120" cy="640080"/>
          </a:xfrm>
          <a:prstGeom prst="rect">
            <a:avLst/>
          </a:prstGeom>
          <a:solidFill>
            <a:srgbClr val="1A2236"/>
          </a:solidFill>
          <a:ln w="6350">
            <a:solidFill>
              <a:srgbClr val="2A3650"/>
            </a:solidFill>
            <a:prstDash val="solid"/>
          </a:ln>
        </p:spPr>
      </p:sp>
      <p:sp>
        <p:nvSpPr>
          <p:cNvPr id="33" name="Shape 31"/>
          <p:cNvSpPr/>
          <p:nvPr/>
        </p:nvSpPr>
        <p:spPr>
          <a:xfrm>
            <a:off x="457200" y="5486400"/>
            <a:ext cx="73152" cy="640080"/>
          </a:xfrm>
          <a:prstGeom prst="rect">
            <a:avLst/>
          </a:prstGeom>
          <a:solidFill>
            <a:srgbClr val="F59E0B"/>
          </a:solidFill>
          <a:ln/>
        </p:spPr>
      </p:sp>
      <p:sp>
        <p:nvSpPr>
          <p:cNvPr id="34" name="Text 32"/>
          <p:cNvSpPr/>
          <p:nvPr/>
        </p:nvSpPr>
        <p:spPr>
          <a:xfrm>
            <a:off x="685800" y="5486400"/>
            <a:ext cx="914400" cy="640080"/>
          </a:xfrm>
          <a:prstGeom prst="rect">
            <a:avLst/>
          </a:prstGeom>
          <a:noFill/>
          <a:ln/>
        </p:spPr>
        <p:txBody>
          <a:bodyPr wrap="square" rtlCol="0" anchor="ctr"/>
          <a:lstStyle/>
          <a:p>
            <a:pPr indent="0" marL="0">
              <a:buNone/>
            </a:pPr>
            <a:r>
              <a:rPr lang="en-US" sz="2200" b="1" dirty="0">
                <a:solidFill>
                  <a:srgbClr val="F59E0B"/>
                </a:solidFill>
                <a:latin typeface="Consolas" pitchFamily="34" charset="0"/>
                <a:ea typeface="Consolas" pitchFamily="34" charset="-122"/>
                <a:cs typeface="Consolas" pitchFamily="34" charset="-120"/>
              </a:rPr>
              <a:t>05</a:t>
            </a:r>
            <a:endParaRPr lang="en-US" sz="2200" dirty="0"/>
          </a:p>
        </p:txBody>
      </p:sp>
      <p:sp>
        <p:nvSpPr>
          <p:cNvPr id="35" name="Text 33"/>
          <p:cNvSpPr/>
          <p:nvPr/>
        </p:nvSpPr>
        <p:spPr>
          <a:xfrm>
            <a:off x="1691640" y="5486400"/>
            <a:ext cx="5029200" cy="640080"/>
          </a:xfrm>
          <a:prstGeom prst="rect">
            <a:avLst/>
          </a:prstGeom>
          <a:noFill/>
          <a:ln/>
        </p:spPr>
        <p:txBody>
          <a:bodyPr wrap="square" rtlCol="0" anchor="ctr"/>
          <a:lstStyle/>
          <a:p>
            <a:pPr indent="0" marL="0">
              <a:buNone/>
            </a:pPr>
            <a:r>
              <a:rPr lang="en-US" sz="1800" b="1" dirty="0">
                <a:solidFill>
                  <a:srgbClr val="F5F7FA"/>
                </a:solidFill>
                <a:latin typeface="Georgia" pitchFamily="34" charset="0"/>
                <a:ea typeface="Georgia" pitchFamily="34" charset="-122"/>
                <a:cs typeface="Georgia" pitchFamily="34" charset="-120"/>
              </a:rPr>
              <a:t>Strategic Recommendations</a:t>
            </a:r>
            <a:endParaRPr lang="en-US" sz="1800" dirty="0"/>
          </a:p>
        </p:txBody>
      </p:sp>
      <p:sp>
        <p:nvSpPr>
          <p:cNvPr id="36" name="Text 34"/>
          <p:cNvSpPr/>
          <p:nvPr/>
        </p:nvSpPr>
        <p:spPr>
          <a:xfrm>
            <a:off x="6858000" y="5486400"/>
            <a:ext cx="4754880" cy="640080"/>
          </a:xfrm>
          <a:prstGeom prst="rect">
            <a:avLst/>
          </a:prstGeom>
          <a:noFill/>
          <a:ln/>
        </p:spPr>
        <p:txBody>
          <a:bodyPr wrap="square" rtlCol="0" anchor="ctr"/>
          <a:lstStyle/>
          <a:p>
            <a:pPr indent="0" marL="0">
              <a:buNone/>
            </a:pPr>
            <a:r>
              <a:rPr lang="en-US" sz="1200" i="1" dirty="0">
                <a:solidFill>
                  <a:srgbClr val="B8C2D4"/>
                </a:solidFill>
                <a:latin typeface="Calibri" pitchFamily="34" charset="0"/>
                <a:ea typeface="Calibri" pitchFamily="34" charset="-122"/>
                <a:cs typeface="Calibri" pitchFamily="34" charset="-120"/>
              </a:rPr>
              <a:t>A focused plan for sustainable growth.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3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01</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INTRODUCTION &amp; BUSINESS CONTEXT</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A national broadcaster, built on sport.</a:t>
            </a:r>
            <a:endParaRPr lang="en-US" sz="3600" dirty="0"/>
          </a:p>
        </p:txBody>
      </p:sp>
      <p:sp>
        <p:nvSpPr>
          <p:cNvPr id="11" name="Text 9"/>
          <p:cNvSpPr/>
          <p:nvPr/>
        </p:nvSpPr>
        <p:spPr>
          <a:xfrm>
            <a:off x="457200" y="1828800"/>
            <a:ext cx="6949440" cy="1828800"/>
          </a:xfrm>
          <a:prstGeom prst="rect">
            <a:avLst/>
          </a:prstGeom>
          <a:noFill/>
          <a:ln/>
        </p:spPr>
        <p:txBody>
          <a:bodyPr wrap="square" rtlCol="0" anchor="ctr"/>
          <a:lstStyle/>
          <a:p>
            <a:pPr indent="0" marL="0">
              <a:spcAft>
                <a:spcPts val="800"/>
              </a:spcAft>
              <a:buNone/>
            </a:pPr>
            <a:r>
              <a:rPr lang="en-US" sz="1600" dirty="0">
                <a:solidFill>
                  <a:srgbClr val="B8C2D4"/>
                </a:solidFill>
                <a:latin typeface="Calibri" pitchFamily="34" charset="0"/>
                <a:ea typeface="Calibri" pitchFamily="34" charset="-122"/>
                <a:cs typeface="Calibri" pitchFamily="34" charset="-120"/>
              </a:rPr>
              <a:t>bright.tv operates a portfolio of approximately ten popular channels reaching audiences across all nine South African provinces. The sports channel is the consistent leader — the flagship that anchors viewership and engagement.</a:t>
            </a:r>
            <a:endParaRPr lang="en-US" sz="1600" dirty="0"/>
          </a:p>
        </p:txBody>
      </p:sp>
      <p:sp>
        <p:nvSpPr>
          <p:cNvPr id="12" name="Text 10"/>
          <p:cNvSpPr/>
          <p:nvPr/>
        </p:nvSpPr>
        <p:spPr>
          <a:xfrm>
            <a:off x="457200" y="3657600"/>
            <a:ext cx="6949440" cy="1280160"/>
          </a:xfrm>
          <a:prstGeom prst="rect">
            <a:avLst/>
          </a:prstGeom>
          <a:noFill/>
          <a:ln/>
        </p:spPr>
        <p:txBody>
          <a:bodyPr wrap="square" rtlCol="0" anchor="ctr"/>
          <a:lstStyle/>
          <a:p>
            <a:pPr indent="0" marL="0">
              <a:buNone/>
            </a:pPr>
            <a:r>
              <a:rPr lang="en-US" sz="1400" i="1" dirty="0">
                <a:solidFill>
                  <a:srgbClr val="F5F7FA"/>
                </a:solidFill>
                <a:latin typeface="Calibri" pitchFamily="34" charset="0"/>
                <a:ea typeface="Calibri" pitchFamily="34" charset="-122"/>
                <a:cs typeface="Calibri" pitchFamily="34" charset="-120"/>
              </a:rPr>
              <a:t>This national reach, combined with category-leading sport programming, positions bright.tv to convert audience scale into subscription growth.</a:t>
            </a:r>
            <a:endParaRPr lang="en-US" sz="1400" dirty="0"/>
          </a:p>
        </p:txBody>
      </p:sp>
      <p:sp>
        <p:nvSpPr>
          <p:cNvPr id="13" name="Shape 11"/>
          <p:cNvSpPr/>
          <p:nvPr/>
        </p:nvSpPr>
        <p:spPr>
          <a:xfrm>
            <a:off x="7863840" y="1783080"/>
            <a:ext cx="3840480" cy="1371600"/>
          </a:xfrm>
          <a:prstGeom prst="rect">
            <a:avLst/>
          </a:prstGeom>
          <a:solidFill>
            <a:srgbClr val="1A2236"/>
          </a:solidFill>
          <a:ln w="9525">
            <a:solidFill>
              <a:srgbClr val="2A3650"/>
            </a:solidFill>
            <a:prstDash val="solid"/>
          </a:ln>
        </p:spPr>
      </p:sp>
      <p:sp>
        <p:nvSpPr>
          <p:cNvPr id="14" name="Shape 12"/>
          <p:cNvSpPr/>
          <p:nvPr/>
        </p:nvSpPr>
        <p:spPr>
          <a:xfrm>
            <a:off x="7863840" y="1783080"/>
            <a:ext cx="73152" cy="1371600"/>
          </a:xfrm>
          <a:prstGeom prst="rect">
            <a:avLst/>
          </a:prstGeom>
          <a:solidFill>
            <a:srgbClr val="F59E0B"/>
          </a:solidFill>
          <a:ln/>
        </p:spPr>
      </p:sp>
      <p:sp>
        <p:nvSpPr>
          <p:cNvPr id="15" name="Text 13"/>
          <p:cNvSpPr/>
          <p:nvPr/>
        </p:nvSpPr>
        <p:spPr>
          <a:xfrm>
            <a:off x="8046720" y="1874520"/>
            <a:ext cx="1828800" cy="822960"/>
          </a:xfrm>
          <a:prstGeom prst="rect">
            <a:avLst/>
          </a:prstGeom>
          <a:noFill/>
          <a:ln/>
        </p:spPr>
        <p:txBody>
          <a:bodyPr wrap="square" rtlCol="0" anchor="ctr"/>
          <a:lstStyle/>
          <a:p>
            <a:pPr indent="0" marL="0">
              <a:buNone/>
            </a:pPr>
            <a:r>
              <a:rPr lang="en-US" sz="5600" b="1" dirty="0">
                <a:solidFill>
                  <a:srgbClr val="F5F7FA"/>
                </a:solidFill>
                <a:latin typeface="Georgia" pitchFamily="34" charset="0"/>
                <a:ea typeface="Georgia" pitchFamily="34" charset="-122"/>
                <a:cs typeface="Georgia" pitchFamily="34" charset="-120"/>
              </a:rPr>
              <a:t>9</a:t>
            </a:r>
            <a:endParaRPr lang="en-US" sz="5600" dirty="0"/>
          </a:p>
        </p:txBody>
      </p:sp>
      <p:sp>
        <p:nvSpPr>
          <p:cNvPr id="16" name="Text 14"/>
          <p:cNvSpPr/>
          <p:nvPr/>
        </p:nvSpPr>
        <p:spPr>
          <a:xfrm>
            <a:off x="9875520" y="2286000"/>
            <a:ext cx="1828800" cy="365760"/>
          </a:xfrm>
          <a:prstGeom prst="rect">
            <a:avLst/>
          </a:prstGeom>
          <a:noFill/>
          <a:ln/>
        </p:spPr>
        <p:txBody>
          <a:bodyPr wrap="square" rtlCol="0" anchor="ctr"/>
          <a:lstStyle/>
          <a:p>
            <a:pPr indent="0" marL="0">
              <a:buNone/>
            </a:pPr>
            <a:r>
              <a:rPr lang="en-US" sz="1000" spc="300" kern="0" dirty="0">
                <a:solidFill>
                  <a:srgbClr val="7A879F"/>
                </a:solidFill>
                <a:latin typeface="Consolas" pitchFamily="34" charset="0"/>
                <a:ea typeface="Consolas" pitchFamily="34" charset="-122"/>
                <a:cs typeface="Consolas" pitchFamily="34" charset="-120"/>
              </a:rPr>
              <a:t>Provinces covered</a:t>
            </a:r>
            <a:endParaRPr lang="en-US" sz="1000" dirty="0"/>
          </a:p>
        </p:txBody>
      </p:sp>
      <p:sp>
        <p:nvSpPr>
          <p:cNvPr id="17" name="Shape 15"/>
          <p:cNvSpPr/>
          <p:nvPr/>
        </p:nvSpPr>
        <p:spPr>
          <a:xfrm>
            <a:off x="7863840" y="3337560"/>
            <a:ext cx="3840480" cy="1371600"/>
          </a:xfrm>
          <a:prstGeom prst="rect">
            <a:avLst/>
          </a:prstGeom>
          <a:solidFill>
            <a:srgbClr val="1A2236"/>
          </a:solidFill>
          <a:ln w="9525">
            <a:solidFill>
              <a:srgbClr val="2A3650"/>
            </a:solidFill>
            <a:prstDash val="solid"/>
          </a:ln>
        </p:spPr>
      </p:sp>
      <p:sp>
        <p:nvSpPr>
          <p:cNvPr id="18" name="Shape 16"/>
          <p:cNvSpPr/>
          <p:nvPr/>
        </p:nvSpPr>
        <p:spPr>
          <a:xfrm>
            <a:off x="7863840" y="3337560"/>
            <a:ext cx="73152" cy="1371600"/>
          </a:xfrm>
          <a:prstGeom prst="rect">
            <a:avLst/>
          </a:prstGeom>
          <a:solidFill>
            <a:srgbClr val="3B82F6"/>
          </a:solidFill>
          <a:ln/>
        </p:spPr>
      </p:sp>
      <p:sp>
        <p:nvSpPr>
          <p:cNvPr id="19" name="Text 17"/>
          <p:cNvSpPr/>
          <p:nvPr/>
        </p:nvSpPr>
        <p:spPr>
          <a:xfrm>
            <a:off x="8046720" y="3429000"/>
            <a:ext cx="1828800" cy="822960"/>
          </a:xfrm>
          <a:prstGeom prst="rect">
            <a:avLst/>
          </a:prstGeom>
          <a:noFill/>
          <a:ln/>
        </p:spPr>
        <p:txBody>
          <a:bodyPr wrap="square" rtlCol="0" anchor="ctr"/>
          <a:lstStyle/>
          <a:p>
            <a:pPr indent="0" marL="0">
              <a:buNone/>
            </a:pPr>
            <a:r>
              <a:rPr lang="en-US" sz="5600" b="1" dirty="0">
                <a:solidFill>
                  <a:srgbClr val="F5F7FA"/>
                </a:solidFill>
                <a:latin typeface="Georgia" pitchFamily="34" charset="0"/>
                <a:ea typeface="Georgia" pitchFamily="34" charset="-122"/>
                <a:cs typeface="Georgia" pitchFamily="34" charset="-120"/>
              </a:rPr>
              <a:t>10</a:t>
            </a:r>
            <a:endParaRPr lang="en-US" sz="5600" dirty="0"/>
          </a:p>
        </p:txBody>
      </p:sp>
      <p:sp>
        <p:nvSpPr>
          <p:cNvPr id="20" name="Text 18"/>
          <p:cNvSpPr/>
          <p:nvPr/>
        </p:nvSpPr>
        <p:spPr>
          <a:xfrm>
            <a:off x="9875520" y="3840480"/>
            <a:ext cx="1828800" cy="365760"/>
          </a:xfrm>
          <a:prstGeom prst="rect">
            <a:avLst/>
          </a:prstGeom>
          <a:noFill/>
          <a:ln/>
        </p:spPr>
        <p:txBody>
          <a:bodyPr wrap="square" rtlCol="0" anchor="ctr"/>
          <a:lstStyle/>
          <a:p>
            <a:pPr indent="0" marL="0">
              <a:buNone/>
            </a:pPr>
            <a:r>
              <a:rPr lang="en-US" sz="1000" spc="300" kern="0" dirty="0">
                <a:solidFill>
                  <a:srgbClr val="7A879F"/>
                </a:solidFill>
                <a:latin typeface="Consolas" pitchFamily="34" charset="0"/>
                <a:ea typeface="Consolas" pitchFamily="34" charset="-122"/>
                <a:cs typeface="Consolas" pitchFamily="34" charset="-120"/>
              </a:rPr>
              <a:t>Channels in portfolio</a:t>
            </a:r>
            <a:endParaRPr lang="en-US" sz="1000" dirty="0"/>
          </a:p>
        </p:txBody>
      </p:sp>
      <p:sp>
        <p:nvSpPr>
          <p:cNvPr id="21" name="Shape 19"/>
          <p:cNvSpPr/>
          <p:nvPr/>
        </p:nvSpPr>
        <p:spPr>
          <a:xfrm>
            <a:off x="7863840" y="4892040"/>
            <a:ext cx="3840480" cy="1371600"/>
          </a:xfrm>
          <a:prstGeom prst="rect">
            <a:avLst/>
          </a:prstGeom>
          <a:solidFill>
            <a:srgbClr val="1A2236"/>
          </a:solidFill>
          <a:ln w="9525">
            <a:solidFill>
              <a:srgbClr val="2A3650"/>
            </a:solidFill>
            <a:prstDash val="solid"/>
          </a:ln>
        </p:spPr>
      </p:sp>
      <p:sp>
        <p:nvSpPr>
          <p:cNvPr id="22" name="Shape 20"/>
          <p:cNvSpPr/>
          <p:nvPr/>
        </p:nvSpPr>
        <p:spPr>
          <a:xfrm>
            <a:off x="7863840" y="4892040"/>
            <a:ext cx="73152" cy="1371600"/>
          </a:xfrm>
          <a:prstGeom prst="rect">
            <a:avLst/>
          </a:prstGeom>
          <a:solidFill>
            <a:srgbClr val="E11D48"/>
          </a:solidFill>
          <a:ln/>
        </p:spPr>
      </p:sp>
      <p:sp>
        <p:nvSpPr>
          <p:cNvPr id="23" name="Text 21"/>
          <p:cNvSpPr/>
          <p:nvPr/>
        </p:nvSpPr>
        <p:spPr>
          <a:xfrm>
            <a:off x="8046720" y="4983480"/>
            <a:ext cx="1828800" cy="822960"/>
          </a:xfrm>
          <a:prstGeom prst="rect">
            <a:avLst/>
          </a:prstGeom>
          <a:noFill/>
          <a:ln/>
        </p:spPr>
        <p:txBody>
          <a:bodyPr wrap="square" rtlCol="0" anchor="ctr"/>
          <a:lstStyle/>
          <a:p>
            <a:pPr indent="0" marL="0">
              <a:buNone/>
            </a:pPr>
            <a:r>
              <a:rPr lang="en-US" sz="5600" b="1" dirty="0">
                <a:solidFill>
                  <a:srgbClr val="F5F7FA"/>
                </a:solidFill>
                <a:latin typeface="Georgia" pitchFamily="34" charset="0"/>
                <a:ea typeface="Georgia" pitchFamily="34" charset="-122"/>
                <a:cs typeface="Georgia" pitchFamily="34" charset="-120"/>
              </a:rPr>
              <a:t>#1</a:t>
            </a:r>
            <a:endParaRPr lang="en-US" sz="5600" dirty="0"/>
          </a:p>
        </p:txBody>
      </p:sp>
      <p:sp>
        <p:nvSpPr>
          <p:cNvPr id="24" name="Text 22"/>
          <p:cNvSpPr/>
          <p:nvPr/>
        </p:nvSpPr>
        <p:spPr>
          <a:xfrm>
            <a:off x="9875520" y="5394960"/>
            <a:ext cx="1828800" cy="365760"/>
          </a:xfrm>
          <a:prstGeom prst="rect">
            <a:avLst/>
          </a:prstGeom>
          <a:noFill/>
          <a:ln/>
        </p:spPr>
        <p:txBody>
          <a:bodyPr wrap="square" rtlCol="0" anchor="ctr"/>
          <a:lstStyle/>
          <a:p>
            <a:pPr indent="0" marL="0">
              <a:buNone/>
            </a:pPr>
            <a:r>
              <a:rPr lang="en-US" sz="1000" spc="300" kern="0" dirty="0">
                <a:solidFill>
                  <a:srgbClr val="7A879F"/>
                </a:solidFill>
                <a:latin typeface="Consolas" pitchFamily="34" charset="0"/>
                <a:ea typeface="Consolas" pitchFamily="34" charset="-122"/>
                <a:cs typeface="Consolas" pitchFamily="34" charset="-120"/>
              </a:rPr>
              <a:t>Sports leadership</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4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02</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DATA QUALITY &amp; KEY INSIGHTS</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The importance of accurate data.</a:t>
            </a:r>
            <a:endParaRPr lang="en-US" sz="3600" dirty="0"/>
          </a:p>
        </p:txBody>
      </p:sp>
      <p:sp>
        <p:nvSpPr>
          <p:cNvPr id="11" name="Shape 9"/>
          <p:cNvSpPr/>
          <p:nvPr/>
        </p:nvSpPr>
        <p:spPr>
          <a:xfrm>
            <a:off x="457200" y="1920240"/>
            <a:ext cx="3657600" cy="4206240"/>
          </a:xfrm>
          <a:prstGeom prst="rect">
            <a:avLst/>
          </a:prstGeom>
          <a:solidFill>
            <a:srgbClr val="1A2236"/>
          </a:solidFill>
          <a:ln w="9525">
            <a:solidFill>
              <a:srgbClr val="2A3650"/>
            </a:solidFill>
            <a:prstDash val="solid"/>
          </a:ln>
        </p:spPr>
      </p:sp>
      <p:sp>
        <p:nvSpPr>
          <p:cNvPr id="12" name="Shape 10"/>
          <p:cNvSpPr/>
          <p:nvPr/>
        </p:nvSpPr>
        <p:spPr>
          <a:xfrm>
            <a:off x="457200" y="1920240"/>
            <a:ext cx="3657600" cy="73152"/>
          </a:xfrm>
          <a:prstGeom prst="rect">
            <a:avLst/>
          </a:prstGeom>
          <a:solidFill>
            <a:srgbClr val="E11D48"/>
          </a:solidFill>
          <a:ln/>
        </p:spPr>
      </p:sp>
      <p:sp>
        <p:nvSpPr>
          <p:cNvPr id="13" name="Text 11"/>
          <p:cNvSpPr/>
          <p:nvPr/>
        </p:nvSpPr>
        <p:spPr>
          <a:xfrm>
            <a:off x="731520" y="2103120"/>
            <a:ext cx="914400" cy="365760"/>
          </a:xfrm>
          <a:prstGeom prst="rect">
            <a:avLst/>
          </a:prstGeom>
          <a:noFill/>
          <a:ln/>
        </p:spPr>
        <p:txBody>
          <a:bodyPr wrap="square" rtlCol="0" anchor="ctr"/>
          <a:lstStyle/>
          <a:p>
            <a:pPr indent="0" marL="0">
              <a:buNone/>
            </a:pPr>
            <a:r>
              <a:rPr lang="en-US" sz="1200" b="1" spc="300" kern="0" dirty="0">
                <a:solidFill>
                  <a:srgbClr val="E11D48"/>
                </a:solidFill>
                <a:latin typeface="Consolas" pitchFamily="34" charset="0"/>
                <a:ea typeface="Consolas" pitchFamily="34" charset="-122"/>
                <a:cs typeface="Consolas" pitchFamily="34" charset="-120"/>
              </a:rPr>
              <a:t>01</a:t>
            </a:r>
            <a:endParaRPr lang="en-US" sz="1200" dirty="0"/>
          </a:p>
        </p:txBody>
      </p:sp>
      <p:sp>
        <p:nvSpPr>
          <p:cNvPr id="14" name="Text 12"/>
          <p:cNvSpPr/>
          <p:nvPr/>
        </p:nvSpPr>
        <p:spPr>
          <a:xfrm>
            <a:off x="731520" y="2514600"/>
            <a:ext cx="3200400" cy="914400"/>
          </a:xfrm>
          <a:prstGeom prst="rect">
            <a:avLst/>
          </a:prstGeom>
          <a:noFill/>
          <a:ln/>
        </p:spPr>
        <p:txBody>
          <a:bodyPr wrap="square" rtlCol="0" anchor="ctr"/>
          <a:lstStyle/>
          <a:p>
            <a:pPr indent="0" marL="0">
              <a:buNone/>
            </a:pPr>
            <a:r>
              <a:rPr lang="en-US" sz="2200" b="1" dirty="0">
                <a:solidFill>
                  <a:srgbClr val="F5F7FA"/>
                </a:solidFill>
                <a:latin typeface="Georgia" pitchFamily="34" charset="0"/>
                <a:ea typeface="Georgia" pitchFamily="34" charset="-122"/>
                <a:cs typeface="Georgia" pitchFamily="34" charset="-120"/>
              </a:rPr>
              <a:t>Impact of incomplete data</a:t>
            </a:r>
            <a:endParaRPr lang="en-US" sz="2200" dirty="0"/>
          </a:p>
        </p:txBody>
      </p:sp>
      <p:sp>
        <p:nvSpPr>
          <p:cNvPr id="15" name="Shape 13"/>
          <p:cNvSpPr/>
          <p:nvPr/>
        </p:nvSpPr>
        <p:spPr>
          <a:xfrm>
            <a:off x="731520" y="3657600"/>
            <a:ext cx="457200" cy="27432"/>
          </a:xfrm>
          <a:prstGeom prst="rect">
            <a:avLst/>
          </a:prstGeom>
          <a:solidFill>
            <a:srgbClr val="E11D48"/>
          </a:solidFill>
          <a:ln/>
        </p:spPr>
      </p:sp>
      <p:sp>
        <p:nvSpPr>
          <p:cNvPr id="16" name="Text 14"/>
          <p:cNvSpPr/>
          <p:nvPr/>
        </p:nvSpPr>
        <p:spPr>
          <a:xfrm>
            <a:off x="731520" y="3794760"/>
            <a:ext cx="3200400" cy="2194560"/>
          </a:xfrm>
          <a:prstGeom prst="rect">
            <a:avLst/>
          </a:prstGeom>
          <a:noFill/>
          <a:ln/>
        </p:spPr>
        <p:txBody>
          <a:bodyPr wrap="square" rtlCol="0" anchor="ctr"/>
          <a:lstStyle/>
          <a:p>
            <a:pPr indent="0" marL="0">
              <a:buNone/>
            </a:pPr>
            <a:r>
              <a:rPr lang="en-US" sz="1300" dirty="0">
                <a:solidFill>
                  <a:srgbClr val="B8C2D4"/>
                </a:solidFill>
                <a:latin typeface="Calibri" pitchFamily="34" charset="0"/>
                <a:ea typeface="Calibri" pitchFamily="34" charset="-122"/>
                <a:cs typeface="Calibri" pitchFamily="34" charset="-120"/>
              </a:rPr>
              <a:t>Missing demographics make accurate analysis and reporting nearly impossible — every gap is a customer we cannot understand.</a:t>
            </a:r>
            <a:endParaRPr lang="en-US" sz="1300" dirty="0"/>
          </a:p>
        </p:txBody>
      </p:sp>
      <p:sp>
        <p:nvSpPr>
          <p:cNvPr id="17" name="Shape 15"/>
          <p:cNvSpPr/>
          <p:nvPr/>
        </p:nvSpPr>
        <p:spPr>
          <a:xfrm>
            <a:off x="4370832" y="1920240"/>
            <a:ext cx="3657600" cy="4206240"/>
          </a:xfrm>
          <a:prstGeom prst="rect">
            <a:avLst/>
          </a:prstGeom>
          <a:solidFill>
            <a:srgbClr val="1A2236"/>
          </a:solidFill>
          <a:ln w="9525">
            <a:solidFill>
              <a:srgbClr val="2A3650"/>
            </a:solidFill>
            <a:prstDash val="solid"/>
          </a:ln>
        </p:spPr>
      </p:sp>
      <p:sp>
        <p:nvSpPr>
          <p:cNvPr id="18" name="Shape 16"/>
          <p:cNvSpPr/>
          <p:nvPr/>
        </p:nvSpPr>
        <p:spPr>
          <a:xfrm>
            <a:off x="4370832" y="1920240"/>
            <a:ext cx="3657600" cy="73152"/>
          </a:xfrm>
          <a:prstGeom prst="rect">
            <a:avLst/>
          </a:prstGeom>
          <a:solidFill>
            <a:srgbClr val="F59E0B"/>
          </a:solidFill>
          <a:ln/>
        </p:spPr>
      </p:sp>
      <p:sp>
        <p:nvSpPr>
          <p:cNvPr id="19" name="Text 17"/>
          <p:cNvSpPr/>
          <p:nvPr/>
        </p:nvSpPr>
        <p:spPr>
          <a:xfrm>
            <a:off x="4645152" y="2103120"/>
            <a:ext cx="914400" cy="365760"/>
          </a:xfrm>
          <a:prstGeom prst="rect">
            <a:avLst/>
          </a:prstGeom>
          <a:noFill/>
          <a:ln/>
        </p:spPr>
        <p:txBody>
          <a:bodyPr wrap="square" rtlCol="0" anchor="ctr"/>
          <a:lstStyle/>
          <a:p>
            <a:pPr indent="0" marL="0">
              <a:buNone/>
            </a:pPr>
            <a:r>
              <a:rPr lang="en-US" sz="1200" b="1" spc="300" kern="0" dirty="0">
                <a:solidFill>
                  <a:srgbClr val="F59E0B"/>
                </a:solidFill>
                <a:latin typeface="Consolas" pitchFamily="34" charset="0"/>
                <a:ea typeface="Consolas" pitchFamily="34" charset="-122"/>
                <a:cs typeface="Consolas" pitchFamily="34" charset="-120"/>
              </a:rPr>
              <a:t>02</a:t>
            </a:r>
            <a:endParaRPr lang="en-US" sz="1200" dirty="0"/>
          </a:p>
        </p:txBody>
      </p:sp>
      <p:sp>
        <p:nvSpPr>
          <p:cNvPr id="20" name="Text 18"/>
          <p:cNvSpPr/>
          <p:nvPr/>
        </p:nvSpPr>
        <p:spPr>
          <a:xfrm>
            <a:off x="4645152" y="2514600"/>
            <a:ext cx="3200400" cy="914400"/>
          </a:xfrm>
          <a:prstGeom prst="rect">
            <a:avLst/>
          </a:prstGeom>
          <a:noFill/>
          <a:ln/>
        </p:spPr>
        <p:txBody>
          <a:bodyPr wrap="square" rtlCol="0" anchor="ctr"/>
          <a:lstStyle/>
          <a:p>
            <a:pPr indent="0" marL="0">
              <a:buNone/>
            </a:pPr>
            <a:r>
              <a:rPr lang="en-US" sz="2200" b="1" dirty="0">
                <a:solidFill>
                  <a:srgbClr val="F5F7FA"/>
                </a:solidFill>
                <a:latin typeface="Georgia" pitchFamily="34" charset="0"/>
                <a:ea typeface="Georgia" pitchFamily="34" charset="-122"/>
                <a:cs typeface="Georgia" pitchFamily="34" charset="-120"/>
              </a:rPr>
              <a:t>Decision‑making challenges</a:t>
            </a:r>
            <a:endParaRPr lang="en-US" sz="2200" dirty="0"/>
          </a:p>
        </p:txBody>
      </p:sp>
      <p:sp>
        <p:nvSpPr>
          <p:cNvPr id="21" name="Shape 19"/>
          <p:cNvSpPr/>
          <p:nvPr/>
        </p:nvSpPr>
        <p:spPr>
          <a:xfrm>
            <a:off x="4645152" y="3657600"/>
            <a:ext cx="457200" cy="27432"/>
          </a:xfrm>
          <a:prstGeom prst="rect">
            <a:avLst/>
          </a:prstGeom>
          <a:solidFill>
            <a:srgbClr val="F59E0B"/>
          </a:solidFill>
          <a:ln/>
        </p:spPr>
      </p:sp>
      <p:sp>
        <p:nvSpPr>
          <p:cNvPr id="22" name="Text 20"/>
          <p:cNvSpPr/>
          <p:nvPr/>
        </p:nvSpPr>
        <p:spPr>
          <a:xfrm>
            <a:off x="4645152" y="3794760"/>
            <a:ext cx="3200400" cy="2194560"/>
          </a:xfrm>
          <a:prstGeom prst="rect">
            <a:avLst/>
          </a:prstGeom>
          <a:noFill/>
          <a:ln/>
        </p:spPr>
        <p:txBody>
          <a:bodyPr wrap="square" rtlCol="0" anchor="ctr"/>
          <a:lstStyle/>
          <a:p>
            <a:pPr indent="0" marL="0">
              <a:buNone/>
            </a:pPr>
            <a:r>
              <a:rPr lang="en-US" sz="1300" dirty="0">
                <a:solidFill>
                  <a:srgbClr val="B8C2D4"/>
                </a:solidFill>
                <a:latin typeface="Calibri" pitchFamily="34" charset="0"/>
                <a:ea typeface="Calibri" pitchFamily="34" charset="-122"/>
                <a:cs typeface="Calibri" pitchFamily="34" charset="-120"/>
              </a:rPr>
              <a:t>Without reliable signal, the business defaults to instinct. Growth opportunities pass by, unmeasured.</a:t>
            </a:r>
            <a:endParaRPr lang="en-US" sz="1300" dirty="0"/>
          </a:p>
        </p:txBody>
      </p:sp>
      <p:sp>
        <p:nvSpPr>
          <p:cNvPr id="23" name="Shape 21"/>
          <p:cNvSpPr/>
          <p:nvPr/>
        </p:nvSpPr>
        <p:spPr>
          <a:xfrm>
            <a:off x="8284464" y="1920240"/>
            <a:ext cx="3657600" cy="4206240"/>
          </a:xfrm>
          <a:prstGeom prst="rect">
            <a:avLst/>
          </a:prstGeom>
          <a:solidFill>
            <a:srgbClr val="1A2236"/>
          </a:solidFill>
          <a:ln w="9525">
            <a:solidFill>
              <a:srgbClr val="2A3650"/>
            </a:solidFill>
            <a:prstDash val="solid"/>
          </a:ln>
        </p:spPr>
      </p:sp>
      <p:sp>
        <p:nvSpPr>
          <p:cNvPr id="24" name="Shape 22"/>
          <p:cNvSpPr/>
          <p:nvPr/>
        </p:nvSpPr>
        <p:spPr>
          <a:xfrm>
            <a:off x="8284464" y="1920240"/>
            <a:ext cx="3657600" cy="73152"/>
          </a:xfrm>
          <a:prstGeom prst="rect">
            <a:avLst/>
          </a:prstGeom>
          <a:solidFill>
            <a:srgbClr val="10B981"/>
          </a:solidFill>
          <a:ln/>
        </p:spPr>
      </p:sp>
      <p:sp>
        <p:nvSpPr>
          <p:cNvPr id="25" name="Text 23"/>
          <p:cNvSpPr/>
          <p:nvPr/>
        </p:nvSpPr>
        <p:spPr>
          <a:xfrm>
            <a:off x="8558784" y="2103120"/>
            <a:ext cx="914400" cy="365760"/>
          </a:xfrm>
          <a:prstGeom prst="rect">
            <a:avLst/>
          </a:prstGeom>
          <a:noFill/>
          <a:ln/>
        </p:spPr>
        <p:txBody>
          <a:bodyPr wrap="square" rtlCol="0" anchor="ctr"/>
          <a:lstStyle/>
          <a:p>
            <a:pPr indent="0" marL="0">
              <a:buNone/>
            </a:pPr>
            <a:r>
              <a:rPr lang="en-US" sz="1200" b="1" spc="300" kern="0" dirty="0">
                <a:solidFill>
                  <a:srgbClr val="10B981"/>
                </a:solidFill>
                <a:latin typeface="Consolas" pitchFamily="34" charset="0"/>
                <a:ea typeface="Consolas" pitchFamily="34" charset="-122"/>
                <a:cs typeface="Consolas" pitchFamily="34" charset="-120"/>
              </a:rPr>
              <a:t>03</a:t>
            </a:r>
            <a:endParaRPr lang="en-US" sz="1200" dirty="0"/>
          </a:p>
        </p:txBody>
      </p:sp>
      <p:sp>
        <p:nvSpPr>
          <p:cNvPr id="26" name="Text 24"/>
          <p:cNvSpPr/>
          <p:nvPr/>
        </p:nvSpPr>
        <p:spPr>
          <a:xfrm>
            <a:off x="8558784" y="2514600"/>
            <a:ext cx="3200400" cy="914400"/>
          </a:xfrm>
          <a:prstGeom prst="rect">
            <a:avLst/>
          </a:prstGeom>
          <a:noFill/>
          <a:ln/>
        </p:spPr>
        <p:txBody>
          <a:bodyPr wrap="square" rtlCol="0" anchor="ctr"/>
          <a:lstStyle/>
          <a:p>
            <a:pPr indent="0" marL="0">
              <a:buNone/>
            </a:pPr>
            <a:r>
              <a:rPr lang="en-US" sz="2200" b="1" dirty="0">
                <a:solidFill>
                  <a:srgbClr val="F5F7FA"/>
                </a:solidFill>
                <a:latin typeface="Georgia" pitchFamily="34" charset="0"/>
                <a:ea typeface="Georgia" pitchFamily="34" charset="-122"/>
                <a:cs typeface="Georgia" pitchFamily="34" charset="-120"/>
              </a:rPr>
              <a:t>Benefits of accurate data</a:t>
            </a:r>
            <a:endParaRPr lang="en-US" sz="2200" dirty="0"/>
          </a:p>
        </p:txBody>
      </p:sp>
      <p:sp>
        <p:nvSpPr>
          <p:cNvPr id="27" name="Shape 25"/>
          <p:cNvSpPr/>
          <p:nvPr/>
        </p:nvSpPr>
        <p:spPr>
          <a:xfrm>
            <a:off x="8558784" y="3657600"/>
            <a:ext cx="457200" cy="27432"/>
          </a:xfrm>
          <a:prstGeom prst="rect">
            <a:avLst/>
          </a:prstGeom>
          <a:solidFill>
            <a:srgbClr val="10B981"/>
          </a:solidFill>
          <a:ln/>
        </p:spPr>
      </p:sp>
      <p:sp>
        <p:nvSpPr>
          <p:cNvPr id="28" name="Text 26"/>
          <p:cNvSpPr/>
          <p:nvPr/>
        </p:nvSpPr>
        <p:spPr>
          <a:xfrm>
            <a:off x="8558784" y="3794760"/>
            <a:ext cx="3200400" cy="2194560"/>
          </a:xfrm>
          <a:prstGeom prst="rect">
            <a:avLst/>
          </a:prstGeom>
          <a:noFill/>
          <a:ln/>
        </p:spPr>
        <p:txBody>
          <a:bodyPr wrap="square" rtlCol="0" anchor="ctr"/>
          <a:lstStyle/>
          <a:p>
            <a:pPr indent="0" marL="0">
              <a:buNone/>
            </a:pPr>
            <a:r>
              <a:rPr lang="en-US" sz="1300" dirty="0">
                <a:solidFill>
                  <a:srgbClr val="B8C2D4"/>
                </a:solidFill>
                <a:latin typeface="Calibri" pitchFamily="34" charset="0"/>
                <a:ea typeface="Calibri" pitchFamily="34" charset="-122"/>
                <a:cs typeface="Calibri" pitchFamily="34" charset="-120"/>
              </a:rPr>
              <a:t>Complete, precise data sharpens segmentation, improves service, and powers strategic planning.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5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02</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DATA QUALITY &amp; KEY INSIGHTS</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Our findings.</a:t>
            </a:r>
            <a:endParaRPr lang="en-US" sz="3600" dirty="0"/>
          </a:p>
        </p:txBody>
      </p:sp>
      <p:sp>
        <p:nvSpPr>
          <p:cNvPr id="11" name="Shape 9"/>
          <p:cNvSpPr/>
          <p:nvPr/>
        </p:nvSpPr>
        <p:spPr>
          <a:xfrm>
            <a:off x="457200" y="1920240"/>
            <a:ext cx="11247120" cy="4114800"/>
          </a:xfrm>
          <a:prstGeom prst="rect">
            <a:avLst/>
          </a:prstGeom>
          <a:solidFill>
            <a:srgbClr val="1A2236"/>
          </a:solidFill>
          <a:ln w="9525">
            <a:solidFill>
              <a:srgbClr val="2A3650"/>
            </a:solidFill>
            <a:prstDash val="solid"/>
          </a:ln>
        </p:spPr>
      </p:sp>
      <p:sp>
        <p:nvSpPr>
          <p:cNvPr id="12" name="Shape 10"/>
          <p:cNvSpPr/>
          <p:nvPr/>
        </p:nvSpPr>
        <p:spPr>
          <a:xfrm>
            <a:off x="457200" y="1920240"/>
            <a:ext cx="109728" cy="4114800"/>
          </a:xfrm>
          <a:prstGeom prst="rect">
            <a:avLst/>
          </a:prstGeom>
          <a:solidFill>
            <a:srgbClr val="F59E0B"/>
          </a:solidFill>
          <a:ln/>
        </p:spPr>
      </p:sp>
      <p:sp>
        <p:nvSpPr>
          <p:cNvPr id="13" name="Text 11"/>
          <p:cNvSpPr/>
          <p:nvPr/>
        </p:nvSpPr>
        <p:spPr>
          <a:xfrm>
            <a:off x="822960" y="2194560"/>
            <a:ext cx="10515600" cy="1371600"/>
          </a:xfrm>
          <a:prstGeom prst="rect">
            <a:avLst/>
          </a:prstGeom>
          <a:noFill/>
          <a:ln/>
        </p:spPr>
        <p:txBody>
          <a:bodyPr wrap="square" rtlCol="0" anchor="ctr"/>
          <a:lstStyle/>
          <a:p>
            <a:pPr indent="0" marL="0">
              <a:buNone/>
            </a:pPr>
            <a:r>
              <a:rPr lang="en-US" sz="2800" i="1" dirty="0">
                <a:solidFill>
                  <a:srgbClr val="F5F7FA"/>
                </a:solidFill>
                <a:latin typeface="Georgia" pitchFamily="34" charset="0"/>
                <a:ea typeface="Georgia" pitchFamily="34" charset="-122"/>
                <a:cs typeface="Georgia" pitchFamily="34" charset="-120"/>
              </a:rPr>
              <a:t>A significant portion of customer data is lost to invalid or incomplete records — particularly missing demographic detail.</a:t>
            </a:r>
            <a:endParaRPr lang="en-US" sz="2800" dirty="0"/>
          </a:p>
        </p:txBody>
      </p:sp>
      <p:sp>
        <p:nvSpPr>
          <p:cNvPr id="14" name="Text 12"/>
          <p:cNvSpPr/>
          <p:nvPr/>
        </p:nvSpPr>
        <p:spPr>
          <a:xfrm>
            <a:off x="822960" y="4206240"/>
            <a:ext cx="10515600" cy="1645920"/>
          </a:xfrm>
          <a:prstGeom prst="rect">
            <a:avLst/>
          </a:prstGeom>
          <a:noFill/>
          <a:ln/>
        </p:spPr>
        <p:txBody>
          <a:bodyPr wrap="square" rtlCol="0" anchor="ctr"/>
          <a:lstStyle/>
          <a:p>
            <a:pPr indent="0" marL="0">
              <a:buNone/>
            </a:pPr>
            <a:r>
              <a:rPr lang="en-US" sz="1400" dirty="0">
                <a:solidFill>
                  <a:srgbClr val="B8C2D4"/>
                </a:solidFill>
                <a:latin typeface="Calibri" pitchFamily="34" charset="0"/>
                <a:ea typeface="Calibri" pitchFamily="34" charset="-122"/>
                <a:cs typeface="Calibri" pitchFamily="34" charset="-120"/>
              </a:rPr>
              <a:t>These gaps cap our ability to generate accurate insight and make well-informed business decisions. The CVM team must prioritise robust, consistent data‑collection practices so strategy is driven by reliable, high‑quality data.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6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03</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AUDIENCE &amp; VIEWERSHIP</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Gauteng leads the nation.</a:t>
            </a:r>
            <a:endParaRPr lang="en-US" sz="3600" dirty="0"/>
          </a:p>
        </p:txBody>
      </p:sp>
      <p:sp>
        <p:nvSpPr>
          <p:cNvPr id="11" name="Text 9"/>
          <p:cNvSpPr/>
          <p:nvPr/>
        </p:nvSpPr>
        <p:spPr>
          <a:xfrm>
            <a:off x="457200" y="1783080"/>
            <a:ext cx="8229600" cy="548640"/>
          </a:xfrm>
          <a:prstGeom prst="rect">
            <a:avLst/>
          </a:prstGeom>
          <a:noFill/>
          <a:ln/>
        </p:spPr>
        <p:txBody>
          <a:bodyPr wrap="square" rtlCol="0" anchor="ctr"/>
          <a:lstStyle/>
          <a:p>
            <a:pPr indent="0" marL="0">
              <a:buNone/>
            </a:pPr>
            <a:r>
              <a:rPr lang="en-US" sz="1400" i="1" dirty="0">
                <a:solidFill>
                  <a:srgbClr val="B8C2D4"/>
                </a:solidFill>
                <a:latin typeface="Calibri" pitchFamily="34" charset="0"/>
                <a:ea typeface="Calibri" pitchFamily="34" charset="-122"/>
                <a:cs typeface="Calibri" pitchFamily="34" charset="-120"/>
              </a:rPr>
              <a:t>Home to a diverse mix of communities and a hub for business — Gauteng dominates viewership across all nine provinces.</a:t>
            </a:r>
            <a:endParaRPr lang="en-US" sz="1400" dirty="0"/>
          </a:p>
        </p:txBody>
      </p:sp>
      <p:sp>
        <p:nvSpPr>
          <p:cNvPr id="12" name="Shape 10"/>
          <p:cNvSpPr/>
          <p:nvPr/>
        </p:nvSpPr>
        <p:spPr>
          <a:xfrm>
            <a:off x="457200" y="2606040"/>
            <a:ext cx="6858000" cy="3840480"/>
          </a:xfrm>
          <a:prstGeom prst="rect">
            <a:avLst/>
          </a:prstGeom>
          <a:solidFill>
            <a:srgbClr val="1A2236"/>
          </a:solidFill>
          <a:ln w="9525">
            <a:solidFill>
              <a:srgbClr val="2A3650"/>
            </a:solidFill>
            <a:prstDash val="solid"/>
          </a:ln>
        </p:spPr>
      </p:sp>
      <p:sp>
        <p:nvSpPr>
          <p:cNvPr id="13" name="Text 11"/>
          <p:cNvSpPr/>
          <p:nvPr/>
        </p:nvSpPr>
        <p:spPr>
          <a:xfrm>
            <a:off x="640080" y="2752344"/>
            <a:ext cx="1554480" cy="274320"/>
          </a:xfrm>
          <a:prstGeom prst="rect">
            <a:avLst/>
          </a:prstGeom>
          <a:noFill/>
          <a:ln/>
        </p:spPr>
        <p:txBody>
          <a:bodyPr wrap="square" rtlCol="0" anchor="ctr"/>
          <a:lstStyle/>
          <a:p>
            <a:pPr indent="0" marL="0">
              <a:buNone/>
            </a:pPr>
            <a:r>
              <a:rPr lang="en-US" sz="1000" dirty="0">
                <a:solidFill>
                  <a:srgbClr val="B8C2D4"/>
                </a:solidFill>
                <a:latin typeface="Calibri" pitchFamily="34" charset="0"/>
                <a:ea typeface="Calibri" pitchFamily="34" charset="-122"/>
                <a:cs typeface="Calibri" pitchFamily="34" charset="-120"/>
              </a:rPr>
              <a:t>Gauteng</a:t>
            </a:r>
            <a:endParaRPr lang="en-US" sz="1000" dirty="0"/>
          </a:p>
        </p:txBody>
      </p:sp>
      <p:sp>
        <p:nvSpPr>
          <p:cNvPr id="14" name="Shape 12"/>
          <p:cNvSpPr/>
          <p:nvPr/>
        </p:nvSpPr>
        <p:spPr>
          <a:xfrm>
            <a:off x="2286000" y="2825496"/>
            <a:ext cx="4754880" cy="201168"/>
          </a:xfrm>
          <a:prstGeom prst="rect">
            <a:avLst/>
          </a:prstGeom>
          <a:solidFill>
            <a:srgbClr val="F59E0B"/>
          </a:solidFill>
          <a:ln/>
        </p:spPr>
      </p:sp>
      <p:sp>
        <p:nvSpPr>
          <p:cNvPr id="15" name="Text 13"/>
          <p:cNvSpPr/>
          <p:nvPr/>
        </p:nvSpPr>
        <p:spPr>
          <a:xfrm>
            <a:off x="7086600" y="2752344"/>
            <a:ext cx="548640" cy="274320"/>
          </a:xfrm>
          <a:prstGeom prst="rect">
            <a:avLst/>
          </a:prstGeom>
          <a:noFill/>
          <a:ln/>
        </p:spPr>
        <p:txBody>
          <a:bodyPr wrap="square" rtlCol="0" anchor="ctr"/>
          <a:lstStyle/>
          <a:p>
            <a:pPr indent="0" marL="0">
              <a:buNone/>
            </a:pPr>
            <a:r>
              <a:rPr lang="en-US" sz="1000" b="1" dirty="0">
                <a:solidFill>
                  <a:srgbClr val="F5F7FA"/>
                </a:solidFill>
                <a:latin typeface="Consolas" pitchFamily="34" charset="0"/>
                <a:ea typeface="Consolas" pitchFamily="34" charset="-122"/>
                <a:cs typeface="Consolas" pitchFamily="34" charset="-120"/>
              </a:rPr>
              <a:t>1665</a:t>
            </a:r>
            <a:endParaRPr lang="en-US" sz="1000" dirty="0"/>
          </a:p>
        </p:txBody>
      </p:sp>
      <p:sp>
        <p:nvSpPr>
          <p:cNvPr id="16" name="Text 14"/>
          <p:cNvSpPr/>
          <p:nvPr/>
        </p:nvSpPr>
        <p:spPr>
          <a:xfrm>
            <a:off x="640080" y="3118104"/>
            <a:ext cx="1554480" cy="274320"/>
          </a:xfrm>
          <a:prstGeom prst="rect">
            <a:avLst/>
          </a:prstGeom>
          <a:noFill/>
          <a:ln/>
        </p:spPr>
        <p:txBody>
          <a:bodyPr wrap="square" rtlCol="0" anchor="ctr"/>
          <a:lstStyle/>
          <a:p>
            <a:pPr indent="0" marL="0">
              <a:buNone/>
            </a:pPr>
            <a:r>
              <a:rPr lang="en-US" sz="1000" dirty="0">
                <a:solidFill>
                  <a:srgbClr val="B8C2D4"/>
                </a:solidFill>
                <a:latin typeface="Calibri" pitchFamily="34" charset="0"/>
                <a:ea typeface="Calibri" pitchFamily="34" charset="-122"/>
                <a:cs typeface="Calibri" pitchFamily="34" charset="-120"/>
              </a:rPr>
              <a:t>Western Cape</a:t>
            </a:r>
            <a:endParaRPr lang="en-US" sz="1000" dirty="0"/>
          </a:p>
        </p:txBody>
      </p:sp>
      <p:sp>
        <p:nvSpPr>
          <p:cNvPr id="17" name="Shape 15"/>
          <p:cNvSpPr/>
          <p:nvPr/>
        </p:nvSpPr>
        <p:spPr>
          <a:xfrm>
            <a:off x="2286000" y="3191256"/>
            <a:ext cx="1907664" cy="201168"/>
          </a:xfrm>
          <a:prstGeom prst="rect">
            <a:avLst/>
          </a:prstGeom>
          <a:solidFill>
            <a:srgbClr val="3B82F6"/>
          </a:solidFill>
          <a:ln/>
        </p:spPr>
      </p:sp>
      <p:sp>
        <p:nvSpPr>
          <p:cNvPr id="18" name="Text 16"/>
          <p:cNvSpPr/>
          <p:nvPr/>
        </p:nvSpPr>
        <p:spPr>
          <a:xfrm>
            <a:off x="4239384" y="3118104"/>
            <a:ext cx="548640" cy="274320"/>
          </a:xfrm>
          <a:prstGeom prst="rect">
            <a:avLst/>
          </a:prstGeom>
          <a:noFill/>
          <a:ln/>
        </p:spPr>
        <p:txBody>
          <a:bodyPr wrap="square" rtlCol="0" anchor="ctr"/>
          <a:lstStyle/>
          <a:p>
            <a:pPr indent="0" marL="0">
              <a:buNone/>
            </a:pPr>
            <a:r>
              <a:rPr lang="en-US" sz="1000" b="1" dirty="0">
                <a:solidFill>
                  <a:srgbClr val="F5F7FA"/>
                </a:solidFill>
                <a:latin typeface="Consolas" pitchFamily="34" charset="0"/>
                <a:ea typeface="Consolas" pitchFamily="34" charset="-122"/>
                <a:cs typeface="Consolas" pitchFamily="34" charset="-120"/>
              </a:rPr>
              <a:t>668</a:t>
            </a:r>
            <a:endParaRPr lang="en-US" sz="1000" dirty="0"/>
          </a:p>
        </p:txBody>
      </p:sp>
      <p:sp>
        <p:nvSpPr>
          <p:cNvPr id="19" name="Text 17"/>
          <p:cNvSpPr/>
          <p:nvPr/>
        </p:nvSpPr>
        <p:spPr>
          <a:xfrm>
            <a:off x="640080" y="3483864"/>
            <a:ext cx="1554480" cy="274320"/>
          </a:xfrm>
          <a:prstGeom prst="rect">
            <a:avLst/>
          </a:prstGeom>
          <a:noFill/>
          <a:ln/>
        </p:spPr>
        <p:txBody>
          <a:bodyPr wrap="square" rtlCol="0" anchor="ctr"/>
          <a:lstStyle/>
          <a:p>
            <a:pPr indent="0" marL="0">
              <a:buNone/>
            </a:pPr>
            <a:r>
              <a:rPr lang="en-US" sz="1000" dirty="0">
                <a:solidFill>
                  <a:srgbClr val="B8C2D4"/>
                </a:solidFill>
                <a:latin typeface="Calibri" pitchFamily="34" charset="0"/>
                <a:ea typeface="Calibri" pitchFamily="34" charset="-122"/>
                <a:cs typeface="Calibri" pitchFamily="34" charset="-120"/>
              </a:rPr>
              <a:t>Eastern Cape</a:t>
            </a:r>
            <a:endParaRPr lang="en-US" sz="1000" dirty="0"/>
          </a:p>
        </p:txBody>
      </p:sp>
      <p:sp>
        <p:nvSpPr>
          <p:cNvPr id="20" name="Shape 18"/>
          <p:cNvSpPr/>
          <p:nvPr/>
        </p:nvSpPr>
        <p:spPr>
          <a:xfrm>
            <a:off x="2286000" y="3557016"/>
            <a:ext cx="1188006" cy="201168"/>
          </a:xfrm>
          <a:prstGeom prst="rect">
            <a:avLst/>
          </a:prstGeom>
          <a:solidFill>
            <a:srgbClr val="3B82F6"/>
          </a:solidFill>
          <a:ln/>
        </p:spPr>
      </p:sp>
      <p:sp>
        <p:nvSpPr>
          <p:cNvPr id="21" name="Text 19"/>
          <p:cNvSpPr/>
          <p:nvPr/>
        </p:nvSpPr>
        <p:spPr>
          <a:xfrm>
            <a:off x="3519726" y="3483864"/>
            <a:ext cx="548640" cy="274320"/>
          </a:xfrm>
          <a:prstGeom prst="rect">
            <a:avLst/>
          </a:prstGeom>
          <a:noFill/>
          <a:ln/>
        </p:spPr>
        <p:txBody>
          <a:bodyPr wrap="square" rtlCol="0" anchor="ctr"/>
          <a:lstStyle/>
          <a:p>
            <a:pPr indent="0" marL="0">
              <a:buNone/>
            </a:pPr>
            <a:r>
              <a:rPr lang="en-US" sz="1000" b="1" dirty="0">
                <a:solidFill>
                  <a:srgbClr val="F5F7FA"/>
                </a:solidFill>
                <a:latin typeface="Consolas" pitchFamily="34" charset="0"/>
                <a:ea typeface="Consolas" pitchFamily="34" charset="-122"/>
                <a:cs typeface="Consolas" pitchFamily="34" charset="-120"/>
              </a:rPr>
              <a:t>416</a:t>
            </a:r>
            <a:endParaRPr lang="en-US" sz="1000" dirty="0"/>
          </a:p>
        </p:txBody>
      </p:sp>
      <p:sp>
        <p:nvSpPr>
          <p:cNvPr id="22" name="Text 20"/>
          <p:cNvSpPr/>
          <p:nvPr/>
        </p:nvSpPr>
        <p:spPr>
          <a:xfrm>
            <a:off x="640080" y="3849624"/>
            <a:ext cx="1554480" cy="274320"/>
          </a:xfrm>
          <a:prstGeom prst="rect">
            <a:avLst/>
          </a:prstGeom>
          <a:noFill/>
          <a:ln/>
        </p:spPr>
        <p:txBody>
          <a:bodyPr wrap="square" rtlCol="0" anchor="ctr"/>
          <a:lstStyle/>
          <a:p>
            <a:pPr indent="0" marL="0">
              <a:buNone/>
            </a:pPr>
            <a:r>
              <a:rPr lang="en-US" sz="1000" dirty="0">
                <a:solidFill>
                  <a:srgbClr val="B8C2D4"/>
                </a:solidFill>
                <a:latin typeface="Calibri" pitchFamily="34" charset="0"/>
                <a:ea typeface="Calibri" pitchFamily="34" charset="-122"/>
                <a:cs typeface="Calibri" pitchFamily="34" charset="-120"/>
              </a:rPr>
              <a:t>KwaZulu-Natal</a:t>
            </a:r>
            <a:endParaRPr lang="en-US" sz="1000" dirty="0"/>
          </a:p>
        </p:txBody>
      </p:sp>
      <p:sp>
        <p:nvSpPr>
          <p:cNvPr id="23" name="Shape 21"/>
          <p:cNvSpPr/>
          <p:nvPr/>
        </p:nvSpPr>
        <p:spPr>
          <a:xfrm>
            <a:off x="2286000" y="3922776"/>
            <a:ext cx="1188006" cy="201168"/>
          </a:xfrm>
          <a:prstGeom prst="rect">
            <a:avLst/>
          </a:prstGeom>
          <a:solidFill>
            <a:srgbClr val="3B82F6"/>
          </a:solidFill>
          <a:ln/>
        </p:spPr>
      </p:sp>
      <p:sp>
        <p:nvSpPr>
          <p:cNvPr id="24" name="Text 22"/>
          <p:cNvSpPr/>
          <p:nvPr/>
        </p:nvSpPr>
        <p:spPr>
          <a:xfrm>
            <a:off x="3519726" y="3849624"/>
            <a:ext cx="548640" cy="274320"/>
          </a:xfrm>
          <a:prstGeom prst="rect">
            <a:avLst/>
          </a:prstGeom>
          <a:noFill/>
          <a:ln/>
        </p:spPr>
        <p:txBody>
          <a:bodyPr wrap="square" rtlCol="0" anchor="ctr"/>
          <a:lstStyle/>
          <a:p>
            <a:pPr indent="0" marL="0">
              <a:buNone/>
            </a:pPr>
            <a:r>
              <a:rPr lang="en-US" sz="1000" b="1" dirty="0">
                <a:solidFill>
                  <a:srgbClr val="F5F7FA"/>
                </a:solidFill>
                <a:latin typeface="Consolas" pitchFamily="34" charset="0"/>
                <a:ea typeface="Consolas" pitchFamily="34" charset="-122"/>
                <a:cs typeface="Consolas" pitchFamily="34" charset="-120"/>
              </a:rPr>
              <a:t>416</a:t>
            </a:r>
            <a:endParaRPr lang="en-US" sz="1000" dirty="0"/>
          </a:p>
        </p:txBody>
      </p:sp>
      <p:sp>
        <p:nvSpPr>
          <p:cNvPr id="25" name="Text 23"/>
          <p:cNvSpPr/>
          <p:nvPr/>
        </p:nvSpPr>
        <p:spPr>
          <a:xfrm>
            <a:off x="640080" y="4215384"/>
            <a:ext cx="1554480" cy="274320"/>
          </a:xfrm>
          <a:prstGeom prst="rect">
            <a:avLst/>
          </a:prstGeom>
          <a:noFill/>
          <a:ln/>
        </p:spPr>
        <p:txBody>
          <a:bodyPr wrap="square" rtlCol="0" anchor="ctr"/>
          <a:lstStyle/>
          <a:p>
            <a:pPr indent="0" marL="0">
              <a:buNone/>
            </a:pPr>
            <a:r>
              <a:rPr lang="en-US" sz="1000" dirty="0">
                <a:solidFill>
                  <a:srgbClr val="B8C2D4"/>
                </a:solidFill>
                <a:latin typeface="Calibri" pitchFamily="34" charset="0"/>
                <a:ea typeface="Calibri" pitchFamily="34" charset="-122"/>
                <a:cs typeface="Calibri" pitchFamily="34" charset="-120"/>
              </a:rPr>
              <a:t>Limpopo</a:t>
            </a:r>
            <a:endParaRPr lang="en-US" sz="1000" dirty="0"/>
          </a:p>
        </p:txBody>
      </p:sp>
      <p:sp>
        <p:nvSpPr>
          <p:cNvPr id="26" name="Shape 24"/>
          <p:cNvSpPr/>
          <p:nvPr/>
        </p:nvSpPr>
        <p:spPr>
          <a:xfrm>
            <a:off x="2286000" y="4288536"/>
            <a:ext cx="1048073" cy="201168"/>
          </a:xfrm>
          <a:prstGeom prst="rect">
            <a:avLst/>
          </a:prstGeom>
          <a:solidFill>
            <a:srgbClr val="3B82F6"/>
          </a:solidFill>
          <a:ln/>
        </p:spPr>
      </p:sp>
      <p:sp>
        <p:nvSpPr>
          <p:cNvPr id="27" name="Text 25"/>
          <p:cNvSpPr/>
          <p:nvPr/>
        </p:nvSpPr>
        <p:spPr>
          <a:xfrm>
            <a:off x="3379793" y="4215384"/>
            <a:ext cx="548640" cy="274320"/>
          </a:xfrm>
          <a:prstGeom prst="rect">
            <a:avLst/>
          </a:prstGeom>
          <a:noFill/>
          <a:ln/>
        </p:spPr>
        <p:txBody>
          <a:bodyPr wrap="square" rtlCol="0" anchor="ctr"/>
          <a:lstStyle/>
          <a:p>
            <a:pPr indent="0" marL="0">
              <a:buNone/>
            </a:pPr>
            <a:r>
              <a:rPr lang="en-US" sz="1000" b="1" dirty="0">
                <a:solidFill>
                  <a:srgbClr val="F5F7FA"/>
                </a:solidFill>
                <a:latin typeface="Consolas" pitchFamily="34" charset="0"/>
                <a:ea typeface="Consolas" pitchFamily="34" charset="-122"/>
                <a:cs typeface="Consolas" pitchFamily="34" charset="-120"/>
              </a:rPr>
              <a:t>367</a:t>
            </a:r>
            <a:endParaRPr lang="en-US" sz="1000" dirty="0"/>
          </a:p>
        </p:txBody>
      </p:sp>
      <p:sp>
        <p:nvSpPr>
          <p:cNvPr id="28" name="Text 26"/>
          <p:cNvSpPr/>
          <p:nvPr/>
        </p:nvSpPr>
        <p:spPr>
          <a:xfrm>
            <a:off x="640080" y="4581144"/>
            <a:ext cx="1554480" cy="274320"/>
          </a:xfrm>
          <a:prstGeom prst="rect">
            <a:avLst/>
          </a:prstGeom>
          <a:noFill/>
          <a:ln/>
        </p:spPr>
        <p:txBody>
          <a:bodyPr wrap="square" rtlCol="0" anchor="ctr"/>
          <a:lstStyle/>
          <a:p>
            <a:pPr indent="0" marL="0">
              <a:buNone/>
            </a:pPr>
            <a:r>
              <a:rPr lang="en-US" sz="1000" dirty="0">
                <a:solidFill>
                  <a:srgbClr val="B8C2D4"/>
                </a:solidFill>
                <a:latin typeface="Calibri" pitchFamily="34" charset="0"/>
                <a:ea typeface="Calibri" pitchFamily="34" charset="-122"/>
                <a:cs typeface="Calibri" pitchFamily="34" charset="-120"/>
              </a:rPr>
              <a:t>Mpumalanga</a:t>
            </a:r>
            <a:endParaRPr lang="en-US" sz="1000" dirty="0"/>
          </a:p>
        </p:txBody>
      </p:sp>
      <p:sp>
        <p:nvSpPr>
          <p:cNvPr id="29" name="Shape 27"/>
          <p:cNvSpPr/>
          <p:nvPr/>
        </p:nvSpPr>
        <p:spPr>
          <a:xfrm>
            <a:off x="2286000" y="4654296"/>
            <a:ext cx="930986" cy="201168"/>
          </a:xfrm>
          <a:prstGeom prst="rect">
            <a:avLst/>
          </a:prstGeom>
          <a:solidFill>
            <a:srgbClr val="3B82F6"/>
          </a:solidFill>
          <a:ln/>
        </p:spPr>
      </p:sp>
      <p:sp>
        <p:nvSpPr>
          <p:cNvPr id="30" name="Text 28"/>
          <p:cNvSpPr/>
          <p:nvPr/>
        </p:nvSpPr>
        <p:spPr>
          <a:xfrm>
            <a:off x="3262706" y="4581144"/>
            <a:ext cx="548640" cy="274320"/>
          </a:xfrm>
          <a:prstGeom prst="rect">
            <a:avLst/>
          </a:prstGeom>
          <a:noFill/>
          <a:ln/>
        </p:spPr>
        <p:txBody>
          <a:bodyPr wrap="square" rtlCol="0" anchor="ctr"/>
          <a:lstStyle/>
          <a:p>
            <a:pPr indent="0" marL="0">
              <a:buNone/>
            </a:pPr>
            <a:r>
              <a:rPr lang="en-US" sz="1000" b="1" dirty="0">
                <a:solidFill>
                  <a:srgbClr val="F5F7FA"/>
                </a:solidFill>
                <a:latin typeface="Consolas" pitchFamily="34" charset="0"/>
                <a:ea typeface="Consolas" pitchFamily="34" charset="-122"/>
                <a:cs typeface="Consolas" pitchFamily="34" charset="-120"/>
              </a:rPr>
              <a:t>326</a:t>
            </a:r>
            <a:endParaRPr lang="en-US" sz="1000" dirty="0"/>
          </a:p>
        </p:txBody>
      </p:sp>
      <p:sp>
        <p:nvSpPr>
          <p:cNvPr id="31" name="Text 29"/>
          <p:cNvSpPr/>
          <p:nvPr/>
        </p:nvSpPr>
        <p:spPr>
          <a:xfrm>
            <a:off x="640080" y="4946904"/>
            <a:ext cx="1554480" cy="274320"/>
          </a:xfrm>
          <a:prstGeom prst="rect">
            <a:avLst/>
          </a:prstGeom>
          <a:noFill/>
          <a:ln/>
        </p:spPr>
        <p:txBody>
          <a:bodyPr wrap="square" rtlCol="0" anchor="ctr"/>
          <a:lstStyle/>
          <a:p>
            <a:pPr indent="0" marL="0">
              <a:buNone/>
            </a:pPr>
            <a:r>
              <a:rPr lang="en-US" sz="1000" dirty="0">
                <a:solidFill>
                  <a:srgbClr val="B8C2D4"/>
                </a:solidFill>
                <a:latin typeface="Calibri" pitchFamily="34" charset="0"/>
                <a:ea typeface="Calibri" pitchFamily="34" charset="-122"/>
                <a:cs typeface="Calibri" pitchFamily="34" charset="-120"/>
              </a:rPr>
              <a:t>North West</a:t>
            </a:r>
            <a:endParaRPr lang="en-US" sz="1000" dirty="0"/>
          </a:p>
        </p:txBody>
      </p:sp>
      <p:sp>
        <p:nvSpPr>
          <p:cNvPr id="32" name="Shape 30"/>
          <p:cNvSpPr/>
          <p:nvPr/>
        </p:nvSpPr>
        <p:spPr>
          <a:xfrm>
            <a:off x="2286000" y="5020056"/>
            <a:ext cx="716802" cy="201168"/>
          </a:xfrm>
          <a:prstGeom prst="rect">
            <a:avLst/>
          </a:prstGeom>
          <a:solidFill>
            <a:srgbClr val="3B82F6"/>
          </a:solidFill>
          <a:ln/>
        </p:spPr>
      </p:sp>
      <p:sp>
        <p:nvSpPr>
          <p:cNvPr id="33" name="Text 31"/>
          <p:cNvSpPr/>
          <p:nvPr/>
        </p:nvSpPr>
        <p:spPr>
          <a:xfrm>
            <a:off x="3048522" y="4946904"/>
            <a:ext cx="548640" cy="274320"/>
          </a:xfrm>
          <a:prstGeom prst="rect">
            <a:avLst/>
          </a:prstGeom>
          <a:noFill/>
          <a:ln/>
        </p:spPr>
        <p:txBody>
          <a:bodyPr wrap="square" rtlCol="0" anchor="ctr"/>
          <a:lstStyle/>
          <a:p>
            <a:pPr indent="0" marL="0">
              <a:buNone/>
            </a:pPr>
            <a:r>
              <a:rPr lang="en-US" sz="1000" b="1" dirty="0">
                <a:solidFill>
                  <a:srgbClr val="F5F7FA"/>
                </a:solidFill>
                <a:latin typeface="Consolas" pitchFamily="34" charset="0"/>
                <a:ea typeface="Consolas" pitchFamily="34" charset="-122"/>
                <a:cs typeface="Consolas" pitchFamily="34" charset="-120"/>
              </a:rPr>
              <a:t>251</a:t>
            </a:r>
            <a:endParaRPr lang="en-US" sz="1000" dirty="0"/>
          </a:p>
        </p:txBody>
      </p:sp>
      <p:sp>
        <p:nvSpPr>
          <p:cNvPr id="34" name="Text 32"/>
          <p:cNvSpPr/>
          <p:nvPr/>
        </p:nvSpPr>
        <p:spPr>
          <a:xfrm>
            <a:off x="640080" y="5312664"/>
            <a:ext cx="1554480" cy="274320"/>
          </a:xfrm>
          <a:prstGeom prst="rect">
            <a:avLst/>
          </a:prstGeom>
          <a:noFill/>
          <a:ln/>
        </p:spPr>
        <p:txBody>
          <a:bodyPr wrap="square" rtlCol="0" anchor="ctr"/>
          <a:lstStyle/>
          <a:p>
            <a:pPr indent="0" marL="0">
              <a:buNone/>
            </a:pPr>
            <a:r>
              <a:rPr lang="en-US" sz="1000" dirty="0">
                <a:solidFill>
                  <a:srgbClr val="B8C2D4"/>
                </a:solidFill>
                <a:latin typeface="Calibri" pitchFamily="34" charset="0"/>
                <a:ea typeface="Calibri" pitchFamily="34" charset="-122"/>
                <a:cs typeface="Calibri" pitchFamily="34" charset="-120"/>
              </a:rPr>
              <a:t>Free State</a:t>
            </a:r>
            <a:endParaRPr lang="en-US" sz="1000" dirty="0"/>
          </a:p>
        </p:txBody>
      </p:sp>
      <p:sp>
        <p:nvSpPr>
          <p:cNvPr id="35" name="Shape 33"/>
          <p:cNvSpPr/>
          <p:nvPr/>
        </p:nvSpPr>
        <p:spPr>
          <a:xfrm>
            <a:off x="2286000" y="5385816"/>
            <a:ext cx="496906" cy="201168"/>
          </a:xfrm>
          <a:prstGeom prst="rect">
            <a:avLst/>
          </a:prstGeom>
          <a:solidFill>
            <a:srgbClr val="3B82F6"/>
          </a:solidFill>
          <a:ln/>
        </p:spPr>
      </p:sp>
      <p:sp>
        <p:nvSpPr>
          <p:cNvPr id="36" name="Text 34"/>
          <p:cNvSpPr/>
          <p:nvPr/>
        </p:nvSpPr>
        <p:spPr>
          <a:xfrm>
            <a:off x="2828626" y="5312664"/>
            <a:ext cx="548640" cy="274320"/>
          </a:xfrm>
          <a:prstGeom prst="rect">
            <a:avLst/>
          </a:prstGeom>
          <a:noFill/>
          <a:ln/>
        </p:spPr>
        <p:txBody>
          <a:bodyPr wrap="square" rtlCol="0" anchor="ctr"/>
          <a:lstStyle/>
          <a:p>
            <a:pPr indent="0" marL="0">
              <a:buNone/>
            </a:pPr>
            <a:r>
              <a:rPr lang="en-US" sz="1000" b="1" dirty="0">
                <a:solidFill>
                  <a:srgbClr val="F5F7FA"/>
                </a:solidFill>
                <a:latin typeface="Consolas" pitchFamily="34" charset="0"/>
                <a:ea typeface="Consolas" pitchFamily="34" charset="-122"/>
                <a:cs typeface="Consolas" pitchFamily="34" charset="-120"/>
              </a:rPr>
              <a:t>174</a:t>
            </a:r>
            <a:endParaRPr lang="en-US" sz="1000" dirty="0"/>
          </a:p>
        </p:txBody>
      </p:sp>
      <p:sp>
        <p:nvSpPr>
          <p:cNvPr id="37" name="Text 35"/>
          <p:cNvSpPr/>
          <p:nvPr/>
        </p:nvSpPr>
        <p:spPr>
          <a:xfrm>
            <a:off x="640080" y="5678424"/>
            <a:ext cx="1554480" cy="274320"/>
          </a:xfrm>
          <a:prstGeom prst="rect">
            <a:avLst/>
          </a:prstGeom>
          <a:noFill/>
          <a:ln/>
        </p:spPr>
        <p:txBody>
          <a:bodyPr wrap="square" rtlCol="0" anchor="ctr"/>
          <a:lstStyle/>
          <a:p>
            <a:pPr indent="0" marL="0">
              <a:buNone/>
            </a:pPr>
            <a:r>
              <a:rPr lang="en-US" sz="1000" dirty="0">
                <a:solidFill>
                  <a:srgbClr val="B8C2D4"/>
                </a:solidFill>
                <a:latin typeface="Calibri" pitchFamily="34" charset="0"/>
                <a:ea typeface="Calibri" pitchFamily="34" charset="-122"/>
                <a:cs typeface="Calibri" pitchFamily="34" charset="-120"/>
              </a:rPr>
              <a:t>Northern Cape</a:t>
            </a:r>
            <a:endParaRPr lang="en-US" sz="1000" dirty="0"/>
          </a:p>
        </p:txBody>
      </p:sp>
      <p:sp>
        <p:nvSpPr>
          <p:cNvPr id="38" name="Shape 36"/>
          <p:cNvSpPr/>
          <p:nvPr/>
        </p:nvSpPr>
        <p:spPr>
          <a:xfrm>
            <a:off x="2286000" y="5751576"/>
            <a:ext cx="371252" cy="201168"/>
          </a:xfrm>
          <a:prstGeom prst="rect">
            <a:avLst/>
          </a:prstGeom>
          <a:solidFill>
            <a:srgbClr val="3B82F6"/>
          </a:solidFill>
          <a:ln/>
        </p:spPr>
      </p:sp>
      <p:sp>
        <p:nvSpPr>
          <p:cNvPr id="39" name="Text 37"/>
          <p:cNvSpPr/>
          <p:nvPr/>
        </p:nvSpPr>
        <p:spPr>
          <a:xfrm>
            <a:off x="2702972" y="5678424"/>
            <a:ext cx="548640" cy="274320"/>
          </a:xfrm>
          <a:prstGeom prst="rect">
            <a:avLst/>
          </a:prstGeom>
          <a:noFill/>
          <a:ln/>
        </p:spPr>
        <p:txBody>
          <a:bodyPr wrap="square" rtlCol="0" anchor="ctr"/>
          <a:lstStyle/>
          <a:p>
            <a:pPr indent="0" marL="0">
              <a:buNone/>
            </a:pPr>
            <a:r>
              <a:rPr lang="en-US" sz="1000" b="1" dirty="0">
                <a:solidFill>
                  <a:srgbClr val="F5F7FA"/>
                </a:solidFill>
                <a:latin typeface="Consolas" pitchFamily="34" charset="0"/>
                <a:ea typeface="Consolas" pitchFamily="34" charset="-122"/>
                <a:cs typeface="Consolas" pitchFamily="34" charset="-120"/>
              </a:rPr>
              <a:t>130</a:t>
            </a:r>
            <a:endParaRPr lang="en-US" sz="1000" dirty="0"/>
          </a:p>
        </p:txBody>
      </p:sp>
      <p:sp>
        <p:nvSpPr>
          <p:cNvPr id="40" name="Text 38"/>
          <p:cNvSpPr/>
          <p:nvPr/>
        </p:nvSpPr>
        <p:spPr>
          <a:xfrm>
            <a:off x="640080" y="6044184"/>
            <a:ext cx="1554480" cy="274320"/>
          </a:xfrm>
          <a:prstGeom prst="rect">
            <a:avLst/>
          </a:prstGeom>
          <a:noFill/>
          <a:ln/>
        </p:spPr>
        <p:txBody>
          <a:bodyPr wrap="square" rtlCol="0" anchor="ctr"/>
          <a:lstStyle/>
          <a:p>
            <a:pPr indent="0" marL="0">
              <a:buNone/>
            </a:pPr>
            <a:r>
              <a:rPr lang="en-US" sz="1000" dirty="0">
                <a:solidFill>
                  <a:srgbClr val="B8C2D4"/>
                </a:solidFill>
                <a:latin typeface="Calibri" pitchFamily="34" charset="0"/>
                <a:ea typeface="Calibri" pitchFamily="34" charset="-122"/>
                <a:cs typeface="Calibri" pitchFamily="34" charset="-120"/>
              </a:rPr>
              <a:t>Unknown</a:t>
            </a:r>
            <a:endParaRPr lang="en-US" sz="1000" dirty="0"/>
          </a:p>
        </p:txBody>
      </p:sp>
      <p:sp>
        <p:nvSpPr>
          <p:cNvPr id="41" name="Shape 39"/>
          <p:cNvSpPr/>
          <p:nvPr/>
        </p:nvSpPr>
        <p:spPr>
          <a:xfrm>
            <a:off x="2286000" y="6117336"/>
            <a:ext cx="1564970" cy="201168"/>
          </a:xfrm>
          <a:prstGeom prst="rect">
            <a:avLst/>
          </a:prstGeom>
          <a:solidFill>
            <a:srgbClr val="7A879F"/>
          </a:solidFill>
          <a:ln/>
        </p:spPr>
      </p:sp>
      <p:sp>
        <p:nvSpPr>
          <p:cNvPr id="42" name="Text 40"/>
          <p:cNvSpPr/>
          <p:nvPr/>
        </p:nvSpPr>
        <p:spPr>
          <a:xfrm>
            <a:off x="3896690" y="6044184"/>
            <a:ext cx="548640" cy="274320"/>
          </a:xfrm>
          <a:prstGeom prst="rect">
            <a:avLst/>
          </a:prstGeom>
          <a:noFill/>
          <a:ln/>
        </p:spPr>
        <p:txBody>
          <a:bodyPr wrap="square" rtlCol="0" anchor="ctr"/>
          <a:lstStyle/>
          <a:p>
            <a:pPr indent="0" marL="0">
              <a:buNone/>
            </a:pPr>
            <a:r>
              <a:rPr lang="en-US" sz="1000" b="1" dirty="0">
                <a:solidFill>
                  <a:srgbClr val="F5F7FA"/>
                </a:solidFill>
                <a:latin typeface="Consolas" pitchFamily="34" charset="0"/>
                <a:ea typeface="Consolas" pitchFamily="34" charset="-122"/>
                <a:cs typeface="Consolas" pitchFamily="34" charset="-120"/>
              </a:rPr>
              <a:t>548</a:t>
            </a:r>
            <a:endParaRPr lang="en-US" sz="1000" dirty="0"/>
          </a:p>
        </p:txBody>
      </p:sp>
      <p:sp>
        <p:nvSpPr>
          <p:cNvPr id="43" name="Text 41"/>
          <p:cNvSpPr/>
          <p:nvPr/>
        </p:nvSpPr>
        <p:spPr>
          <a:xfrm>
            <a:off x="640080" y="6172200"/>
            <a:ext cx="4572000" cy="228600"/>
          </a:xfrm>
          <a:prstGeom prst="rect">
            <a:avLst/>
          </a:prstGeom>
          <a:noFill/>
          <a:ln/>
        </p:spPr>
        <p:txBody>
          <a:bodyPr wrap="square" rtlCol="0" anchor="ctr"/>
          <a:lstStyle/>
          <a:p>
            <a:pPr indent="0" marL="0">
              <a:buNone/>
            </a:pPr>
            <a:r>
              <a:rPr lang="en-US" sz="900" spc="300" kern="0" dirty="0">
                <a:solidFill>
                  <a:srgbClr val="7A879F"/>
                </a:solidFill>
                <a:latin typeface="Consolas" pitchFamily="34" charset="0"/>
                <a:ea typeface="Consolas" pitchFamily="34" charset="-122"/>
                <a:cs typeface="Consolas" pitchFamily="34" charset="-120"/>
              </a:rPr>
              <a:t>SUBSCRIBERS BY PROVINCE</a:t>
            </a:r>
            <a:endParaRPr lang="en-US" sz="900" dirty="0"/>
          </a:p>
        </p:txBody>
      </p:sp>
      <p:sp>
        <p:nvSpPr>
          <p:cNvPr id="44" name="Shape 42"/>
          <p:cNvSpPr/>
          <p:nvPr/>
        </p:nvSpPr>
        <p:spPr>
          <a:xfrm>
            <a:off x="7589520" y="2606040"/>
            <a:ext cx="4114800" cy="3840480"/>
          </a:xfrm>
          <a:prstGeom prst="rect">
            <a:avLst/>
          </a:prstGeom>
          <a:solidFill>
            <a:srgbClr val="1A2236"/>
          </a:solidFill>
          <a:ln w="9525">
            <a:solidFill>
              <a:srgbClr val="2A3650"/>
            </a:solidFill>
            <a:prstDash val="solid"/>
          </a:ln>
        </p:spPr>
      </p:sp>
      <p:sp>
        <p:nvSpPr>
          <p:cNvPr id="45" name="Shape 43"/>
          <p:cNvSpPr/>
          <p:nvPr/>
        </p:nvSpPr>
        <p:spPr>
          <a:xfrm>
            <a:off x="7589520" y="2606040"/>
            <a:ext cx="73152" cy="3840480"/>
          </a:xfrm>
          <a:prstGeom prst="rect">
            <a:avLst/>
          </a:prstGeom>
          <a:solidFill>
            <a:srgbClr val="F59E0B"/>
          </a:solidFill>
          <a:ln/>
        </p:spPr>
      </p:sp>
      <p:sp>
        <p:nvSpPr>
          <p:cNvPr id="46" name="Text 44"/>
          <p:cNvSpPr/>
          <p:nvPr/>
        </p:nvSpPr>
        <p:spPr>
          <a:xfrm>
            <a:off x="7818120" y="2743200"/>
            <a:ext cx="3657600" cy="274320"/>
          </a:xfrm>
          <a:prstGeom prst="rect">
            <a:avLst/>
          </a:prstGeom>
          <a:noFill/>
          <a:ln/>
        </p:spPr>
        <p:txBody>
          <a:bodyPr wrap="square" rtlCol="0" anchor="ctr"/>
          <a:lstStyle/>
          <a:p>
            <a:pPr indent="0" marL="0">
              <a:buNone/>
            </a:pPr>
            <a:r>
              <a:rPr lang="en-US" sz="1100" b="1" spc="400" kern="0" dirty="0">
                <a:solidFill>
                  <a:srgbClr val="F59E0B"/>
                </a:solidFill>
                <a:latin typeface="Consolas" pitchFamily="34" charset="0"/>
                <a:ea typeface="Consolas" pitchFamily="34" charset="-122"/>
                <a:cs typeface="Consolas" pitchFamily="34" charset="-120"/>
              </a:rPr>
              <a:t>GAUTENG</a:t>
            </a:r>
            <a:endParaRPr lang="en-US" sz="1100" dirty="0"/>
          </a:p>
        </p:txBody>
      </p:sp>
      <p:sp>
        <p:nvSpPr>
          <p:cNvPr id="47" name="Text 45"/>
          <p:cNvSpPr/>
          <p:nvPr/>
        </p:nvSpPr>
        <p:spPr>
          <a:xfrm>
            <a:off x="7818120" y="3108960"/>
            <a:ext cx="3657600" cy="1188720"/>
          </a:xfrm>
          <a:prstGeom prst="rect">
            <a:avLst/>
          </a:prstGeom>
          <a:noFill/>
          <a:ln/>
        </p:spPr>
        <p:txBody>
          <a:bodyPr wrap="square" rtlCol="0" anchor="ctr"/>
          <a:lstStyle/>
          <a:p>
            <a:pPr indent="0" marL="0">
              <a:buNone/>
            </a:pPr>
            <a:r>
              <a:rPr lang="en-US" sz="8000" b="1" dirty="0">
                <a:solidFill>
                  <a:srgbClr val="F5F7FA"/>
                </a:solidFill>
                <a:latin typeface="Georgia" pitchFamily="34" charset="0"/>
                <a:ea typeface="Georgia" pitchFamily="34" charset="-122"/>
                <a:cs typeface="Georgia" pitchFamily="34" charset="-120"/>
              </a:rPr>
              <a:t>1,665</a:t>
            </a:r>
            <a:endParaRPr lang="en-US" sz="8000" dirty="0"/>
          </a:p>
        </p:txBody>
      </p:sp>
      <p:sp>
        <p:nvSpPr>
          <p:cNvPr id="48" name="Text 46"/>
          <p:cNvSpPr/>
          <p:nvPr/>
        </p:nvSpPr>
        <p:spPr>
          <a:xfrm>
            <a:off x="7818120" y="4526280"/>
            <a:ext cx="3657600" cy="914400"/>
          </a:xfrm>
          <a:prstGeom prst="rect">
            <a:avLst/>
          </a:prstGeom>
          <a:noFill/>
          <a:ln/>
        </p:spPr>
        <p:txBody>
          <a:bodyPr wrap="square" rtlCol="0" anchor="ctr"/>
          <a:lstStyle/>
          <a:p>
            <a:pPr indent="0" marL="0">
              <a:buNone/>
            </a:pPr>
            <a:r>
              <a:rPr lang="en-US" sz="1300" i="1" dirty="0">
                <a:solidFill>
                  <a:srgbClr val="B8C2D4"/>
                </a:solidFill>
                <a:latin typeface="Calibri" pitchFamily="34" charset="0"/>
                <a:ea typeface="Calibri" pitchFamily="34" charset="-122"/>
                <a:cs typeface="Calibri" pitchFamily="34" charset="-120"/>
              </a:rPr>
              <a:t>subscribers — the largest single provincial base by a wide margin.</a:t>
            </a:r>
            <a:endParaRPr lang="en-US" sz="1300" dirty="0"/>
          </a:p>
        </p:txBody>
      </p:sp>
      <p:sp>
        <p:nvSpPr>
          <p:cNvPr id="49" name="Shape 47"/>
          <p:cNvSpPr/>
          <p:nvPr/>
        </p:nvSpPr>
        <p:spPr>
          <a:xfrm>
            <a:off x="7818120" y="5486400"/>
            <a:ext cx="365760" cy="27432"/>
          </a:xfrm>
          <a:prstGeom prst="rect">
            <a:avLst/>
          </a:prstGeom>
          <a:solidFill>
            <a:srgbClr val="F59E0B"/>
          </a:solidFill>
          <a:ln/>
        </p:spPr>
      </p:sp>
      <p:sp>
        <p:nvSpPr>
          <p:cNvPr id="50" name="Text 48"/>
          <p:cNvSpPr/>
          <p:nvPr/>
        </p:nvSpPr>
        <p:spPr>
          <a:xfrm>
            <a:off x="7818120" y="5623560"/>
            <a:ext cx="3657600" cy="731520"/>
          </a:xfrm>
          <a:prstGeom prst="rect">
            <a:avLst/>
          </a:prstGeom>
          <a:noFill/>
          <a:ln/>
        </p:spPr>
        <p:txBody>
          <a:bodyPr wrap="square" rtlCol="0" anchor="ctr"/>
          <a:lstStyle/>
          <a:p>
            <a:pPr indent="0" marL="0">
              <a:buNone/>
            </a:pPr>
            <a:r>
              <a:rPr lang="en-US" sz="1100" dirty="0">
                <a:solidFill>
                  <a:srgbClr val="7A879F"/>
                </a:solidFill>
                <a:latin typeface="Calibri" pitchFamily="34" charset="0"/>
                <a:ea typeface="Calibri" pitchFamily="34" charset="-122"/>
                <a:cs typeface="Calibri" pitchFamily="34" charset="-120"/>
              </a:rPr>
              <a:t>Concentrate flagship marketing and OOH spend where the audience already is.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7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03</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AUDIENCE &amp; VIEWERSHIP</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A male-skewed audience — and a clear opportunity.</a:t>
            </a:r>
            <a:endParaRPr lang="en-US" sz="3600" dirty="0"/>
          </a:p>
        </p:txBody>
      </p:sp>
      <p:sp>
        <p:nvSpPr>
          <p:cNvPr id="11" name="Text 9"/>
          <p:cNvSpPr/>
          <p:nvPr/>
        </p:nvSpPr>
        <p:spPr>
          <a:xfrm>
            <a:off x="457200" y="1783080"/>
            <a:ext cx="10972800" cy="457200"/>
          </a:xfrm>
          <a:prstGeom prst="rect">
            <a:avLst/>
          </a:prstGeom>
          <a:noFill/>
          <a:ln/>
        </p:spPr>
        <p:txBody>
          <a:bodyPr wrap="square" rtlCol="0" anchor="ctr"/>
          <a:lstStyle/>
          <a:p>
            <a:pPr indent="0" marL="0">
              <a:buNone/>
            </a:pPr>
            <a:r>
              <a:rPr lang="en-US" sz="1400" i="1" dirty="0">
                <a:solidFill>
                  <a:srgbClr val="B8C2D4"/>
                </a:solidFill>
                <a:latin typeface="Calibri" pitchFamily="34" charset="0"/>
                <a:ea typeface="Calibri" pitchFamily="34" charset="-122"/>
                <a:cs typeface="Calibri" pitchFamily="34" charset="-120"/>
              </a:rPr>
              <a:t>77.5% male, 10% female, 12.5% unknown. The shape of the audience tells us where to grow.</a:t>
            </a:r>
            <a:endParaRPr lang="en-US" sz="1400" dirty="0"/>
          </a:p>
        </p:txBody>
      </p:sp>
      <p:sp>
        <p:nvSpPr>
          <p:cNvPr id="12" name="Shape 10"/>
          <p:cNvSpPr/>
          <p:nvPr/>
        </p:nvSpPr>
        <p:spPr>
          <a:xfrm>
            <a:off x="457200" y="2468880"/>
            <a:ext cx="3657600" cy="2926080"/>
          </a:xfrm>
          <a:prstGeom prst="rect">
            <a:avLst/>
          </a:prstGeom>
          <a:solidFill>
            <a:srgbClr val="1A2236"/>
          </a:solidFill>
          <a:ln w="9525">
            <a:solidFill>
              <a:srgbClr val="2A3650"/>
            </a:solidFill>
            <a:prstDash val="solid"/>
          </a:ln>
        </p:spPr>
      </p:sp>
      <p:sp>
        <p:nvSpPr>
          <p:cNvPr id="13" name="Shape 11"/>
          <p:cNvSpPr/>
          <p:nvPr/>
        </p:nvSpPr>
        <p:spPr>
          <a:xfrm>
            <a:off x="457200" y="2468880"/>
            <a:ext cx="3657600" cy="73152"/>
          </a:xfrm>
          <a:prstGeom prst="rect">
            <a:avLst/>
          </a:prstGeom>
          <a:solidFill>
            <a:srgbClr val="3B82F6"/>
          </a:solidFill>
          <a:ln/>
        </p:spPr>
      </p:sp>
      <p:sp>
        <p:nvSpPr>
          <p:cNvPr id="14" name="Text 12"/>
          <p:cNvSpPr/>
          <p:nvPr/>
        </p:nvSpPr>
        <p:spPr>
          <a:xfrm>
            <a:off x="731520" y="2606040"/>
            <a:ext cx="3291840" cy="1371600"/>
          </a:xfrm>
          <a:prstGeom prst="rect">
            <a:avLst/>
          </a:prstGeom>
          <a:noFill/>
          <a:ln/>
        </p:spPr>
        <p:txBody>
          <a:bodyPr wrap="square" rtlCol="0" anchor="ctr"/>
          <a:lstStyle/>
          <a:p>
            <a:pPr indent="0" marL="0">
              <a:buNone/>
            </a:pPr>
            <a:r>
              <a:rPr lang="en-US" sz="6400" b="1" dirty="0">
                <a:solidFill>
                  <a:srgbClr val="F5F7FA"/>
                </a:solidFill>
                <a:latin typeface="Georgia" pitchFamily="34" charset="0"/>
                <a:ea typeface="Georgia" pitchFamily="34" charset="-122"/>
                <a:cs typeface="Georgia" pitchFamily="34" charset="-120"/>
              </a:rPr>
              <a:t>77.5%</a:t>
            </a:r>
            <a:endParaRPr lang="en-US" sz="6400" dirty="0"/>
          </a:p>
        </p:txBody>
      </p:sp>
      <p:sp>
        <p:nvSpPr>
          <p:cNvPr id="15" name="Text 13"/>
          <p:cNvSpPr/>
          <p:nvPr/>
        </p:nvSpPr>
        <p:spPr>
          <a:xfrm>
            <a:off x="731520" y="4069080"/>
            <a:ext cx="3291840" cy="274320"/>
          </a:xfrm>
          <a:prstGeom prst="rect">
            <a:avLst/>
          </a:prstGeom>
          <a:noFill/>
          <a:ln/>
        </p:spPr>
        <p:txBody>
          <a:bodyPr wrap="square" rtlCol="0" anchor="ctr"/>
          <a:lstStyle/>
          <a:p>
            <a:pPr indent="0" marL="0">
              <a:buNone/>
            </a:pPr>
            <a:r>
              <a:rPr lang="en-US" sz="1100" b="1" spc="300" kern="0" dirty="0">
                <a:solidFill>
                  <a:srgbClr val="3B82F6"/>
                </a:solidFill>
                <a:latin typeface="Consolas" pitchFamily="34" charset="0"/>
                <a:ea typeface="Consolas" pitchFamily="34" charset="-122"/>
                <a:cs typeface="Consolas" pitchFamily="34" charset="-120"/>
              </a:rPr>
              <a:t>MALE DOMINANCE</a:t>
            </a:r>
            <a:endParaRPr lang="en-US" sz="1100" dirty="0"/>
          </a:p>
        </p:txBody>
      </p:sp>
      <p:sp>
        <p:nvSpPr>
          <p:cNvPr id="16" name="Text 14"/>
          <p:cNvSpPr/>
          <p:nvPr/>
        </p:nvSpPr>
        <p:spPr>
          <a:xfrm>
            <a:off x="731520" y="4434840"/>
            <a:ext cx="3291840" cy="91440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Sports-led programming has built a loyal core audience.</a:t>
            </a:r>
            <a:endParaRPr lang="en-US" sz="1200" dirty="0"/>
          </a:p>
        </p:txBody>
      </p:sp>
      <p:sp>
        <p:nvSpPr>
          <p:cNvPr id="17" name="Shape 15"/>
          <p:cNvSpPr/>
          <p:nvPr/>
        </p:nvSpPr>
        <p:spPr>
          <a:xfrm>
            <a:off x="4370832" y="2468880"/>
            <a:ext cx="3657600" cy="2926080"/>
          </a:xfrm>
          <a:prstGeom prst="rect">
            <a:avLst/>
          </a:prstGeom>
          <a:solidFill>
            <a:srgbClr val="1A2236"/>
          </a:solidFill>
          <a:ln w="9525">
            <a:solidFill>
              <a:srgbClr val="2A3650"/>
            </a:solidFill>
            <a:prstDash val="solid"/>
          </a:ln>
        </p:spPr>
      </p:sp>
      <p:sp>
        <p:nvSpPr>
          <p:cNvPr id="18" name="Shape 16"/>
          <p:cNvSpPr/>
          <p:nvPr/>
        </p:nvSpPr>
        <p:spPr>
          <a:xfrm>
            <a:off x="4370832" y="2468880"/>
            <a:ext cx="3657600" cy="73152"/>
          </a:xfrm>
          <a:prstGeom prst="rect">
            <a:avLst/>
          </a:prstGeom>
          <a:solidFill>
            <a:srgbClr val="E11D48"/>
          </a:solidFill>
          <a:ln/>
        </p:spPr>
      </p:sp>
      <p:sp>
        <p:nvSpPr>
          <p:cNvPr id="19" name="Text 17"/>
          <p:cNvSpPr/>
          <p:nvPr/>
        </p:nvSpPr>
        <p:spPr>
          <a:xfrm>
            <a:off x="4645152" y="2606040"/>
            <a:ext cx="3291840" cy="1371600"/>
          </a:xfrm>
          <a:prstGeom prst="rect">
            <a:avLst/>
          </a:prstGeom>
          <a:noFill/>
          <a:ln/>
        </p:spPr>
        <p:txBody>
          <a:bodyPr wrap="square" rtlCol="0" anchor="ctr"/>
          <a:lstStyle/>
          <a:p>
            <a:pPr indent="0" marL="0">
              <a:buNone/>
            </a:pPr>
            <a:r>
              <a:rPr lang="en-US" sz="6400" b="1" dirty="0">
                <a:solidFill>
                  <a:srgbClr val="F5F7FA"/>
                </a:solidFill>
                <a:latin typeface="Georgia" pitchFamily="34" charset="0"/>
                <a:ea typeface="Georgia" pitchFamily="34" charset="-122"/>
                <a:cs typeface="Georgia" pitchFamily="34" charset="-120"/>
              </a:rPr>
              <a:t>10%</a:t>
            </a:r>
            <a:endParaRPr lang="en-US" sz="6400" dirty="0"/>
          </a:p>
        </p:txBody>
      </p:sp>
      <p:sp>
        <p:nvSpPr>
          <p:cNvPr id="20" name="Text 18"/>
          <p:cNvSpPr/>
          <p:nvPr/>
        </p:nvSpPr>
        <p:spPr>
          <a:xfrm>
            <a:off x="4645152" y="4069080"/>
            <a:ext cx="3291840" cy="274320"/>
          </a:xfrm>
          <a:prstGeom prst="rect">
            <a:avLst/>
          </a:prstGeom>
          <a:noFill/>
          <a:ln/>
        </p:spPr>
        <p:txBody>
          <a:bodyPr wrap="square" rtlCol="0" anchor="ctr"/>
          <a:lstStyle/>
          <a:p>
            <a:pPr indent="0" marL="0">
              <a:buNone/>
            </a:pPr>
            <a:r>
              <a:rPr lang="en-US" sz="1100" b="1" spc="300" kern="0" dirty="0">
                <a:solidFill>
                  <a:srgbClr val="E11D48"/>
                </a:solidFill>
                <a:latin typeface="Consolas" pitchFamily="34" charset="0"/>
                <a:ea typeface="Consolas" pitchFamily="34" charset="-122"/>
                <a:cs typeface="Consolas" pitchFamily="34" charset="-120"/>
              </a:rPr>
              <a:t>FEMALE SHARE</a:t>
            </a:r>
            <a:endParaRPr lang="en-US" sz="1100" dirty="0"/>
          </a:p>
        </p:txBody>
      </p:sp>
      <p:sp>
        <p:nvSpPr>
          <p:cNvPr id="21" name="Text 19"/>
          <p:cNvSpPr/>
          <p:nvPr/>
        </p:nvSpPr>
        <p:spPr>
          <a:xfrm>
            <a:off x="4645152" y="4434840"/>
            <a:ext cx="3291840" cy="91440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A structural gap — the single biggest growth lever in the deck.</a:t>
            </a:r>
            <a:endParaRPr lang="en-US" sz="1200" dirty="0"/>
          </a:p>
        </p:txBody>
      </p:sp>
      <p:sp>
        <p:nvSpPr>
          <p:cNvPr id="22" name="Shape 20"/>
          <p:cNvSpPr/>
          <p:nvPr/>
        </p:nvSpPr>
        <p:spPr>
          <a:xfrm>
            <a:off x="8284464" y="2468880"/>
            <a:ext cx="3657600" cy="2926080"/>
          </a:xfrm>
          <a:prstGeom prst="rect">
            <a:avLst/>
          </a:prstGeom>
          <a:solidFill>
            <a:srgbClr val="1A2236"/>
          </a:solidFill>
          <a:ln w="9525">
            <a:solidFill>
              <a:srgbClr val="2A3650"/>
            </a:solidFill>
            <a:prstDash val="solid"/>
          </a:ln>
        </p:spPr>
      </p:sp>
      <p:sp>
        <p:nvSpPr>
          <p:cNvPr id="23" name="Shape 21"/>
          <p:cNvSpPr/>
          <p:nvPr/>
        </p:nvSpPr>
        <p:spPr>
          <a:xfrm>
            <a:off x="8284464" y="2468880"/>
            <a:ext cx="3657600" cy="73152"/>
          </a:xfrm>
          <a:prstGeom prst="rect">
            <a:avLst/>
          </a:prstGeom>
          <a:solidFill>
            <a:srgbClr val="F59E0B"/>
          </a:solidFill>
          <a:ln/>
        </p:spPr>
      </p:sp>
      <p:sp>
        <p:nvSpPr>
          <p:cNvPr id="24" name="Text 22"/>
          <p:cNvSpPr/>
          <p:nvPr/>
        </p:nvSpPr>
        <p:spPr>
          <a:xfrm>
            <a:off x="8558784" y="2606040"/>
            <a:ext cx="3291840" cy="1371600"/>
          </a:xfrm>
          <a:prstGeom prst="rect">
            <a:avLst/>
          </a:prstGeom>
          <a:noFill/>
          <a:ln/>
        </p:spPr>
        <p:txBody>
          <a:bodyPr wrap="square" rtlCol="0" anchor="ctr"/>
          <a:lstStyle/>
          <a:p>
            <a:pPr indent="0" marL="0">
              <a:buNone/>
            </a:pPr>
            <a:r>
              <a:rPr lang="en-US" sz="6400" b="1" dirty="0">
                <a:solidFill>
                  <a:srgbClr val="F5F7FA"/>
                </a:solidFill>
                <a:latin typeface="Georgia" pitchFamily="34" charset="0"/>
                <a:ea typeface="Georgia" pitchFamily="34" charset="-122"/>
                <a:cs typeface="Georgia" pitchFamily="34" charset="-120"/>
              </a:rPr>
              <a:t>12.5%</a:t>
            </a:r>
            <a:endParaRPr lang="en-US" sz="6400" dirty="0"/>
          </a:p>
        </p:txBody>
      </p:sp>
      <p:sp>
        <p:nvSpPr>
          <p:cNvPr id="25" name="Text 23"/>
          <p:cNvSpPr/>
          <p:nvPr/>
        </p:nvSpPr>
        <p:spPr>
          <a:xfrm>
            <a:off x="8558784" y="4069080"/>
            <a:ext cx="3291840" cy="274320"/>
          </a:xfrm>
          <a:prstGeom prst="rect">
            <a:avLst/>
          </a:prstGeom>
          <a:noFill/>
          <a:ln/>
        </p:spPr>
        <p:txBody>
          <a:bodyPr wrap="square" rtlCol="0" anchor="ctr"/>
          <a:lstStyle/>
          <a:p>
            <a:pPr indent="0" marL="0">
              <a:buNone/>
            </a:pPr>
            <a:r>
              <a:rPr lang="en-US" sz="1100" b="1" spc="300" kern="0" dirty="0">
                <a:solidFill>
                  <a:srgbClr val="F59E0B"/>
                </a:solidFill>
                <a:latin typeface="Consolas" pitchFamily="34" charset="0"/>
                <a:ea typeface="Consolas" pitchFamily="34" charset="-122"/>
                <a:cs typeface="Consolas" pitchFamily="34" charset="-120"/>
              </a:rPr>
              <a:t>UNKNOWN GENDER</a:t>
            </a:r>
            <a:endParaRPr lang="en-US" sz="1100" dirty="0"/>
          </a:p>
        </p:txBody>
      </p:sp>
      <p:sp>
        <p:nvSpPr>
          <p:cNvPr id="26" name="Text 24"/>
          <p:cNvSpPr/>
          <p:nvPr/>
        </p:nvSpPr>
        <p:spPr>
          <a:xfrm>
            <a:off x="8558784" y="4434840"/>
            <a:ext cx="3291840" cy="91440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A data‑collection problem — fixable, and immediately valuable.</a:t>
            </a:r>
            <a:endParaRPr lang="en-US" sz="1200" dirty="0"/>
          </a:p>
        </p:txBody>
      </p:sp>
      <p:sp>
        <p:nvSpPr>
          <p:cNvPr id="27" name="Shape 25"/>
          <p:cNvSpPr/>
          <p:nvPr/>
        </p:nvSpPr>
        <p:spPr>
          <a:xfrm>
            <a:off x="457200" y="5577840"/>
            <a:ext cx="11247120" cy="868680"/>
          </a:xfrm>
          <a:prstGeom prst="rect">
            <a:avLst/>
          </a:prstGeom>
          <a:solidFill>
            <a:srgbClr val="1F2A44"/>
          </a:solidFill>
          <a:ln w="9525">
            <a:solidFill>
              <a:srgbClr val="2A3650"/>
            </a:solidFill>
            <a:prstDash val="solid"/>
          </a:ln>
        </p:spPr>
      </p:sp>
      <p:sp>
        <p:nvSpPr>
          <p:cNvPr id="28" name="Shape 26"/>
          <p:cNvSpPr/>
          <p:nvPr/>
        </p:nvSpPr>
        <p:spPr>
          <a:xfrm>
            <a:off x="457200" y="5577840"/>
            <a:ext cx="73152" cy="868680"/>
          </a:xfrm>
          <a:prstGeom prst="rect">
            <a:avLst/>
          </a:prstGeom>
          <a:solidFill>
            <a:srgbClr val="F59E0B"/>
          </a:solidFill>
          <a:ln/>
        </p:spPr>
      </p:sp>
      <p:sp>
        <p:nvSpPr>
          <p:cNvPr id="29" name="Text 27"/>
          <p:cNvSpPr/>
          <p:nvPr/>
        </p:nvSpPr>
        <p:spPr>
          <a:xfrm>
            <a:off x="685800" y="5669280"/>
            <a:ext cx="3200400" cy="274320"/>
          </a:xfrm>
          <a:prstGeom prst="rect">
            <a:avLst/>
          </a:prstGeom>
          <a:noFill/>
          <a:ln/>
        </p:spPr>
        <p:txBody>
          <a:bodyPr wrap="square" rtlCol="0" anchor="ctr"/>
          <a:lstStyle/>
          <a:p>
            <a:pPr indent="0" marL="0">
              <a:buNone/>
            </a:pPr>
            <a:r>
              <a:rPr lang="en-US" sz="1000" b="1" spc="400" kern="0" dirty="0">
                <a:solidFill>
                  <a:srgbClr val="F59E0B"/>
                </a:solidFill>
                <a:latin typeface="Consolas" pitchFamily="34" charset="0"/>
                <a:ea typeface="Consolas" pitchFamily="34" charset="-122"/>
                <a:cs typeface="Consolas" pitchFamily="34" charset="-120"/>
              </a:rPr>
              <a:t>TOP RECOMMENDATION</a:t>
            </a:r>
            <a:endParaRPr lang="en-US" sz="1000" dirty="0"/>
          </a:p>
        </p:txBody>
      </p:sp>
      <p:sp>
        <p:nvSpPr>
          <p:cNvPr id="30" name="Text 28"/>
          <p:cNvSpPr/>
          <p:nvPr/>
        </p:nvSpPr>
        <p:spPr>
          <a:xfrm>
            <a:off x="685800" y="5943600"/>
            <a:ext cx="10972800" cy="502920"/>
          </a:xfrm>
          <a:prstGeom prst="rect">
            <a:avLst/>
          </a:prstGeom>
          <a:noFill/>
          <a:ln/>
        </p:spPr>
        <p:txBody>
          <a:bodyPr wrap="square" rtlCol="0" anchor="ctr"/>
          <a:lstStyle/>
          <a:p>
            <a:pPr indent="0" marL="0">
              <a:buNone/>
            </a:pPr>
            <a:r>
              <a:rPr lang="en-US" sz="1400" i="1" dirty="0">
                <a:solidFill>
                  <a:srgbClr val="F5F7FA"/>
                </a:solidFill>
                <a:latin typeface="Georgia" pitchFamily="34" charset="0"/>
                <a:ea typeface="Georgia" pitchFamily="34" charset="-122"/>
                <a:cs typeface="Georgia" pitchFamily="34" charset="-120"/>
              </a:rPr>
              <a:t>Double the female subscriber share from 10% → 20% → +437 net new subscribers via lifestyle, drama and women’s sport.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8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03</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AUDIENCE &amp; VIEWERSHIP</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Demand is sport‑led and event‑driven.</a:t>
            </a:r>
            <a:endParaRPr lang="en-US" sz="3600" dirty="0"/>
          </a:p>
        </p:txBody>
      </p:sp>
      <p:sp>
        <p:nvSpPr>
          <p:cNvPr id="11" name="Text 9"/>
          <p:cNvSpPr/>
          <p:nvPr/>
        </p:nvSpPr>
        <p:spPr>
          <a:xfrm>
            <a:off x="457200" y="1783080"/>
            <a:ext cx="10972800" cy="457200"/>
          </a:xfrm>
          <a:prstGeom prst="rect">
            <a:avLst/>
          </a:prstGeom>
          <a:noFill/>
          <a:ln/>
        </p:spPr>
        <p:txBody>
          <a:bodyPr wrap="square" rtlCol="0" anchor="ctr"/>
          <a:lstStyle/>
          <a:p>
            <a:pPr indent="0" marL="0">
              <a:buNone/>
            </a:pPr>
            <a:r>
              <a:rPr lang="en-US" sz="1400" i="1" dirty="0">
                <a:solidFill>
                  <a:srgbClr val="B8C2D4"/>
                </a:solidFill>
                <a:latin typeface="Calibri" pitchFamily="34" charset="0"/>
                <a:ea typeface="Calibri" pitchFamily="34" charset="-122"/>
                <a:cs typeface="Calibri" pitchFamily="34" charset="-120"/>
              </a:rPr>
              <a:t>Growth comes from monetising the peaks — not by adding more channels.</a:t>
            </a:r>
            <a:endParaRPr lang="en-US" sz="1400" dirty="0"/>
          </a:p>
        </p:txBody>
      </p:sp>
      <p:sp>
        <p:nvSpPr>
          <p:cNvPr id="12" name="Shape 10"/>
          <p:cNvSpPr/>
          <p:nvPr/>
        </p:nvSpPr>
        <p:spPr>
          <a:xfrm>
            <a:off x="457200" y="2606040"/>
            <a:ext cx="7315200" cy="3840480"/>
          </a:xfrm>
          <a:prstGeom prst="rect">
            <a:avLst/>
          </a:prstGeom>
          <a:solidFill>
            <a:srgbClr val="1A2236"/>
          </a:solidFill>
          <a:ln w="9525">
            <a:solidFill>
              <a:srgbClr val="2A3650"/>
            </a:solidFill>
            <a:prstDash val="solid"/>
          </a:ln>
        </p:spPr>
      </p:sp>
      <p:sp>
        <p:nvSpPr>
          <p:cNvPr id="13" name="Text 11"/>
          <p:cNvSpPr/>
          <p:nvPr/>
        </p:nvSpPr>
        <p:spPr>
          <a:xfrm>
            <a:off x="640080" y="2697480"/>
            <a:ext cx="6400800" cy="274320"/>
          </a:xfrm>
          <a:prstGeom prst="rect">
            <a:avLst/>
          </a:prstGeom>
          <a:noFill/>
          <a:ln/>
        </p:spPr>
        <p:txBody>
          <a:bodyPr wrap="square" rtlCol="0" anchor="ctr"/>
          <a:lstStyle/>
          <a:p>
            <a:pPr indent="0" marL="0">
              <a:buNone/>
            </a:pPr>
            <a:r>
              <a:rPr lang="en-US" sz="900" spc="300" kern="0" dirty="0">
                <a:solidFill>
                  <a:srgbClr val="7A879F"/>
                </a:solidFill>
                <a:latin typeface="Consolas" pitchFamily="34" charset="0"/>
                <a:ea typeface="Consolas" pitchFamily="34" charset="-122"/>
                <a:cs typeface="Consolas" pitchFamily="34" charset="-120"/>
              </a:rPr>
              <a:t>TOP CHANNEL PERFORMANCE  ·  % SHARE</a:t>
            </a:r>
            <a:endParaRPr lang="en-US" sz="900" dirty="0"/>
          </a:p>
        </p:txBody>
      </p:sp>
      <p:sp>
        <p:nvSpPr>
          <p:cNvPr id="14" name="Shape 12"/>
          <p:cNvSpPr/>
          <p:nvPr/>
        </p:nvSpPr>
        <p:spPr>
          <a:xfrm>
            <a:off x="868680" y="3785616"/>
            <a:ext cx="914400" cy="2249424"/>
          </a:xfrm>
          <a:prstGeom prst="rect">
            <a:avLst/>
          </a:prstGeom>
          <a:solidFill>
            <a:srgbClr val="F59E0B"/>
          </a:solidFill>
          <a:ln/>
        </p:spPr>
      </p:sp>
      <p:sp>
        <p:nvSpPr>
          <p:cNvPr id="15" name="Text 13"/>
          <p:cNvSpPr/>
          <p:nvPr/>
        </p:nvSpPr>
        <p:spPr>
          <a:xfrm>
            <a:off x="777240" y="3419856"/>
            <a:ext cx="1097280" cy="274320"/>
          </a:xfrm>
          <a:prstGeom prst="rect">
            <a:avLst/>
          </a:prstGeom>
          <a:noFill/>
          <a:ln/>
        </p:spPr>
        <p:txBody>
          <a:bodyPr wrap="square" rtlCol="0" anchor="ctr"/>
          <a:lstStyle/>
          <a:p>
            <a:pPr algn="ctr" indent="0" marL="0">
              <a:buNone/>
            </a:pPr>
            <a:r>
              <a:rPr lang="en-US" sz="1400" b="1" dirty="0">
                <a:solidFill>
                  <a:srgbClr val="F5F7FA"/>
                </a:solidFill>
                <a:latin typeface="Georgia" pitchFamily="34" charset="0"/>
                <a:ea typeface="Georgia" pitchFamily="34" charset="-122"/>
                <a:cs typeface="Georgia" pitchFamily="34" charset="-120"/>
              </a:rPr>
              <a:t>16.4%</a:t>
            </a:r>
            <a:endParaRPr lang="en-US" sz="1400" dirty="0"/>
          </a:p>
        </p:txBody>
      </p:sp>
      <p:sp>
        <p:nvSpPr>
          <p:cNvPr id="16" name="Text 14"/>
          <p:cNvSpPr/>
          <p:nvPr/>
        </p:nvSpPr>
        <p:spPr>
          <a:xfrm>
            <a:off x="777240" y="6080760"/>
            <a:ext cx="1097280" cy="274320"/>
          </a:xfrm>
          <a:prstGeom prst="rect">
            <a:avLst/>
          </a:prstGeom>
          <a:noFill/>
          <a:ln/>
        </p:spPr>
        <p:txBody>
          <a:bodyPr wrap="square" rtlCol="0" anchor="ctr"/>
          <a:lstStyle/>
          <a:p>
            <a:pPr algn="ctr" indent="0" marL="0">
              <a:buNone/>
            </a:pPr>
            <a:r>
              <a:rPr lang="en-US" sz="1100" dirty="0">
                <a:solidFill>
                  <a:srgbClr val="B8C2D4"/>
                </a:solidFill>
                <a:latin typeface="Calibri" pitchFamily="34" charset="0"/>
                <a:ea typeface="Calibri" pitchFamily="34" charset="-122"/>
                <a:cs typeface="Calibri" pitchFamily="34" charset="-120"/>
              </a:rPr>
              <a:t>Sport</a:t>
            </a:r>
            <a:endParaRPr lang="en-US" sz="1100" dirty="0"/>
          </a:p>
        </p:txBody>
      </p:sp>
      <p:sp>
        <p:nvSpPr>
          <p:cNvPr id="17" name="Shape 15"/>
          <p:cNvSpPr/>
          <p:nvPr/>
        </p:nvSpPr>
        <p:spPr>
          <a:xfrm>
            <a:off x="2194560" y="4018788"/>
            <a:ext cx="914400" cy="2016252"/>
          </a:xfrm>
          <a:prstGeom prst="rect">
            <a:avLst/>
          </a:prstGeom>
          <a:solidFill>
            <a:srgbClr val="3B82F6"/>
          </a:solidFill>
          <a:ln/>
        </p:spPr>
      </p:sp>
      <p:sp>
        <p:nvSpPr>
          <p:cNvPr id="18" name="Text 16"/>
          <p:cNvSpPr/>
          <p:nvPr/>
        </p:nvSpPr>
        <p:spPr>
          <a:xfrm>
            <a:off x="2103120" y="3653028"/>
            <a:ext cx="1097280" cy="274320"/>
          </a:xfrm>
          <a:prstGeom prst="rect">
            <a:avLst/>
          </a:prstGeom>
          <a:noFill/>
          <a:ln/>
        </p:spPr>
        <p:txBody>
          <a:bodyPr wrap="square" rtlCol="0" anchor="ctr"/>
          <a:lstStyle/>
          <a:p>
            <a:pPr algn="ctr" indent="0" marL="0">
              <a:buNone/>
            </a:pPr>
            <a:r>
              <a:rPr lang="en-US" sz="1400" b="1" dirty="0">
                <a:solidFill>
                  <a:srgbClr val="F5F7FA"/>
                </a:solidFill>
                <a:latin typeface="Georgia" pitchFamily="34" charset="0"/>
                <a:ea typeface="Georgia" pitchFamily="34" charset="-122"/>
                <a:cs typeface="Georgia" pitchFamily="34" charset="-120"/>
              </a:rPr>
              <a:t>14.7%</a:t>
            </a:r>
            <a:endParaRPr lang="en-US" sz="1400" dirty="0"/>
          </a:p>
        </p:txBody>
      </p:sp>
      <p:sp>
        <p:nvSpPr>
          <p:cNvPr id="19" name="Text 17"/>
          <p:cNvSpPr/>
          <p:nvPr/>
        </p:nvSpPr>
        <p:spPr>
          <a:xfrm>
            <a:off x="2103120" y="6080760"/>
            <a:ext cx="1097280" cy="274320"/>
          </a:xfrm>
          <a:prstGeom prst="rect">
            <a:avLst/>
          </a:prstGeom>
          <a:noFill/>
          <a:ln/>
        </p:spPr>
        <p:txBody>
          <a:bodyPr wrap="square" rtlCol="0" anchor="ctr"/>
          <a:lstStyle/>
          <a:p>
            <a:pPr algn="ctr" indent="0" marL="0">
              <a:buNone/>
            </a:pPr>
            <a:r>
              <a:rPr lang="en-US" sz="1100" dirty="0">
                <a:solidFill>
                  <a:srgbClr val="B8C2D4"/>
                </a:solidFill>
                <a:latin typeface="Calibri" pitchFamily="34" charset="0"/>
                <a:ea typeface="Calibri" pitchFamily="34" charset="-122"/>
                <a:cs typeface="Calibri" pitchFamily="34" charset="-120"/>
              </a:rPr>
              <a:t>News</a:t>
            </a:r>
            <a:endParaRPr lang="en-US" sz="1100" dirty="0"/>
          </a:p>
        </p:txBody>
      </p:sp>
      <p:sp>
        <p:nvSpPr>
          <p:cNvPr id="20" name="Shape 18"/>
          <p:cNvSpPr/>
          <p:nvPr/>
        </p:nvSpPr>
        <p:spPr>
          <a:xfrm>
            <a:off x="3520440" y="3291840"/>
            <a:ext cx="914400" cy="2743200"/>
          </a:xfrm>
          <a:prstGeom prst="rect">
            <a:avLst/>
          </a:prstGeom>
          <a:solidFill>
            <a:srgbClr val="E11D48"/>
          </a:solidFill>
          <a:ln/>
        </p:spPr>
      </p:sp>
      <p:sp>
        <p:nvSpPr>
          <p:cNvPr id="21" name="Text 19"/>
          <p:cNvSpPr/>
          <p:nvPr/>
        </p:nvSpPr>
        <p:spPr>
          <a:xfrm>
            <a:off x="3429000" y="2926080"/>
            <a:ext cx="1097280" cy="274320"/>
          </a:xfrm>
          <a:prstGeom prst="rect">
            <a:avLst/>
          </a:prstGeom>
          <a:noFill/>
          <a:ln/>
        </p:spPr>
        <p:txBody>
          <a:bodyPr wrap="square" rtlCol="0" anchor="ctr"/>
          <a:lstStyle/>
          <a:p>
            <a:pPr algn="ctr" indent="0" marL="0">
              <a:buNone/>
            </a:pPr>
            <a:r>
              <a:rPr lang="en-US" sz="1400" b="1" dirty="0">
                <a:solidFill>
                  <a:srgbClr val="F5F7FA"/>
                </a:solidFill>
                <a:latin typeface="Georgia" pitchFamily="34" charset="0"/>
                <a:ea typeface="Georgia" pitchFamily="34" charset="-122"/>
                <a:cs typeface="Georgia" pitchFamily="34" charset="-120"/>
              </a:rPr>
              <a:t>20%</a:t>
            </a:r>
            <a:endParaRPr lang="en-US" sz="1400" dirty="0"/>
          </a:p>
        </p:txBody>
      </p:sp>
      <p:sp>
        <p:nvSpPr>
          <p:cNvPr id="22" name="Text 20"/>
          <p:cNvSpPr/>
          <p:nvPr/>
        </p:nvSpPr>
        <p:spPr>
          <a:xfrm>
            <a:off x="3429000" y="6080760"/>
            <a:ext cx="1097280" cy="274320"/>
          </a:xfrm>
          <a:prstGeom prst="rect">
            <a:avLst/>
          </a:prstGeom>
          <a:noFill/>
          <a:ln/>
        </p:spPr>
        <p:txBody>
          <a:bodyPr wrap="square" rtlCol="0" anchor="ctr"/>
          <a:lstStyle/>
          <a:p>
            <a:pPr algn="ctr" indent="0" marL="0">
              <a:buNone/>
            </a:pPr>
            <a:r>
              <a:rPr lang="en-US" sz="1100" dirty="0">
                <a:solidFill>
                  <a:srgbClr val="B8C2D4"/>
                </a:solidFill>
                <a:latin typeface="Calibri" pitchFamily="34" charset="0"/>
                <a:ea typeface="Calibri" pitchFamily="34" charset="-122"/>
                <a:cs typeface="Calibri" pitchFamily="34" charset="-120"/>
              </a:rPr>
              <a:t>Movies</a:t>
            </a:r>
            <a:endParaRPr lang="en-US" sz="1100" dirty="0"/>
          </a:p>
        </p:txBody>
      </p:sp>
      <p:sp>
        <p:nvSpPr>
          <p:cNvPr id="23" name="Shape 21"/>
          <p:cNvSpPr/>
          <p:nvPr/>
        </p:nvSpPr>
        <p:spPr>
          <a:xfrm>
            <a:off x="4846320" y="3977640"/>
            <a:ext cx="914400" cy="2057400"/>
          </a:xfrm>
          <a:prstGeom prst="rect">
            <a:avLst/>
          </a:prstGeom>
          <a:solidFill>
            <a:srgbClr val="10B981"/>
          </a:solidFill>
          <a:ln/>
        </p:spPr>
      </p:sp>
      <p:sp>
        <p:nvSpPr>
          <p:cNvPr id="24" name="Text 22"/>
          <p:cNvSpPr/>
          <p:nvPr/>
        </p:nvSpPr>
        <p:spPr>
          <a:xfrm>
            <a:off x="4754880" y="3611880"/>
            <a:ext cx="1097280" cy="274320"/>
          </a:xfrm>
          <a:prstGeom prst="rect">
            <a:avLst/>
          </a:prstGeom>
          <a:noFill/>
          <a:ln/>
        </p:spPr>
        <p:txBody>
          <a:bodyPr wrap="square" rtlCol="0" anchor="ctr"/>
          <a:lstStyle/>
          <a:p>
            <a:pPr algn="ctr" indent="0" marL="0">
              <a:buNone/>
            </a:pPr>
            <a:r>
              <a:rPr lang="en-US" sz="1400" b="1" dirty="0">
                <a:solidFill>
                  <a:srgbClr val="F5F7FA"/>
                </a:solidFill>
                <a:latin typeface="Georgia" pitchFamily="34" charset="0"/>
                <a:ea typeface="Georgia" pitchFamily="34" charset="-122"/>
                <a:cs typeface="Georgia" pitchFamily="34" charset="-120"/>
              </a:rPr>
              <a:t>15%</a:t>
            </a:r>
            <a:endParaRPr lang="en-US" sz="1400" dirty="0"/>
          </a:p>
        </p:txBody>
      </p:sp>
      <p:sp>
        <p:nvSpPr>
          <p:cNvPr id="25" name="Text 23"/>
          <p:cNvSpPr/>
          <p:nvPr/>
        </p:nvSpPr>
        <p:spPr>
          <a:xfrm>
            <a:off x="4754880" y="6080760"/>
            <a:ext cx="1097280" cy="274320"/>
          </a:xfrm>
          <a:prstGeom prst="rect">
            <a:avLst/>
          </a:prstGeom>
          <a:noFill/>
          <a:ln/>
        </p:spPr>
        <p:txBody>
          <a:bodyPr wrap="square" rtlCol="0" anchor="ctr"/>
          <a:lstStyle/>
          <a:p>
            <a:pPr algn="ctr" indent="0" marL="0">
              <a:buNone/>
            </a:pPr>
            <a:r>
              <a:rPr lang="en-US" sz="1100" dirty="0">
                <a:solidFill>
                  <a:srgbClr val="B8C2D4"/>
                </a:solidFill>
                <a:latin typeface="Calibri" pitchFamily="34" charset="0"/>
                <a:ea typeface="Calibri" pitchFamily="34" charset="-122"/>
                <a:cs typeface="Calibri" pitchFamily="34" charset="-120"/>
              </a:rPr>
              <a:t>Family</a:t>
            </a:r>
            <a:endParaRPr lang="en-US" sz="1100" dirty="0"/>
          </a:p>
        </p:txBody>
      </p:sp>
      <p:sp>
        <p:nvSpPr>
          <p:cNvPr id="26" name="Shape 24"/>
          <p:cNvSpPr/>
          <p:nvPr/>
        </p:nvSpPr>
        <p:spPr>
          <a:xfrm>
            <a:off x="6172200" y="5335524"/>
            <a:ext cx="914400" cy="699516"/>
          </a:xfrm>
          <a:prstGeom prst="rect">
            <a:avLst/>
          </a:prstGeom>
          <a:solidFill>
            <a:srgbClr val="7A879F"/>
          </a:solidFill>
          <a:ln/>
        </p:spPr>
      </p:sp>
      <p:sp>
        <p:nvSpPr>
          <p:cNvPr id="27" name="Text 25"/>
          <p:cNvSpPr/>
          <p:nvPr/>
        </p:nvSpPr>
        <p:spPr>
          <a:xfrm>
            <a:off x="6080760" y="4969764"/>
            <a:ext cx="1097280" cy="274320"/>
          </a:xfrm>
          <a:prstGeom prst="rect">
            <a:avLst/>
          </a:prstGeom>
          <a:noFill/>
          <a:ln/>
        </p:spPr>
        <p:txBody>
          <a:bodyPr wrap="square" rtlCol="0" anchor="ctr"/>
          <a:lstStyle/>
          <a:p>
            <a:pPr algn="ctr" indent="0" marL="0">
              <a:buNone/>
            </a:pPr>
            <a:r>
              <a:rPr lang="en-US" sz="1400" b="1" dirty="0">
                <a:solidFill>
                  <a:srgbClr val="F5F7FA"/>
                </a:solidFill>
                <a:latin typeface="Georgia" pitchFamily="34" charset="0"/>
                <a:ea typeface="Georgia" pitchFamily="34" charset="-122"/>
                <a:cs typeface="Georgia" pitchFamily="34" charset="-120"/>
              </a:rPr>
              <a:t>5.1%</a:t>
            </a:r>
            <a:endParaRPr lang="en-US" sz="1400" dirty="0"/>
          </a:p>
        </p:txBody>
      </p:sp>
      <p:sp>
        <p:nvSpPr>
          <p:cNvPr id="28" name="Text 26"/>
          <p:cNvSpPr/>
          <p:nvPr/>
        </p:nvSpPr>
        <p:spPr>
          <a:xfrm>
            <a:off x="6080760" y="6080760"/>
            <a:ext cx="1097280" cy="274320"/>
          </a:xfrm>
          <a:prstGeom prst="rect">
            <a:avLst/>
          </a:prstGeom>
          <a:noFill/>
          <a:ln/>
        </p:spPr>
        <p:txBody>
          <a:bodyPr wrap="square" rtlCol="0" anchor="ctr"/>
          <a:lstStyle/>
          <a:p>
            <a:pPr algn="ctr" indent="0" marL="0">
              <a:buNone/>
            </a:pPr>
            <a:r>
              <a:rPr lang="en-US" sz="1100" dirty="0">
                <a:solidFill>
                  <a:srgbClr val="B8C2D4"/>
                </a:solidFill>
                <a:latin typeface="Calibri" pitchFamily="34" charset="0"/>
                <a:ea typeface="Calibri" pitchFamily="34" charset="-122"/>
                <a:cs typeface="Calibri" pitchFamily="34" charset="-120"/>
              </a:rPr>
              <a:t>Music</a:t>
            </a:r>
            <a:endParaRPr lang="en-US" sz="1100" dirty="0"/>
          </a:p>
        </p:txBody>
      </p:sp>
      <p:sp>
        <p:nvSpPr>
          <p:cNvPr id="29" name="Shape 27"/>
          <p:cNvSpPr/>
          <p:nvPr/>
        </p:nvSpPr>
        <p:spPr>
          <a:xfrm>
            <a:off x="640080" y="6035040"/>
            <a:ext cx="6949440" cy="0"/>
          </a:xfrm>
          <a:prstGeom prst="line">
            <a:avLst/>
          </a:prstGeom>
          <a:noFill/>
          <a:ln w="12700">
            <a:solidFill>
              <a:srgbClr val="2A3650"/>
            </a:solidFill>
            <a:prstDash val="solid"/>
          </a:ln>
        </p:spPr>
      </p:sp>
      <p:sp>
        <p:nvSpPr>
          <p:cNvPr id="30" name="Shape 28"/>
          <p:cNvSpPr/>
          <p:nvPr/>
        </p:nvSpPr>
        <p:spPr>
          <a:xfrm>
            <a:off x="8046720" y="2606040"/>
            <a:ext cx="3657600" cy="3840480"/>
          </a:xfrm>
          <a:prstGeom prst="rect">
            <a:avLst/>
          </a:prstGeom>
          <a:solidFill>
            <a:srgbClr val="1A2236"/>
          </a:solidFill>
          <a:ln w="9525">
            <a:solidFill>
              <a:srgbClr val="2A3650"/>
            </a:solidFill>
            <a:prstDash val="solid"/>
          </a:ln>
        </p:spPr>
      </p:sp>
      <p:sp>
        <p:nvSpPr>
          <p:cNvPr id="31" name="Shape 29"/>
          <p:cNvSpPr/>
          <p:nvPr/>
        </p:nvSpPr>
        <p:spPr>
          <a:xfrm>
            <a:off x="8046720" y="2606040"/>
            <a:ext cx="73152" cy="3840480"/>
          </a:xfrm>
          <a:prstGeom prst="rect">
            <a:avLst/>
          </a:prstGeom>
          <a:solidFill>
            <a:srgbClr val="F59E0B"/>
          </a:solidFill>
          <a:ln/>
        </p:spPr>
      </p:sp>
      <p:sp>
        <p:nvSpPr>
          <p:cNvPr id="32" name="Text 30"/>
          <p:cNvSpPr/>
          <p:nvPr/>
        </p:nvSpPr>
        <p:spPr>
          <a:xfrm>
            <a:off x="8275320" y="2743200"/>
            <a:ext cx="2743200" cy="274320"/>
          </a:xfrm>
          <a:prstGeom prst="rect">
            <a:avLst/>
          </a:prstGeom>
          <a:noFill/>
          <a:ln/>
        </p:spPr>
        <p:txBody>
          <a:bodyPr wrap="square" rtlCol="0" anchor="ctr"/>
          <a:lstStyle/>
          <a:p>
            <a:pPr indent="0" marL="0">
              <a:buNone/>
            </a:pPr>
            <a:r>
              <a:rPr lang="en-US" sz="1000" b="1" spc="400" kern="0" dirty="0">
                <a:solidFill>
                  <a:srgbClr val="F59E0B"/>
                </a:solidFill>
                <a:latin typeface="Consolas" pitchFamily="34" charset="0"/>
                <a:ea typeface="Consolas" pitchFamily="34" charset="-122"/>
                <a:cs typeface="Consolas" pitchFamily="34" charset="-120"/>
              </a:rPr>
              <a:t>KEY READS</a:t>
            </a:r>
            <a:endParaRPr lang="en-US" sz="1000" dirty="0"/>
          </a:p>
        </p:txBody>
      </p:sp>
      <p:sp>
        <p:nvSpPr>
          <p:cNvPr id="33" name="Text 31"/>
          <p:cNvSpPr/>
          <p:nvPr/>
        </p:nvSpPr>
        <p:spPr>
          <a:xfrm>
            <a:off x="8275320" y="3200400"/>
            <a:ext cx="3200400" cy="274320"/>
          </a:xfrm>
          <a:prstGeom prst="rect">
            <a:avLst/>
          </a:prstGeom>
          <a:noFill/>
          <a:ln/>
        </p:spPr>
        <p:txBody>
          <a:bodyPr wrap="square" rtlCol="0" anchor="ctr"/>
          <a:lstStyle/>
          <a:p>
            <a:pPr indent="0" marL="0">
              <a:buNone/>
            </a:pPr>
            <a:r>
              <a:rPr lang="en-US" sz="1400" b="1" dirty="0">
                <a:solidFill>
                  <a:srgbClr val="F5F7FA"/>
                </a:solidFill>
                <a:latin typeface="Georgia" pitchFamily="34" charset="0"/>
                <a:ea typeface="Georgia" pitchFamily="34" charset="-122"/>
                <a:cs typeface="Georgia" pitchFamily="34" charset="-120"/>
              </a:rPr>
              <a:t>Sport</a:t>
            </a:r>
            <a:endParaRPr lang="en-US" sz="1400" dirty="0"/>
          </a:p>
        </p:txBody>
      </p:sp>
      <p:sp>
        <p:nvSpPr>
          <p:cNvPr id="34" name="Text 32"/>
          <p:cNvSpPr/>
          <p:nvPr/>
        </p:nvSpPr>
        <p:spPr>
          <a:xfrm>
            <a:off x="8275320" y="3493008"/>
            <a:ext cx="3383280" cy="45720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16.4% — closest revenue lever.</a:t>
            </a:r>
            <a:endParaRPr lang="en-US" sz="1100" dirty="0"/>
          </a:p>
        </p:txBody>
      </p:sp>
      <p:sp>
        <p:nvSpPr>
          <p:cNvPr id="35" name="Text 33"/>
          <p:cNvSpPr/>
          <p:nvPr/>
        </p:nvSpPr>
        <p:spPr>
          <a:xfrm>
            <a:off x="8275320" y="3977640"/>
            <a:ext cx="3200400" cy="274320"/>
          </a:xfrm>
          <a:prstGeom prst="rect">
            <a:avLst/>
          </a:prstGeom>
          <a:noFill/>
          <a:ln/>
        </p:spPr>
        <p:txBody>
          <a:bodyPr wrap="square" rtlCol="0" anchor="ctr"/>
          <a:lstStyle/>
          <a:p>
            <a:pPr indent="0" marL="0">
              <a:buNone/>
            </a:pPr>
            <a:r>
              <a:rPr lang="en-US" sz="1400" b="1" dirty="0">
                <a:solidFill>
                  <a:srgbClr val="F5F7FA"/>
                </a:solidFill>
                <a:latin typeface="Georgia" pitchFamily="34" charset="0"/>
                <a:ea typeface="Georgia" pitchFamily="34" charset="-122"/>
                <a:cs typeface="Georgia" pitchFamily="34" charset="-120"/>
              </a:rPr>
              <a:t>Premium bundle</a:t>
            </a:r>
            <a:endParaRPr lang="en-US" sz="1400" dirty="0"/>
          </a:p>
        </p:txBody>
      </p:sp>
      <p:sp>
        <p:nvSpPr>
          <p:cNvPr id="36" name="Text 34"/>
          <p:cNvSpPr/>
          <p:nvPr/>
        </p:nvSpPr>
        <p:spPr>
          <a:xfrm>
            <a:off x="8275320" y="4270248"/>
            <a:ext cx="3383280" cy="45720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Highest enrichable surface.</a:t>
            </a:r>
            <a:endParaRPr lang="en-US" sz="1100" dirty="0"/>
          </a:p>
        </p:txBody>
      </p:sp>
      <p:sp>
        <p:nvSpPr>
          <p:cNvPr id="37" name="Text 35"/>
          <p:cNvSpPr/>
          <p:nvPr/>
        </p:nvSpPr>
        <p:spPr>
          <a:xfrm>
            <a:off x="8275320" y="4754880"/>
            <a:ext cx="3200400" cy="274320"/>
          </a:xfrm>
          <a:prstGeom prst="rect">
            <a:avLst/>
          </a:prstGeom>
          <a:noFill/>
          <a:ln/>
        </p:spPr>
        <p:txBody>
          <a:bodyPr wrap="square" rtlCol="0" anchor="ctr"/>
          <a:lstStyle/>
          <a:p>
            <a:pPr indent="0" marL="0">
              <a:buNone/>
            </a:pPr>
            <a:r>
              <a:rPr lang="en-US" sz="1400" b="1" dirty="0">
                <a:solidFill>
                  <a:srgbClr val="F5F7FA"/>
                </a:solidFill>
                <a:latin typeface="Georgia" pitchFamily="34" charset="0"/>
                <a:ea typeface="Georgia" pitchFamily="34" charset="-122"/>
                <a:cs typeface="Georgia" pitchFamily="34" charset="-120"/>
              </a:rPr>
              <a:t>News &amp; Family</a:t>
            </a:r>
            <a:endParaRPr lang="en-US" sz="1400" dirty="0"/>
          </a:p>
        </p:txBody>
      </p:sp>
      <p:sp>
        <p:nvSpPr>
          <p:cNvPr id="38" name="Text 36"/>
          <p:cNvSpPr/>
          <p:nvPr/>
        </p:nvSpPr>
        <p:spPr>
          <a:xfrm>
            <a:off x="8275320" y="5047488"/>
            <a:ext cx="3383280" cy="45720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Stable retention base.</a:t>
            </a:r>
            <a:endParaRPr lang="en-US" sz="1100" dirty="0"/>
          </a:p>
        </p:txBody>
      </p:sp>
      <p:sp>
        <p:nvSpPr>
          <p:cNvPr id="39" name="Text 37"/>
          <p:cNvSpPr/>
          <p:nvPr/>
        </p:nvSpPr>
        <p:spPr>
          <a:xfrm>
            <a:off x="8275320" y="5532120"/>
            <a:ext cx="3200400" cy="274320"/>
          </a:xfrm>
          <a:prstGeom prst="rect">
            <a:avLst/>
          </a:prstGeom>
          <a:noFill/>
          <a:ln/>
        </p:spPr>
        <p:txBody>
          <a:bodyPr wrap="square" rtlCol="0" anchor="ctr"/>
          <a:lstStyle/>
          <a:p>
            <a:pPr indent="0" marL="0">
              <a:buNone/>
            </a:pPr>
            <a:r>
              <a:rPr lang="en-US" sz="1400" b="1" dirty="0">
                <a:solidFill>
                  <a:srgbClr val="F5F7FA"/>
                </a:solidFill>
                <a:latin typeface="Georgia" pitchFamily="34" charset="0"/>
                <a:ea typeface="Georgia" pitchFamily="34" charset="-122"/>
                <a:cs typeface="Georgia" pitchFamily="34" charset="-120"/>
              </a:rPr>
              <a:t>Music</a:t>
            </a:r>
            <a:endParaRPr lang="en-US" sz="1400" dirty="0"/>
          </a:p>
        </p:txBody>
      </p:sp>
      <p:sp>
        <p:nvSpPr>
          <p:cNvPr id="40" name="Text 38"/>
          <p:cNvSpPr/>
          <p:nvPr/>
        </p:nvSpPr>
        <p:spPr>
          <a:xfrm>
            <a:off x="8275320" y="5824728"/>
            <a:ext cx="3383280" cy="45720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5.1% — deprioritise spend.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9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03</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AUDIENCE &amp; VIEWERSHIP</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Viewership by time of day.</a:t>
            </a:r>
            <a:endParaRPr lang="en-US" sz="3600" dirty="0"/>
          </a:p>
        </p:txBody>
      </p:sp>
      <p:sp>
        <p:nvSpPr>
          <p:cNvPr id="11" name="Text 9"/>
          <p:cNvSpPr/>
          <p:nvPr/>
        </p:nvSpPr>
        <p:spPr>
          <a:xfrm>
            <a:off x="457200" y="1783080"/>
            <a:ext cx="10972800" cy="365760"/>
          </a:xfrm>
          <a:prstGeom prst="rect">
            <a:avLst/>
          </a:prstGeom>
          <a:noFill/>
          <a:ln/>
        </p:spPr>
        <p:txBody>
          <a:bodyPr wrap="square" rtlCol="0" anchor="ctr"/>
          <a:lstStyle/>
          <a:p>
            <a:pPr indent="0" marL="0">
              <a:buNone/>
            </a:pPr>
            <a:r>
              <a:rPr lang="en-US" sz="1400" i="1" dirty="0">
                <a:solidFill>
                  <a:srgbClr val="B8C2D4"/>
                </a:solidFill>
                <a:latin typeface="Calibri" pitchFamily="34" charset="0"/>
                <a:ea typeface="Calibri" pitchFamily="34" charset="-122"/>
                <a:cs typeface="Calibri" pitchFamily="34" charset="-120"/>
              </a:rPr>
              <a:t>Where the audience lives across the broadcast clock.</a:t>
            </a:r>
            <a:endParaRPr lang="en-US" sz="1400" dirty="0"/>
          </a:p>
        </p:txBody>
      </p:sp>
      <p:sp>
        <p:nvSpPr>
          <p:cNvPr id="12" name="Shape 10"/>
          <p:cNvSpPr/>
          <p:nvPr/>
        </p:nvSpPr>
        <p:spPr>
          <a:xfrm>
            <a:off x="457200" y="2423160"/>
            <a:ext cx="11247120" cy="822960"/>
          </a:xfrm>
          <a:prstGeom prst="rect">
            <a:avLst/>
          </a:prstGeom>
          <a:solidFill>
            <a:srgbClr val="1A2236"/>
          </a:solidFill>
          <a:ln w="9525">
            <a:solidFill>
              <a:srgbClr val="2A3650"/>
            </a:solidFill>
            <a:prstDash val="solid"/>
          </a:ln>
        </p:spPr>
      </p:sp>
      <p:sp>
        <p:nvSpPr>
          <p:cNvPr id="13" name="Shape 11"/>
          <p:cNvSpPr/>
          <p:nvPr/>
        </p:nvSpPr>
        <p:spPr>
          <a:xfrm>
            <a:off x="457200" y="2423160"/>
            <a:ext cx="109728" cy="822960"/>
          </a:xfrm>
          <a:prstGeom prst="rect">
            <a:avLst/>
          </a:prstGeom>
          <a:solidFill>
            <a:srgbClr val="E11D48"/>
          </a:solidFill>
          <a:ln/>
        </p:spPr>
      </p:sp>
      <p:sp>
        <p:nvSpPr>
          <p:cNvPr id="14" name="Text 12"/>
          <p:cNvSpPr/>
          <p:nvPr/>
        </p:nvSpPr>
        <p:spPr>
          <a:xfrm>
            <a:off x="777240" y="2514600"/>
            <a:ext cx="2286000" cy="320040"/>
          </a:xfrm>
          <a:prstGeom prst="rect">
            <a:avLst/>
          </a:prstGeom>
          <a:noFill/>
          <a:ln/>
        </p:spPr>
        <p:txBody>
          <a:bodyPr wrap="square" rtlCol="0" anchor="ctr"/>
          <a:lstStyle/>
          <a:p>
            <a:pPr indent="0" marL="0">
              <a:buNone/>
            </a:pPr>
            <a:r>
              <a:rPr lang="en-US" sz="1200" b="1" spc="400" kern="0" dirty="0">
                <a:solidFill>
                  <a:srgbClr val="E11D48"/>
                </a:solidFill>
                <a:latin typeface="Consolas" pitchFamily="34" charset="0"/>
                <a:ea typeface="Consolas" pitchFamily="34" charset="-122"/>
                <a:cs typeface="Consolas" pitchFamily="34" charset="-120"/>
              </a:rPr>
              <a:t>PRIME TIME</a:t>
            </a:r>
            <a:endParaRPr lang="en-US" sz="1200" dirty="0"/>
          </a:p>
        </p:txBody>
      </p:sp>
      <p:sp>
        <p:nvSpPr>
          <p:cNvPr id="15" name="Text 13"/>
          <p:cNvSpPr/>
          <p:nvPr/>
        </p:nvSpPr>
        <p:spPr>
          <a:xfrm>
            <a:off x="777240" y="2834640"/>
            <a:ext cx="2286000" cy="32004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5PM – 9PM</a:t>
            </a:r>
            <a:endParaRPr lang="en-US" sz="1200" dirty="0"/>
          </a:p>
        </p:txBody>
      </p:sp>
      <p:sp>
        <p:nvSpPr>
          <p:cNvPr id="16" name="Shape 14"/>
          <p:cNvSpPr/>
          <p:nvPr/>
        </p:nvSpPr>
        <p:spPr>
          <a:xfrm>
            <a:off x="3657600" y="2743200"/>
            <a:ext cx="5943600" cy="182880"/>
          </a:xfrm>
          <a:prstGeom prst="rect">
            <a:avLst/>
          </a:prstGeom>
          <a:solidFill>
            <a:srgbClr val="111827"/>
          </a:solidFill>
          <a:ln/>
        </p:spPr>
      </p:sp>
      <p:sp>
        <p:nvSpPr>
          <p:cNvPr id="17" name="Shape 15"/>
          <p:cNvSpPr/>
          <p:nvPr/>
        </p:nvSpPr>
        <p:spPr>
          <a:xfrm>
            <a:off x="3657600" y="2743200"/>
            <a:ext cx="5315277" cy="182880"/>
          </a:xfrm>
          <a:prstGeom prst="rect">
            <a:avLst/>
          </a:prstGeom>
          <a:solidFill>
            <a:srgbClr val="E11D48"/>
          </a:solidFill>
          <a:ln/>
        </p:spPr>
      </p:sp>
      <p:sp>
        <p:nvSpPr>
          <p:cNvPr id="18" name="Text 16"/>
          <p:cNvSpPr/>
          <p:nvPr/>
        </p:nvSpPr>
        <p:spPr>
          <a:xfrm>
            <a:off x="10241280" y="2560320"/>
            <a:ext cx="1280160" cy="548640"/>
          </a:xfrm>
          <a:prstGeom prst="rect">
            <a:avLst/>
          </a:prstGeom>
          <a:noFill/>
          <a:ln/>
        </p:spPr>
        <p:txBody>
          <a:bodyPr wrap="square" rtlCol="0" anchor="ctr"/>
          <a:lstStyle/>
          <a:p>
            <a:pPr algn="r" indent="0" marL="0">
              <a:buNone/>
            </a:pPr>
            <a:r>
              <a:rPr lang="en-US" sz="2800" b="1" dirty="0">
                <a:solidFill>
                  <a:srgbClr val="F5F7FA"/>
                </a:solidFill>
                <a:latin typeface="Georgia" pitchFamily="34" charset="0"/>
                <a:ea typeface="Georgia" pitchFamily="34" charset="-122"/>
                <a:cs typeface="Georgia" pitchFamily="34" charset="-120"/>
              </a:rPr>
              <a:t>31.3%</a:t>
            </a:r>
            <a:endParaRPr lang="en-US" sz="2800" dirty="0"/>
          </a:p>
        </p:txBody>
      </p:sp>
      <p:sp>
        <p:nvSpPr>
          <p:cNvPr id="19" name="Shape 17"/>
          <p:cNvSpPr/>
          <p:nvPr/>
        </p:nvSpPr>
        <p:spPr>
          <a:xfrm>
            <a:off x="457200" y="3383280"/>
            <a:ext cx="11247120" cy="822960"/>
          </a:xfrm>
          <a:prstGeom prst="rect">
            <a:avLst/>
          </a:prstGeom>
          <a:solidFill>
            <a:srgbClr val="1A2236"/>
          </a:solidFill>
          <a:ln w="9525">
            <a:solidFill>
              <a:srgbClr val="2A3650"/>
            </a:solidFill>
            <a:prstDash val="solid"/>
          </a:ln>
        </p:spPr>
      </p:sp>
      <p:sp>
        <p:nvSpPr>
          <p:cNvPr id="20" name="Shape 18"/>
          <p:cNvSpPr/>
          <p:nvPr/>
        </p:nvSpPr>
        <p:spPr>
          <a:xfrm>
            <a:off x="457200" y="3383280"/>
            <a:ext cx="109728" cy="822960"/>
          </a:xfrm>
          <a:prstGeom prst="rect">
            <a:avLst/>
          </a:prstGeom>
          <a:solidFill>
            <a:srgbClr val="F59E0B"/>
          </a:solidFill>
          <a:ln/>
        </p:spPr>
      </p:sp>
      <p:sp>
        <p:nvSpPr>
          <p:cNvPr id="21" name="Text 19"/>
          <p:cNvSpPr/>
          <p:nvPr/>
        </p:nvSpPr>
        <p:spPr>
          <a:xfrm>
            <a:off x="777240" y="3474720"/>
            <a:ext cx="2286000" cy="320040"/>
          </a:xfrm>
          <a:prstGeom prst="rect">
            <a:avLst/>
          </a:prstGeom>
          <a:noFill/>
          <a:ln/>
        </p:spPr>
        <p:txBody>
          <a:bodyPr wrap="square" rtlCol="0" anchor="ctr"/>
          <a:lstStyle/>
          <a:p>
            <a:pPr indent="0" marL="0">
              <a:buNone/>
            </a:pPr>
            <a:r>
              <a:rPr lang="en-US" sz="1200" b="1" spc="400" kern="0" dirty="0">
                <a:solidFill>
                  <a:srgbClr val="F59E0B"/>
                </a:solidFill>
                <a:latin typeface="Consolas" pitchFamily="34" charset="0"/>
                <a:ea typeface="Consolas" pitchFamily="34" charset="-122"/>
                <a:cs typeface="Consolas" pitchFamily="34" charset="-120"/>
              </a:rPr>
              <a:t>AFTERNOON</a:t>
            </a:r>
            <a:endParaRPr lang="en-US" sz="1200" dirty="0"/>
          </a:p>
        </p:txBody>
      </p:sp>
      <p:sp>
        <p:nvSpPr>
          <p:cNvPr id="22" name="Text 20"/>
          <p:cNvSpPr/>
          <p:nvPr/>
        </p:nvSpPr>
        <p:spPr>
          <a:xfrm>
            <a:off x="777240" y="3794760"/>
            <a:ext cx="2286000" cy="32004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12PM – 4PM</a:t>
            </a:r>
            <a:endParaRPr lang="en-US" sz="1200" dirty="0"/>
          </a:p>
        </p:txBody>
      </p:sp>
      <p:sp>
        <p:nvSpPr>
          <p:cNvPr id="23" name="Shape 21"/>
          <p:cNvSpPr/>
          <p:nvPr/>
        </p:nvSpPr>
        <p:spPr>
          <a:xfrm>
            <a:off x="3657600" y="3703320"/>
            <a:ext cx="5943600" cy="182880"/>
          </a:xfrm>
          <a:prstGeom prst="rect">
            <a:avLst/>
          </a:prstGeom>
          <a:solidFill>
            <a:srgbClr val="111827"/>
          </a:solidFill>
          <a:ln/>
        </p:spPr>
      </p:sp>
      <p:sp>
        <p:nvSpPr>
          <p:cNvPr id="24" name="Shape 22"/>
          <p:cNvSpPr/>
          <p:nvPr/>
        </p:nvSpPr>
        <p:spPr>
          <a:xfrm>
            <a:off x="3657600" y="3703320"/>
            <a:ext cx="5247350" cy="182880"/>
          </a:xfrm>
          <a:prstGeom prst="rect">
            <a:avLst/>
          </a:prstGeom>
          <a:solidFill>
            <a:srgbClr val="F59E0B"/>
          </a:solidFill>
          <a:ln/>
        </p:spPr>
      </p:sp>
      <p:sp>
        <p:nvSpPr>
          <p:cNvPr id="25" name="Text 23"/>
          <p:cNvSpPr/>
          <p:nvPr/>
        </p:nvSpPr>
        <p:spPr>
          <a:xfrm>
            <a:off x="10241280" y="3520440"/>
            <a:ext cx="1280160" cy="548640"/>
          </a:xfrm>
          <a:prstGeom prst="rect">
            <a:avLst/>
          </a:prstGeom>
          <a:noFill/>
          <a:ln/>
        </p:spPr>
        <p:txBody>
          <a:bodyPr wrap="square" rtlCol="0" anchor="ctr"/>
          <a:lstStyle/>
          <a:p>
            <a:pPr algn="r" indent="0" marL="0">
              <a:buNone/>
            </a:pPr>
            <a:r>
              <a:rPr lang="en-US" sz="2800" b="1" dirty="0">
                <a:solidFill>
                  <a:srgbClr val="F5F7FA"/>
                </a:solidFill>
                <a:latin typeface="Georgia" pitchFamily="34" charset="0"/>
                <a:ea typeface="Georgia" pitchFamily="34" charset="-122"/>
                <a:cs typeface="Georgia" pitchFamily="34" charset="-120"/>
              </a:rPr>
              <a:t>30.9%</a:t>
            </a:r>
            <a:endParaRPr lang="en-US" sz="2800" dirty="0"/>
          </a:p>
        </p:txBody>
      </p:sp>
      <p:sp>
        <p:nvSpPr>
          <p:cNvPr id="26" name="Shape 24"/>
          <p:cNvSpPr/>
          <p:nvPr/>
        </p:nvSpPr>
        <p:spPr>
          <a:xfrm>
            <a:off x="457200" y="4343400"/>
            <a:ext cx="11247120" cy="822960"/>
          </a:xfrm>
          <a:prstGeom prst="rect">
            <a:avLst/>
          </a:prstGeom>
          <a:solidFill>
            <a:srgbClr val="1A2236"/>
          </a:solidFill>
          <a:ln w="9525">
            <a:solidFill>
              <a:srgbClr val="2A3650"/>
            </a:solidFill>
            <a:prstDash val="solid"/>
          </a:ln>
        </p:spPr>
      </p:sp>
      <p:sp>
        <p:nvSpPr>
          <p:cNvPr id="27" name="Shape 25"/>
          <p:cNvSpPr/>
          <p:nvPr/>
        </p:nvSpPr>
        <p:spPr>
          <a:xfrm>
            <a:off x="457200" y="4343400"/>
            <a:ext cx="109728" cy="822960"/>
          </a:xfrm>
          <a:prstGeom prst="rect">
            <a:avLst/>
          </a:prstGeom>
          <a:solidFill>
            <a:srgbClr val="3B82F6"/>
          </a:solidFill>
          <a:ln/>
        </p:spPr>
      </p:sp>
      <p:sp>
        <p:nvSpPr>
          <p:cNvPr id="28" name="Text 26"/>
          <p:cNvSpPr/>
          <p:nvPr/>
        </p:nvSpPr>
        <p:spPr>
          <a:xfrm>
            <a:off x="777240" y="4434840"/>
            <a:ext cx="2286000" cy="320040"/>
          </a:xfrm>
          <a:prstGeom prst="rect">
            <a:avLst/>
          </a:prstGeom>
          <a:noFill/>
          <a:ln/>
        </p:spPr>
        <p:txBody>
          <a:bodyPr wrap="square" rtlCol="0" anchor="ctr"/>
          <a:lstStyle/>
          <a:p>
            <a:pPr indent="0" marL="0">
              <a:buNone/>
            </a:pPr>
            <a:r>
              <a:rPr lang="en-US" sz="1200" b="1" spc="400" kern="0" dirty="0">
                <a:solidFill>
                  <a:srgbClr val="3B82F6"/>
                </a:solidFill>
                <a:latin typeface="Consolas" pitchFamily="34" charset="0"/>
                <a:ea typeface="Consolas" pitchFamily="34" charset="-122"/>
                <a:cs typeface="Consolas" pitchFamily="34" charset="-120"/>
              </a:rPr>
              <a:t>MORNING</a:t>
            </a:r>
            <a:endParaRPr lang="en-US" sz="1200" dirty="0"/>
          </a:p>
        </p:txBody>
      </p:sp>
      <p:sp>
        <p:nvSpPr>
          <p:cNvPr id="29" name="Text 27"/>
          <p:cNvSpPr/>
          <p:nvPr/>
        </p:nvSpPr>
        <p:spPr>
          <a:xfrm>
            <a:off x="777240" y="4754880"/>
            <a:ext cx="2286000" cy="32004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5AM – 11AM</a:t>
            </a:r>
            <a:endParaRPr lang="en-US" sz="1200" dirty="0"/>
          </a:p>
        </p:txBody>
      </p:sp>
      <p:sp>
        <p:nvSpPr>
          <p:cNvPr id="30" name="Shape 28"/>
          <p:cNvSpPr/>
          <p:nvPr/>
        </p:nvSpPr>
        <p:spPr>
          <a:xfrm>
            <a:off x="3657600" y="4663440"/>
            <a:ext cx="5943600" cy="182880"/>
          </a:xfrm>
          <a:prstGeom prst="rect">
            <a:avLst/>
          </a:prstGeom>
          <a:solidFill>
            <a:srgbClr val="111827"/>
          </a:solidFill>
          <a:ln/>
        </p:spPr>
      </p:sp>
      <p:sp>
        <p:nvSpPr>
          <p:cNvPr id="31" name="Shape 29"/>
          <p:cNvSpPr/>
          <p:nvPr/>
        </p:nvSpPr>
        <p:spPr>
          <a:xfrm>
            <a:off x="3657600" y="4663440"/>
            <a:ext cx="4177502" cy="182880"/>
          </a:xfrm>
          <a:prstGeom prst="rect">
            <a:avLst/>
          </a:prstGeom>
          <a:solidFill>
            <a:srgbClr val="3B82F6"/>
          </a:solidFill>
          <a:ln/>
        </p:spPr>
      </p:sp>
      <p:sp>
        <p:nvSpPr>
          <p:cNvPr id="32" name="Text 30"/>
          <p:cNvSpPr/>
          <p:nvPr/>
        </p:nvSpPr>
        <p:spPr>
          <a:xfrm>
            <a:off x="10241280" y="4480560"/>
            <a:ext cx="1280160" cy="548640"/>
          </a:xfrm>
          <a:prstGeom prst="rect">
            <a:avLst/>
          </a:prstGeom>
          <a:noFill/>
          <a:ln/>
        </p:spPr>
        <p:txBody>
          <a:bodyPr wrap="square" rtlCol="0" anchor="ctr"/>
          <a:lstStyle/>
          <a:p>
            <a:pPr algn="r" indent="0" marL="0">
              <a:buNone/>
            </a:pPr>
            <a:r>
              <a:rPr lang="en-US" sz="2800" b="1" dirty="0">
                <a:solidFill>
                  <a:srgbClr val="F5F7FA"/>
                </a:solidFill>
                <a:latin typeface="Georgia" pitchFamily="34" charset="0"/>
                <a:ea typeface="Georgia" pitchFamily="34" charset="-122"/>
                <a:cs typeface="Georgia" pitchFamily="34" charset="-120"/>
              </a:rPr>
              <a:t>24.6%</a:t>
            </a:r>
            <a:endParaRPr lang="en-US" sz="2800" dirty="0"/>
          </a:p>
        </p:txBody>
      </p:sp>
      <p:sp>
        <p:nvSpPr>
          <p:cNvPr id="33" name="Shape 31"/>
          <p:cNvSpPr/>
          <p:nvPr/>
        </p:nvSpPr>
        <p:spPr>
          <a:xfrm>
            <a:off x="457200" y="5303520"/>
            <a:ext cx="11247120" cy="822960"/>
          </a:xfrm>
          <a:prstGeom prst="rect">
            <a:avLst/>
          </a:prstGeom>
          <a:solidFill>
            <a:srgbClr val="1A2236"/>
          </a:solidFill>
          <a:ln w="9525">
            <a:solidFill>
              <a:srgbClr val="2A3650"/>
            </a:solidFill>
            <a:prstDash val="solid"/>
          </a:ln>
        </p:spPr>
      </p:sp>
      <p:sp>
        <p:nvSpPr>
          <p:cNvPr id="34" name="Shape 32"/>
          <p:cNvSpPr/>
          <p:nvPr/>
        </p:nvSpPr>
        <p:spPr>
          <a:xfrm>
            <a:off x="457200" y="5303520"/>
            <a:ext cx="109728" cy="822960"/>
          </a:xfrm>
          <a:prstGeom prst="rect">
            <a:avLst/>
          </a:prstGeom>
          <a:solidFill>
            <a:srgbClr val="7A879F"/>
          </a:solidFill>
          <a:ln/>
        </p:spPr>
      </p:sp>
      <p:sp>
        <p:nvSpPr>
          <p:cNvPr id="35" name="Text 33"/>
          <p:cNvSpPr/>
          <p:nvPr/>
        </p:nvSpPr>
        <p:spPr>
          <a:xfrm>
            <a:off x="777240" y="5394960"/>
            <a:ext cx="2286000" cy="320040"/>
          </a:xfrm>
          <a:prstGeom prst="rect">
            <a:avLst/>
          </a:prstGeom>
          <a:noFill/>
          <a:ln/>
        </p:spPr>
        <p:txBody>
          <a:bodyPr wrap="square" rtlCol="0" anchor="ctr"/>
          <a:lstStyle/>
          <a:p>
            <a:pPr indent="0" marL="0">
              <a:buNone/>
            </a:pPr>
            <a:r>
              <a:rPr lang="en-US" sz="1200" b="1" spc="400" kern="0" dirty="0">
                <a:solidFill>
                  <a:srgbClr val="7A879F"/>
                </a:solidFill>
                <a:latin typeface="Consolas" pitchFamily="34" charset="0"/>
                <a:ea typeface="Consolas" pitchFamily="34" charset="-122"/>
                <a:cs typeface="Consolas" pitchFamily="34" charset="-120"/>
              </a:rPr>
              <a:t>LATE NIGHT</a:t>
            </a:r>
            <a:endParaRPr lang="en-US" sz="1200" dirty="0"/>
          </a:p>
        </p:txBody>
      </p:sp>
      <p:sp>
        <p:nvSpPr>
          <p:cNvPr id="36" name="Text 34"/>
          <p:cNvSpPr/>
          <p:nvPr/>
        </p:nvSpPr>
        <p:spPr>
          <a:xfrm>
            <a:off x="777240" y="5715000"/>
            <a:ext cx="2286000" cy="32004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10PM – 4AM</a:t>
            </a:r>
            <a:endParaRPr lang="en-US" sz="1200" dirty="0"/>
          </a:p>
        </p:txBody>
      </p:sp>
      <p:sp>
        <p:nvSpPr>
          <p:cNvPr id="37" name="Shape 35"/>
          <p:cNvSpPr/>
          <p:nvPr/>
        </p:nvSpPr>
        <p:spPr>
          <a:xfrm>
            <a:off x="3657600" y="5623560"/>
            <a:ext cx="5943600" cy="182880"/>
          </a:xfrm>
          <a:prstGeom prst="rect">
            <a:avLst/>
          </a:prstGeom>
          <a:solidFill>
            <a:srgbClr val="111827"/>
          </a:solidFill>
          <a:ln/>
        </p:spPr>
      </p:sp>
      <p:sp>
        <p:nvSpPr>
          <p:cNvPr id="38" name="Shape 36"/>
          <p:cNvSpPr/>
          <p:nvPr/>
        </p:nvSpPr>
        <p:spPr>
          <a:xfrm>
            <a:off x="3657600" y="5623560"/>
            <a:ext cx="2258568" cy="182880"/>
          </a:xfrm>
          <a:prstGeom prst="rect">
            <a:avLst/>
          </a:prstGeom>
          <a:solidFill>
            <a:srgbClr val="7A879F"/>
          </a:solidFill>
          <a:ln/>
        </p:spPr>
      </p:sp>
      <p:sp>
        <p:nvSpPr>
          <p:cNvPr id="39" name="Text 37"/>
          <p:cNvSpPr/>
          <p:nvPr/>
        </p:nvSpPr>
        <p:spPr>
          <a:xfrm>
            <a:off x="10241280" y="5440680"/>
            <a:ext cx="1280160" cy="548640"/>
          </a:xfrm>
          <a:prstGeom prst="rect">
            <a:avLst/>
          </a:prstGeom>
          <a:noFill/>
          <a:ln/>
        </p:spPr>
        <p:txBody>
          <a:bodyPr wrap="square" rtlCol="0" anchor="ctr"/>
          <a:lstStyle/>
          <a:p>
            <a:pPr algn="r" indent="0" marL="0">
              <a:buNone/>
            </a:pPr>
            <a:r>
              <a:rPr lang="en-US" sz="2800" b="1" dirty="0">
                <a:solidFill>
                  <a:srgbClr val="F5F7FA"/>
                </a:solidFill>
                <a:latin typeface="Georgia" pitchFamily="34" charset="0"/>
                <a:ea typeface="Georgia" pitchFamily="34" charset="-122"/>
                <a:cs typeface="Georgia" pitchFamily="34" charset="-120"/>
              </a:rPr>
              <a:t>13.3%</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10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03</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AUDIENCE &amp; VIEWERSHIP</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Daytime owns nearly two‑thirds of viewing.</a:t>
            </a:r>
            <a:endParaRPr lang="en-US" sz="3600" dirty="0"/>
          </a:p>
        </p:txBody>
      </p:sp>
      <p:sp>
        <p:nvSpPr>
          <p:cNvPr id="11" name="Text 9"/>
          <p:cNvSpPr/>
          <p:nvPr/>
        </p:nvSpPr>
        <p:spPr>
          <a:xfrm>
            <a:off x="457200" y="1920240"/>
            <a:ext cx="5029200" cy="2194560"/>
          </a:xfrm>
          <a:prstGeom prst="rect">
            <a:avLst/>
          </a:prstGeom>
          <a:noFill/>
          <a:ln/>
        </p:spPr>
        <p:txBody>
          <a:bodyPr wrap="square" rtlCol="0" anchor="ctr"/>
          <a:lstStyle/>
          <a:p>
            <a:pPr indent="0" marL="0">
              <a:buNone/>
            </a:pPr>
            <a:r>
              <a:rPr lang="en-US" sz="11000" b="1" dirty="0">
                <a:solidFill>
                  <a:srgbClr val="F59E0B"/>
                </a:solidFill>
                <a:latin typeface="Georgia" pitchFamily="34" charset="0"/>
                <a:ea typeface="Georgia" pitchFamily="34" charset="-122"/>
                <a:cs typeface="Georgia" pitchFamily="34" charset="-120"/>
              </a:rPr>
              <a:t>62%</a:t>
            </a:r>
            <a:endParaRPr lang="en-US" sz="11000" dirty="0"/>
          </a:p>
        </p:txBody>
      </p:sp>
      <p:sp>
        <p:nvSpPr>
          <p:cNvPr id="12" name="Text 10"/>
          <p:cNvSpPr/>
          <p:nvPr/>
        </p:nvSpPr>
        <p:spPr>
          <a:xfrm>
            <a:off x="457200" y="4160520"/>
            <a:ext cx="5212080" cy="457200"/>
          </a:xfrm>
          <a:prstGeom prst="rect">
            <a:avLst/>
          </a:prstGeom>
          <a:noFill/>
          <a:ln/>
        </p:spPr>
        <p:txBody>
          <a:bodyPr wrap="square" rtlCol="0" anchor="ctr"/>
          <a:lstStyle/>
          <a:p>
            <a:pPr indent="0" marL="0">
              <a:buNone/>
            </a:pPr>
            <a:r>
              <a:rPr lang="en-US" sz="1600" i="1" dirty="0">
                <a:solidFill>
                  <a:srgbClr val="F5F7FA"/>
                </a:solidFill>
                <a:latin typeface="Georgia" pitchFamily="34" charset="0"/>
                <a:ea typeface="Georgia" pitchFamily="34" charset="-122"/>
                <a:cs typeface="Georgia" pitchFamily="34" charset="-120"/>
              </a:rPr>
              <a:t>of all viewing happens between 12PM and 9PM.</a:t>
            </a:r>
            <a:endParaRPr lang="en-US" sz="1600" dirty="0"/>
          </a:p>
        </p:txBody>
      </p:sp>
      <p:sp>
        <p:nvSpPr>
          <p:cNvPr id="13" name="Shape 11"/>
          <p:cNvSpPr/>
          <p:nvPr/>
        </p:nvSpPr>
        <p:spPr>
          <a:xfrm>
            <a:off x="5943600" y="1828800"/>
            <a:ext cx="5760720" cy="4572000"/>
          </a:xfrm>
          <a:prstGeom prst="rect">
            <a:avLst/>
          </a:prstGeom>
          <a:solidFill>
            <a:srgbClr val="1A2236"/>
          </a:solidFill>
          <a:ln w="9525">
            <a:solidFill>
              <a:srgbClr val="2A3650"/>
            </a:solidFill>
            <a:prstDash val="solid"/>
          </a:ln>
        </p:spPr>
      </p:sp>
      <p:sp>
        <p:nvSpPr>
          <p:cNvPr id="14" name="Shape 12"/>
          <p:cNvSpPr/>
          <p:nvPr/>
        </p:nvSpPr>
        <p:spPr>
          <a:xfrm>
            <a:off x="5943600" y="1828800"/>
            <a:ext cx="73152" cy="4572000"/>
          </a:xfrm>
          <a:prstGeom prst="rect">
            <a:avLst/>
          </a:prstGeom>
          <a:solidFill>
            <a:srgbClr val="F59E0B"/>
          </a:solidFill>
          <a:ln/>
        </p:spPr>
      </p:sp>
      <p:sp>
        <p:nvSpPr>
          <p:cNvPr id="15" name="Text 13"/>
          <p:cNvSpPr/>
          <p:nvPr/>
        </p:nvSpPr>
        <p:spPr>
          <a:xfrm>
            <a:off x="6172200" y="1965960"/>
            <a:ext cx="1828800" cy="274320"/>
          </a:xfrm>
          <a:prstGeom prst="rect">
            <a:avLst/>
          </a:prstGeom>
          <a:noFill/>
          <a:ln/>
        </p:spPr>
        <p:txBody>
          <a:bodyPr wrap="square" rtlCol="0" anchor="ctr"/>
          <a:lstStyle/>
          <a:p>
            <a:pPr indent="0" marL="0">
              <a:buNone/>
            </a:pPr>
            <a:r>
              <a:rPr lang="en-US" sz="1000" b="1" spc="400" kern="0" dirty="0">
                <a:solidFill>
                  <a:srgbClr val="F59E0B"/>
                </a:solidFill>
                <a:latin typeface="Consolas" pitchFamily="34" charset="0"/>
                <a:ea typeface="Consolas" pitchFamily="34" charset="-122"/>
                <a:cs typeface="Consolas" pitchFamily="34" charset="-120"/>
              </a:rPr>
              <a:t>READ</a:t>
            </a:r>
            <a:endParaRPr lang="en-US" sz="1000" dirty="0"/>
          </a:p>
        </p:txBody>
      </p:sp>
      <p:sp>
        <p:nvSpPr>
          <p:cNvPr id="16" name="Text 14"/>
          <p:cNvSpPr/>
          <p:nvPr/>
        </p:nvSpPr>
        <p:spPr>
          <a:xfrm>
            <a:off x="6172200" y="2331720"/>
            <a:ext cx="5394960" cy="1188720"/>
          </a:xfrm>
          <a:prstGeom prst="rect">
            <a:avLst/>
          </a:prstGeom>
          <a:noFill/>
          <a:ln/>
        </p:spPr>
        <p:txBody>
          <a:bodyPr wrap="square" rtlCol="0" anchor="ctr"/>
          <a:lstStyle/>
          <a:p>
            <a:pPr indent="0" marL="0">
              <a:buNone/>
            </a:pPr>
            <a:r>
              <a:rPr lang="en-US" sz="1300" dirty="0">
                <a:solidFill>
                  <a:srgbClr val="B8C2D4"/>
                </a:solidFill>
                <a:latin typeface="Calibri" pitchFamily="34" charset="0"/>
                <a:ea typeface="Calibri" pitchFamily="34" charset="-122"/>
                <a:cs typeface="Calibri" pitchFamily="34" charset="-120"/>
              </a:rPr>
              <a:t>Prime Time (5PM‑9PM) is the most valuable window — the natural home for flagship programming, live sport, and premium ad inventory.</a:t>
            </a:r>
            <a:endParaRPr lang="en-US" sz="1300" dirty="0"/>
          </a:p>
        </p:txBody>
      </p:sp>
      <p:sp>
        <p:nvSpPr>
          <p:cNvPr id="17" name="Shape 15"/>
          <p:cNvSpPr/>
          <p:nvPr/>
        </p:nvSpPr>
        <p:spPr>
          <a:xfrm>
            <a:off x="6172200" y="3611880"/>
            <a:ext cx="5212080" cy="0"/>
          </a:xfrm>
          <a:prstGeom prst="line">
            <a:avLst/>
          </a:prstGeom>
          <a:noFill/>
          <a:ln w="6350">
            <a:solidFill>
              <a:srgbClr val="2A3650"/>
            </a:solidFill>
            <a:prstDash val="solid"/>
          </a:ln>
        </p:spPr>
      </p:sp>
      <p:sp>
        <p:nvSpPr>
          <p:cNvPr id="18" name="Text 16"/>
          <p:cNvSpPr/>
          <p:nvPr/>
        </p:nvSpPr>
        <p:spPr>
          <a:xfrm>
            <a:off x="6172200" y="3703320"/>
            <a:ext cx="5394960" cy="1188720"/>
          </a:xfrm>
          <a:prstGeom prst="rect">
            <a:avLst/>
          </a:prstGeom>
          <a:noFill/>
          <a:ln/>
        </p:spPr>
        <p:txBody>
          <a:bodyPr wrap="square" rtlCol="0" anchor="ctr"/>
          <a:lstStyle/>
          <a:p>
            <a:pPr indent="0" marL="0">
              <a:buNone/>
            </a:pPr>
            <a:r>
              <a:rPr lang="en-US" sz="1300" dirty="0">
                <a:solidFill>
                  <a:srgbClr val="B8C2D4"/>
                </a:solidFill>
                <a:latin typeface="Calibri" pitchFamily="34" charset="0"/>
                <a:ea typeface="Calibri" pitchFamily="34" charset="-122"/>
                <a:cs typeface="Calibri" pitchFamily="34" charset="-120"/>
              </a:rPr>
              <a:t>Afternoon viewing (12PM‑4PM) is nearly as strong, sustaining engagement and extending commercial reach across the working day.</a:t>
            </a:r>
            <a:endParaRPr lang="en-US" sz="1300" dirty="0"/>
          </a:p>
        </p:txBody>
      </p:sp>
      <p:sp>
        <p:nvSpPr>
          <p:cNvPr id="19" name="Shape 17"/>
          <p:cNvSpPr/>
          <p:nvPr/>
        </p:nvSpPr>
        <p:spPr>
          <a:xfrm>
            <a:off x="6172200" y="4983480"/>
            <a:ext cx="5212080" cy="0"/>
          </a:xfrm>
          <a:prstGeom prst="line">
            <a:avLst/>
          </a:prstGeom>
          <a:noFill/>
          <a:ln w="6350">
            <a:solidFill>
              <a:srgbClr val="2A3650"/>
            </a:solidFill>
            <a:prstDash val="solid"/>
          </a:ln>
        </p:spPr>
      </p:sp>
      <p:sp>
        <p:nvSpPr>
          <p:cNvPr id="20" name="Text 18"/>
          <p:cNvSpPr/>
          <p:nvPr/>
        </p:nvSpPr>
        <p:spPr>
          <a:xfrm>
            <a:off x="6172200" y="5074920"/>
            <a:ext cx="5394960" cy="1188720"/>
          </a:xfrm>
          <a:prstGeom prst="rect">
            <a:avLst/>
          </a:prstGeom>
          <a:noFill/>
          <a:ln/>
        </p:spPr>
        <p:txBody>
          <a:bodyPr wrap="square" rtlCol="0" anchor="ctr"/>
          <a:lstStyle/>
          <a:p>
            <a:pPr indent="0" marL="0">
              <a:buNone/>
            </a:pPr>
            <a:r>
              <a:rPr lang="en-US" sz="1300" dirty="0">
                <a:solidFill>
                  <a:srgbClr val="B8C2D4"/>
                </a:solidFill>
                <a:latin typeface="Calibri" pitchFamily="34" charset="0"/>
                <a:ea typeface="Calibri" pitchFamily="34" charset="-122"/>
                <a:cs typeface="Calibri" pitchFamily="34" charset="-120"/>
              </a:rPr>
              <a:t>Morning and late‑night periods are smaller, more predictable audiences — ideal for cost‑efficient and niche content strategies.</a:t>
            </a:r>
            <a:endParaRPr lang="en-US" sz="1300" dirty="0"/>
          </a:p>
        </p:txBody>
      </p:sp>
      <p:sp>
        <p:nvSpPr>
          <p:cNvPr id="21" name="Shape 19"/>
          <p:cNvSpPr/>
          <p:nvPr/>
        </p:nvSpPr>
        <p:spPr>
          <a:xfrm>
            <a:off x="457200" y="4663440"/>
            <a:ext cx="5212080" cy="1783080"/>
          </a:xfrm>
          <a:prstGeom prst="rect">
            <a:avLst/>
          </a:prstGeom>
          <a:solidFill>
            <a:srgbClr val="1F2A44"/>
          </a:solidFill>
          <a:ln w="9525">
            <a:solidFill>
              <a:srgbClr val="2A3650"/>
            </a:solidFill>
            <a:prstDash val="solid"/>
          </a:ln>
        </p:spPr>
      </p:sp>
      <p:sp>
        <p:nvSpPr>
          <p:cNvPr id="22" name="Text 20"/>
          <p:cNvSpPr/>
          <p:nvPr/>
        </p:nvSpPr>
        <p:spPr>
          <a:xfrm>
            <a:off x="640080" y="4754880"/>
            <a:ext cx="4572000" cy="274320"/>
          </a:xfrm>
          <a:prstGeom prst="rect">
            <a:avLst/>
          </a:prstGeom>
          <a:noFill/>
          <a:ln/>
        </p:spPr>
        <p:txBody>
          <a:bodyPr wrap="square" rtlCol="0" anchor="ctr"/>
          <a:lstStyle/>
          <a:p>
            <a:pPr indent="0" marL="0">
              <a:buNone/>
            </a:pPr>
            <a:r>
              <a:rPr lang="en-US" sz="1000" b="1" spc="300" kern="0" dirty="0">
                <a:solidFill>
                  <a:srgbClr val="F59E0B"/>
                </a:solidFill>
                <a:latin typeface="Consolas" pitchFamily="34" charset="0"/>
                <a:ea typeface="Consolas" pitchFamily="34" charset="-122"/>
                <a:cs typeface="Consolas" pitchFamily="34" charset="-120"/>
              </a:rPr>
              <a:t>PROGRAMMING IMPLICATIONS</a:t>
            </a:r>
            <a:endParaRPr lang="en-US" sz="1000" dirty="0"/>
          </a:p>
        </p:txBody>
      </p:sp>
      <p:sp>
        <p:nvSpPr>
          <p:cNvPr id="23" name="Text 21"/>
          <p:cNvSpPr/>
          <p:nvPr/>
        </p:nvSpPr>
        <p:spPr>
          <a:xfrm>
            <a:off x="640080" y="5074920"/>
            <a:ext cx="4937760" cy="1371600"/>
          </a:xfrm>
          <a:prstGeom prst="rect">
            <a:avLst/>
          </a:prstGeom>
          <a:noFill/>
          <a:ln/>
        </p:spPr>
        <p:txBody>
          <a:bodyPr wrap="square" rtlCol="0" anchor="ctr"/>
          <a:lstStyle/>
          <a:p>
            <a:pPr indent="0" marL="0">
              <a:spcAft>
                <a:spcPts val="400"/>
              </a:spcAft>
              <a:buNone/>
            </a:pPr>
            <a:r>
              <a:rPr lang="en-US" sz="1200" dirty="0">
                <a:solidFill>
                  <a:srgbClr val="B8C2D4"/>
                </a:solidFill>
                <a:latin typeface="Calibri" pitchFamily="34" charset="0"/>
                <a:ea typeface="Calibri" pitchFamily="34" charset="-122"/>
                <a:cs typeface="Calibri" pitchFamily="34" charset="-120"/>
              </a:rPr>
              <a:t>•  Schedule flagships in the 12PM‑9PM window</a:t>
            </a:r>
            <a:endParaRPr lang="en-US" sz="1200" dirty="0"/>
          </a:p>
          <a:p>
            <a:pPr indent="0" marL="0">
              <a:spcAft>
                <a:spcPts val="400"/>
              </a:spcAft>
              <a:buNone/>
            </a:pPr>
            <a:r>
              <a:rPr lang="en-US" sz="1200" dirty="0">
                <a:solidFill>
                  <a:srgbClr val="B8C2D4"/>
                </a:solidFill>
                <a:latin typeface="Calibri" pitchFamily="34" charset="0"/>
                <a:ea typeface="Calibri" pitchFamily="34" charset="-122"/>
                <a:cs typeface="Calibri" pitchFamily="34" charset="-120"/>
              </a:rPr>
              <a:t>•  Reserve 10PM‑4AM for movies and adult content</a:t>
            </a:r>
            <a:endParaRPr lang="en-US" sz="1200" dirty="0"/>
          </a:p>
          <a:p>
            <a:pPr indent="0" marL="0">
              <a:spcAft>
                <a:spcPts val="400"/>
              </a:spcAft>
              <a:buNone/>
            </a:pPr>
            <a:r>
              <a:rPr lang="en-US" sz="1200" dirty="0">
                <a:solidFill>
                  <a:srgbClr val="B8C2D4"/>
                </a:solidFill>
                <a:latin typeface="Calibri" pitchFamily="34" charset="0"/>
                <a:ea typeface="Calibri" pitchFamily="34" charset="-122"/>
                <a:cs typeface="Calibri" pitchFamily="34" charset="-120"/>
              </a:rPr>
              <a:t>•  Use mornings for breakfast shows &amp; kids slots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11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03</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AUDIENCE &amp; VIEWERSHIP</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Subscribers by age group.</a:t>
            </a:r>
            <a:endParaRPr lang="en-US" sz="3600" dirty="0"/>
          </a:p>
        </p:txBody>
      </p:sp>
      <p:sp>
        <p:nvSpPr>
          <p:cNvPr id="11" name="Text 9"/>
          <p:cNvSpPr/>
          <p:nvPr/>
        </p:nvSpPr>
        <p:spPr>
          <a:xfrm>
            <a:off x="457200" y="1783080"/>
            <a:ext cx="10972800" cy="365760"/>
          </a:xfrm>
          <a:prstGeom prst="rect">
            <a:avLst/>
          </a:prstGeom>
          <a:noFill/>
          <a:ln/>
        </p:spPr>
        <p:txBody>
          <a:bodyPr wrap="square" rtlCol="0" anchor="ctr"/>
          <a:lstStyle/>
          <a:p>
            <a:pPr indent="0" marL="0">
              <a:buNone/>
            </a:pPr>
            <a:r>
              <a:rPr lang="en-US" sz="1400" i="1" dirty="0">
                <a:solidFill>
                  <a:srgbClr val="B8C2D4"/>
                </a:solidFill>
                <a:latin typeface="Calibri" pitchFamily="34" charset="0"/>
                <a:ea typeface="Calibri" pitchFamily="34" charset="-122"/>
                <a:cs typeface="Calibri" pitchFamily="34" charset="-120"/>
              </a:rPr>
              <a:t>Millennials and Established adults do the heavy lifting — together they account for over 60% of the base.</a:t>
            </a:r>
            <a:endParaRPr lang="en-US" sz="1400" dirty="0"/>
          </a:p>
        </p:txBody>
      </p:sp>
      <p:sp>
        <p:nvSpPr>
          <p:cNvPr id="12" name="Shape 10"/>
          <p:cNvSpPr/>
          <p:nvPr/>
        </p:nvSpPr>
        <p:spPr>
          <a:xfrm>
            <a:off x="457200" y="2468880"/>
            <a:ext cx="11247120" cy="4023360"/>
          </a:xfrm>
          <a:prstGeom prst="rect">
            <a:avLst/>
          </a:prstGeom>
          <a:solidFill>
            <a:srgbClr val="1A2236"/>
          </a:solidFill>
          <a:ln w="9525">
            <a:solidFill>
              <a:srgbClr val="2A3650"/>
            </a:solidFill>
            <a:prstDash val="solid"/>
          </a:ln>
        </p:spPr>
      </p:sp>
      <p:sp>
        <p:nvSpPr>
          <p:cNvPr id="13" name="Text 11"/>
          <p:cNvSpPr/>
          <p:nvPr/>
        </p:nvSpPr>
        <p:spPr>
          <a:xfrm>
            <a:off x="640080" y="2560320"/>
            <a:ext cx="2011680" cy="32004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Millennials (25‑34)</a:t>
            </a:r>
            <a:endParaRPr lang="en-US" sz="1100" dirty="0"/>
          </a:p>
        </p:txBody>
      </p:sp>
      <p:sp>
        <p:nvSpPr>
          <p:cNvPr id="14" name="Shape 12"/>
          <p:cNvSpPr/>
          <p:nvPr/>
        </p:nvSpPr>
        <p:spPr>
          <a:xfrm>
            <a:off x="2743200" y="2651760"/>
            <a:ext cx="7772400" cy="201168"/>
          </a:xfrm>
          <a:prstGeom prst="rect">
            <a:avLst/>
          </a:prstGeom>
          <a:solidFill>
            <a:srgbClr val="F59E0B"/>
          </a:solidFill>
          <a:ln/>
        </p:spPr>
      </p:sp>
      <p:sp>
        <p:nvSpPr>
          <p:cNvPr id="15" name="Text 13"/>
          <p:cNvSpPr/>
          <p:nvPr/>
        </p:nvSpPr>
        <p:spPr>
          <a:xfrm>
            <a:off x="10588752" y="2560320"/>
            <a:ext cx="914400" cy="320040"/>
          </a:xfrm>
          <a:prstGeom prst="rect">
            <a:avLst/>
          </a:prstGeom>
          <a:noFill/>
          <a:ln/>
        </p:spPr>
        <p:txBody>
          <a:bodyPr wrap="square" rtlCol="0" anchor="ctr"/>
          <a:lstStyle/>
          <a:p>
            <a:pPr indent="0" marL="0">
              <a:buNone/>
            </a:pPr>
            <a:r>
              <a:rPr lang="en-US" sz="1100" b="1" dirty="0">
                <a:solidFill>
                  <a:srgbClr val="F5F7FA"/>
                </a:solidFill>
                <a:latin typeface="Consolas" pitchFamily="34" charset="0"/>
                <a:ea typeface="Consolas" pitchFamily="34" charset="-122"/>
                <a:cs typeface="Consolas" pitchFamily="34" charset="-120"/>
              </a:rPr>
              <a:t>1648</a:t>
            </a:r>
            <a:endParaRPr lang="en-US" sz="1100" dirty="0"/>
          </a:p>
        </p:txBody>
      </p:sp>
      <p:sp>
        <p:nvSpPr>
          <p:cNvPr id="16" name="Text 14"/>
          <p:cNvSpPr/>
          <p:nvPr/>
        </p:nvSpPr>
        <p:spPr>
          <a:xfrm>
            <a:off x="640080" y="2980944"/>
            <a:ext cx="2011680" cy="32004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Established (35‑44)</a:t>
            </a:r>
            <a:endParaRPr lang="en-US" sz="1100" dirty="0"/>
          </a:p>
        </p:txBody>
      </p:sp>
      <p:sp>
        <p:nvSpPr>
          <p:cNvPr id="17" name="Shape 15"/>
          <p:cNvSpPr/>
          <p:nvPr/>
        </p:nvSpPr>
        <p:spPr>
          <a:xfrm>
            <a:off x="2743200" y="3072384"/>
            <a:ext cx="5027535" cy="201168"/>
          </a:xfrm>
          <a:prstGeom prst="rect">
            <a:avLst/>
          </a:prstGeom>
          <a:solidFill>
            <a:srgbClr val="3B82F6"/>
          </a:solidFill>
          <a:ln/>
        </p:spPr>
      </p:sp>
      <p:sp>
        <p:nvSpPr>
          <p:cNvPr id="18" name="Text 16"/>
          <p:cNvSpPr/>
          <p:nvPr/>
        </p:nvSpPr>
        <p:spPr>
          <a:xfrm>
            <a:off x="7843887" y="2980944"/>
            <a:ext cx="914400" cy="320040"/>
          </a:xfrm>
          <a:prstGeom prst="rect">
            <a:avLst/>
          </a:prstGeom>
          <a:noFill/>
          <a:ln/>
        </p:spPr>
        <p:txBody>
          <a:bodyPr wrap="square" rtlCol="0" anchor="ctr"/>
          <a:lstStyle/>
          <a:p>
            <a:pPr indent="0" marL="0">
              <a:buNone/>
            </a:pPr>
            <a:r>
              <a:rPr lang="en-US" sz="1100" b="1" dirty="0">
                <a:solidFill>
                  <a:srgbClr val="F5F7FA"/>
                </a:solidFill>
                <a:latin typeface="Consolas" pitchFamily="34" charset="0"/>
                <a:ea typeface="Consolas" pitchFamily="34" charset="-122"/>
                <a:cs typeface="Consolas" pitchFamily="34" charset="-120"/>
              </a:rPr>
              <a:t>1066</a:t>
            </a:r>
            <a:endParaRPr lang="en-US" sz="1100" dirty="0"/>
          </a:p>
        </p:txBody>
      </p:sp>
      <p:sp>
        <p:nvSpPr>
          <p:cNvPr id="19" name="Text 17"/>
          <p:cNvSpPr/>
          <p:nvPr/>
        </p:nvSpPr>
        <p:spPr>
          <a:xfrm>
            <a:off x="640080" y="3401568"/>
            <a:ext cx="2011680" cy="32004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Unknown</a:t>
            </a:r>
            <a:endParaRPr lang="en-US" sz="1100" dirty="0"/>
          </a:p>
        </p:txBody>
      </p:sp>
      <p:sp>
        <p:nvSpPr>
          <p:cNvPr id="20" name="Shape 18"/>
          <p:cNvSpPr/>
          <p:nvPr/>
        </p:nvSpPr>
        <p:spPr>
          <a:xfrm>
            <a:off x="2743200" y="3493008"/>
            <a:ext cx="2584512" cy="201168"/>
          </a:xfrm>
          <a:prstGeom prst="rect">
            <a:avLst/>
          </a:prstGeom>
          <a:solidFill>
            <a:srgbClr val="7A879F"/>
          </a:solidFill>
          <a:ln/>
        </p:spPr>
      </p:sp>
      <p:sp>
        <p:nvSpPr>
          <p:cNvPr id="21" name="Text 19"/>
          <p:cNvSpPr/>
          <p:nvPr/>
        </p:nvSpPr>
        <p:spPr>
          <a:xfrm>
            <a:off x="5400864" y="3401568"/>
            <a:ext cx="914400" cy="320040"/>
          </a:xfrm>
          <a:prstGeom prst="rect">
            <a:avLst/>
          </a:prstGeom>
          <a:noFill/>
          <a:ln/>
        </p:spPr>
        <p:txBody>
          <a:bodyPr wrap="square" rtlCol="0" anchor="ctr"/>
          <a:lstStyle/>
          <a:p>
            <a:pPr indent="0" marL="0">
              <a:buNone/>
            </a:pPr>
            <a:r>
              <a:rPr lang="en-US" sz="1100" b="1" dirty="0">
                <a:solidFill>
                  <a:srgbClr val="F5F7FA"/>
                </a:solidFill>
                <a:latin typeface="Consolas" pitchFamily="34" charset="0"/>
                <a:ea typeface="Consolas" pitchFamily="34" charset="-122"/>
                <a:cs typeface="Consolas" pitchFamily="34" charset="-120"/>
              </a:rPr>
              <a:t>548</a:t>
            </a:r>
            <a:endParaRPr lang="en-US" sz="1100" dirty="0"/>
          </a:p>
        </p:txBody>
      </p:sp>
      <p:sp>
        <p:nvSpPr>
          <p:cNvPr id="22" name="Text 20"/>
          <p:cNvSpPr/>
          <p:nvPr/>
        </p:nvSpPr>
        <p:spPr>
          <a:xfrm>
            <a:off x="640080" y="3822192"/>
            <a:ext cx="2011680" cy="32004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Young adults (18‑24)</a:t>
            </a:r>
            <a:endParaRPr lang="en-US" sz="1100" dirty="0"/>
          </a:p>
        </p:txBody>
      </p:sp>
      <p:sp>
        <p:nvSpPr>
          <p:cNvPr id="23" name="Shape 21"/>
          <p:cNvSpPr/>
          <p:nvPr/>
        </p:nvSpPr>
        <p:spPr>
          <a:xfrm>
            <a:off x="2743200" y="3913632"/>
            <a:ext cx="2546782" cy="201168"/>
          </a:xfrm>
          <a:prstGeom prst="rect">
            <a:avLst/>
          </a:prstGeom>
          <a:solidFill>
            <a:srgbClr val="10B981"/>
          </a:solidFill>
          <a:ln/>
        </p:spPr>
      </p:sp>
      <p:sp>
        <p:nvSpPr>
          <p:cNvPr id="24" name="Text 22"/>
          <p:cNvSpPr/>
          <p:nvPr/>
        </p:nvSpPr>
        <p:spPr>
          <a:xfrm>
            <a:off x="5363134" y="3822192"/>
            <a:ext cx="914400" cy="320040"/>
          </a:xfrm>
          <a:prstGeom prst="rect">
            <a:avLst/>
          </a:prstGeom>
          <a:noFill/>
          <a:ln/>
        </p:spPr>
        <p:txBody>
          <a:bodyPr wrap="square" rtlCol="0" anchor="ctr"/>
          <a:lstStyle/>
          <a:p>
            <a:pPr indent="0" marL="0">
              <a:buNone/>
            </a:pPr>
            <a:r>
              <a:rPr lang="en-US" sz="1100" b="1" dirty="0">
                <a:solidFill>
                  <a:srgbClr val="F5F7FA"/>
                </a:solidFill>
                <a:latin typeface="Consolas" pitchFamily="34" charset="0"/>
                <a:ea typeface="Consolas" pitchFamily="34" charset="-122"/>
                <a:cs typeface="Consolas" pitchFamily="34" charset="-120"/>
              </a:rPr>
              <a:t>540</a:t>
            </a:r>
            <a:endParaRPr lang="en-US" sz="1100" dirty="0"/>
          </a:p>
        </p:txBody>
      </p:sp>
      <p:sp>
        <p:nvSpPr>
          <p:cNvPr id="25" name="Text 23"/>
          <p:cNvSpPr/>
          <p:nvPr/>
        </p:nvSpPr>
        <p:spPr>
          <a:xfrm>
            <a:off x="640080" y="4242816"/>
            <a:ext cx="2011680" cy="32004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Mature adults (45‑54)</a:t>
            </a:r>
            <a:endParaRPr lang="en-US" sz="1100" dirty="0"/>
          </a:p>
        </p:txBody>
      </p:sp>
      <p:sp>
        <p:nvSpPr>
          <p:cNvPr id="26" name="Shape 24"/>
          <p:cNvSpPr/>
          <p:nvPr/>
        </p:nvSpPr>
        <p:spPr>
          <a:xfrm>
            <a:off x="2743200" y="4334256"/>
            <a:ext cx="1811045" cy="201168"/>
          </a:xfrm>
          <a:prstGeom prst="rect">
            <a:avLst/>
          </a:prstGeom>
          <a:solidFill>
            <a:srgbClr val="E11D48"/>
          </a:solidFill>
          <a:ln/>
        </p:spPr>
      </p:sp>
      <p:sp>
        <p:nvSpPr>
          <p:cNvPr id="27" name="Text 25"/>
          <p:cNvSpPr/>
          <p:nvPr/>
        </p:nvSpPr>
        <p:spPr>
          <a:xfrm>
            <a:off x="4627397" y="4242816"/>
            <a:ext cx="914400" cy="320040"/>
          </a:xfrm>
          <a:prstGeom prst="rect">
            <a:avLst/>
          </a:prstGeom>
          <a:noFill/>
          <a:ln/>
        </p:spPr>
        <p:txBody>
          <a:bodyPr wrap="square" rtlCol="0" anchor="ctr"/>
          <a:lstStyle/>
          <a:p>
            <a:pPr indent="0" marL="0">
              <a:buNone/>
            </a:pPr>
            <a:r>
              <a:rPr lang="en-US" sz="1100" b="1" dirty="0">
                <a:solidFill>
                  <a:srgbClr val="F5F7FA"/>
                </a:solidFill>
                <a:latin typeface="Consolas" pitchFamily="34" charset="0"/>
                <a:ea typeface="Consolas" pitchFamily="34" charset="-122"/>
                <a:cs typeface="Consolas" pitchFamily="34" charset="-120"/>
              </a:rPr>
              <a:t>384</a:t>
            </a:r>
            <a:endParaRPr lang="en-US" sz="1100" dirty="0"/>
          </a:p>
        </p:txBody>
      </p:sp>
      <p:sp>
        <p:nvSpPr>
          <p:cNvPr id="28" name="Text 26"/>
          <p:cNvSpPr/>
          <p:nvPr/>
        </p:nvSpPr>
        <p:spPr>
          <a:xfrm>
            <a:off x="640080" y="4663440"/>
            <a:ext cx="2011680" cy="32004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Minors (under 18)</a:t>
            </a:r>
            <a:endParaRPr lang="en-US" sz="1100" dirty="0"/>
          </a:p>
        </p:txBody>
      </p:sp>
      <p:sp>
        <p:nvSpPr>
          <p:cNvPr id="29" name="Shape 27"/>
          <p:cNvSpPr/>
          <p:nvPr/>
        </p:nvSpPr>
        <p:spPr>
          <a:xfrm>
            <a:off x="2743200" y="4754880"/>
            <a:ext cx="457477" cy="201168"/>
          </a:xfrm>
          <a:prstGeom prst="rect">
            <a:avLst/>
          </a:prstGeom>
          <a:solidFill>
            <a:srgbClr val="3B82F6"/>
          </a:solidFill>
          <a:ln/>
        </p:spPr>
      </p:sp>
      <p:sp>
        <p:nvSpPr>
          <p:cNvPr id="30" name="Text 28"/>
          <p:cNvSpPr/>
          <p:nvPr/>
        </p:nvSpPr>
        <p:spPr>
          <a:xfrm>
            <a:off x="3273829" y="4663440"/>
            <a:ext cx="914400" cy="320040"/>
          </a:xfrm>
          <a:prstGeom prst="rect">
            <a:avLst/>
          </a:prstGeom>
          <a:noFill/>
          <a:ln/>
        </p:spPr>
        <p:txBody>
          <a:bodyPr wrap="square" rtlCol="0" anchor="ctr"/>
          <a:lstStyle/>
          <a:p>
            <a:pPr indent="0" marL="0">
              <a:buNone/>
            </a:pPr>
            <a:r>
              <a:rPr lang="en-US" sz="1100" b="1" dirty="0">
                <a:solidFill>
                  <a:srgbClr val="F5F7FA"/>
                </a:solidFill>
                <a:latin typeface="Consolas" pitchFamily="34" charset="0"/>
                <a:ea typeface="Consolas" pitchFamily="34" charset="-122"/>
                <a:cs typeface="Consolas" pitchFamily="34" charset="-120"/>
              </a:rPr>
              <a:t>97</a:t>
            </a:r>
            <a:endParaRPr lang="en-US" sz="1100" dirty="0"/>
          </a:p>
        </p:txBody>
      </p:sp>
      <p:sp>
        <p:nvSpPr>
          <p:cNvPr id="31" name="Text 29"/>
          <p:cNvSpPr/>
          <p:nvPr/>
        </p:nvSpPr>
        <p:spPr>
          <a:xfrm>
            <a:off x="640080" y="5084064"/>
            <a:ext cx="2011680" cy="32004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Pre-retirement (55‑64)</a:t>
            </a:r>
            <a:endParaRPr lang="en-US" sz="1100" dirty="0"/>
          </a:p>
        </p:txBody>
      </p:sp>
      <p:sp>
        <p:nvSpPr>
          <p:cNvPr id="32" name="Shape 30"/>
          <p:cNvSpPr/>
          <p:nvPr/>
        </p:nvSpPr>
        <p:spPr>
          <a:xfrm>
            <a:off x="2743200" y="5175504"/>
            <a:ext cx="382017" cy="201168"/>
          </a:xfrm>
          <a:prstGeom prst="rect">
            <a:avLst/>
          </a:prstGeom>
          <a:solidFill>
            <a:srgbClr val="3B82F6"/>
          </a:solidFill>
          <a:ln/>
        </p:spPr>
      </p:sp>
      <p:sp>
        <p:nvSpPr>
          <p:cNvPr id="33" name="Text 31"/>
          <p:cNvSpPr/>
          <p:nvPr/>
        </p:nvSpPr>
        <p:spPr>
          <a:xfrm>
            <a:off x="3198369" y="5084064"/>
            <a:ext cx="914400" cy="320040"/>
          </a:xfrm>
          <a:prstGeom prst="rect">
            <a:avLst/>
          </a:prstGeom>
          <a:noFill/>
          <a:ln/>
        </p:spPr>
        <p:txBody>
          <a:bodyPr wrap="square" rtlCol="0" anchor="ctr"/>
          <a:lstStyle/>
          <a:p>
            <a:pPr indent="0" marL="0">
              <a:buNone/>
            </a:pPr>
            <a:r>
              <a:rPr lang="en-US" sz="1100" b="1" dirty="0">
                <a:solidFill>
                  <a:srgbClr val="F5F7FA"/>
                </a:solidFill>
                <a:latin typeface="Consolas" pitchFamily="34" charset="0"/>
                <a:ea typeface="Consolas" pitchFamily="34" charset="-122"/>
                <a:cs typeface="Consolas" pitchFamily="34" charset="-120"/>
              </a:rPr>
              <a:t>81</a:t>
            </a:r>
            <a:endParaRPr lang="en-US" sz="1100" dirty="0"/>
          </a:p>
        </p:txBody>
      </p:sp>
      <p:sp>
        <p:nvSpPr>
          <p:cNvPr id="34" name="Text 32"/>
          <p:cNvSpPr/>
          <p:nvPr/>
        </p:nvSpPr>
        <p:spPr>
          <a:xfrm>
            <a:off x="640080" y="5504688"/>
            <a:ext cx="2011680" cy="32004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Retirement (65‑89)</a:t>
            </a:r>
            <a:endParaRPr lang="en-US" sz="1100" dirty="0"/>
          </a:p>
        </p:txBody>
      </p:sp>
      <p:sp>
        <p:nvSpPr>
          <p:cNvPr id="35" name="Shape 33"/>
          <p:cNvSpPr/>
          <p:nvPr/>
        </p:nvSpPr>
        <p:spPr>
          <a:xfrm>
            <a:off x="2743200" y="5596128"/>
            <a:ext cx="75460" cy="201168"/>
          </a:xfrm>
          <a:prstGeom prst="rect">
            <a:avLst/>
          </a:prstGeom>
          <a:solidFill>
            <a:srgbClr val="7A879F"/>
          </a:solidFill>
          <a:ln/>
        </p:spPr>
      </p:sp>
      <p:sp>
        <p:nvSpPr>
          <p:cNvPr id="36" name="Text 34"/>
          <p:cNvSpPr/>
          <p:nvPr/>
        </p:nvSpPr>
        <p:spPr>
          <a:xfrm>
            <a:off x="2891812" y="5504688"/>
            <a:ext cx="914400" cy="320040"/>
          </a:xfrm>
          <a:prstGeom prst="rect">
            <a:avLst/>
          </a:prstGeom>
          <a:noFill/>
          <a:ln/>
        </p:spPr>
        <p:txBody>
          <a:bodyPr wrap="square" rtlCol="0" anchor="ctr"/>
          <a:lstStyle/>
          <a:p>
            <a:pPr indent="0" marL="0">
              <a:buNone/>
            </a:pPr>
            <a:r>
              <a:rPr lang="en-US" sz="1100" b="1" dirty="0">
                <a:solidFill>
                  <a:srgbClr val="F5F7FA"/>
                </a:solidFill>
                <a:latin typeface="Consolas" pitchFamily="34" charset="0"/>
                <a:ea typeface="Consolas" pitchFamily="34" charset="-122"/>
                <a:cs typeface="Consolas" pitchFamily="34" charset="-120"/>
              </a:rPr>
              <a:t>16</a:t>
            </a:r>
            <a:endParaRPr lang="en-US" sz="1100" dirty="0"/>
          </a:p>
        </p:txBody>
      </p:sp>
      <p:sp>
        <p:nvSpPr>
          <p:cNvPr id="37" name="Text 35"/>
          <p:cNvSpPr/>
          <p:nvPr/>
        </p:nvSpPr>
        <p:spPr>
          <a:xfrm>
            <a:off x="640080" y="5925312"/>
            <a:ext cx="2011680" cy="320040"/>
          </a:xfrm>
          <a:prstGeom prst="rect">
            <a:avLst/>
          </a:prstGeom>
          <a:noFill/>
          <a:ln/>
        </p:spPr>
        <p:txBody>
          <a:bodyPr wrap="square" rtlCol="0" anchor="ctr"/>
          <a:lstStyle/>
          <a:p>
            <a:pPr indent="0" marL="0">
              <a:buNone/>
            </a:pPr>
            <a:r>
              <a:rPr lang="en-US" sz="1100" dirty="0">
                <a:solidFill>
                  <a:srgbClr val="B8C2D4"/>
                </a:solidFill>
                <a:latin typeface="Calibri" pitchFamily="34" charset="0"/>
                <a:ea typeface="Calibri" pitchFamily="34" charset="-122"/>
                <a:cs typeface="Calibri" pitchFamily="34" charset="-120"/>
              </a:rPr>
              <a:t>Golden</a:t>
            </a:r>
            <a:endParaRPr lang="en-US" sz="1100" dirty="0"/>
          </a:p>
        </p:txBody>
      </p:sp>
      <p:sp>
        <p:nvSpPr>
          <p:cNvPr id="38" name="Shape 36"/>
          <p:cNvSpPr/>
          <p:nvPr/>
        </p:nvSpPr>
        <p:spPr>
          <a:xfrm>
            <a:off x="2743200" y="6016752"/>
            <a:ext cx="28298" cy="201168"/>
          </a:xfrm>
          <a:prstGeom prst="rect">
            <a:avLst/>
          </a:prstGeom>
          <a:solidFill>
            <a:srgbClr val="7A879F"/>
          </a:solidFill>
          <a:ln/>
        </p:spPr>
      </p:sp>
      <p:sp>
        <p:nvSpPr>
          <p:cNvPr id="39" name="Text 37"/>
          <p:cNvSpPr/>
          <p:nvPr/>
        </p:nvSpPr>
        <p:spPr>
          <a:xfrm>
            <a:off x="2844650" y="5925312"/>
            <a:ext cx="914400" cy="320040"/>
          </a:xfrm>
          <a:prstGeom prst="rect">
            <a:avLst/>
          </a:prstGeom>
          <a:noFill/>
          <a:ln/>
        </p:spPr>
        <p:txBody>
          <a:bodyPr wrap="square" rtlCol="0" anchor="ctr"/>
          <a:lstStyle/>
          <a:p>
            <a:pPr indent="0" marL="0">
              <a:buNone/>
            </a:pPr>
            <a:r>
              <a:rPr lang="en-US" sz="1100" b="1" dirty="0">
                <a:solidFill>
                  <a:srgbClr val="F5F7FA"/>
                </a:solidFill>
                <a:latin typeface="Consolas" pitchFamily="34" charset="0"/>
                <a:ea typeface="Consolas" pitchFamily="34" charset="-122"/>
                <a:cs typeface="Consolas" pitchFamily="34" charset="-120"/>
              </a:rPr>
              <a:t>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12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03</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AUDIENCE &amp; VIEWERSHIP</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Prime time drives maximum value.</a:t>
            </a:r>
            <a:endParaRPr lang="en-US" sz="3600" dirty="0"/>
          </a:p>
        </p:txBody>
      </p:sp>
      <p:sp>
        <p:nvSpPr>
          <p:cNvPr id="11" name="Shape 9"/>
          <p:cNvSpPr/>
          <p:nvPr/>
        </p:nvSpPr>
        <p:spPr>
          <a:xfrm>
            <a:off x="457200" y="1920240"/>
            <a:ext cx="3657600" cy="4480560"/>
          </a:xfrm>
          <a:prstGeom prst="rect">
            <a:avLst/>
          </a:prstGeom>
          <a:solidFill>
            <a:srgbClr val="1A2236"/>
          </a:solidFill>
          <a:ln w="9525">
            <a:solidFill>
              <a:srgbClr val="2A3650"/>
            </a:solidFill>
            <a:prstDash val="solid"/>
          </a:ln>
        </p:spPr>
      </p:sp>
      <p:sp>
        <p:nvSpPr>
          <p:cNvPr id="12" name="Shape 10"/>
          <p:cNvSpPr/>
          <p:nvPr/>
        </p:nvSpPr>
        <p:spPr>
          <a:xfrm>
            <a:off x="457200" y="1920240"/>
            <a:ext cx="3657600" cy="109728"/>
          </a:xfrm>
          <a:prstGeom prst="rect">
            <a:avLst/>
          </a:prstGeom>
          <a:solidFill>
            <a:srgbClr val="E11D48"/>
          </a:solidFill>
          <a:ln/>
        </p:spPr>
      </p:sp>
      <p:sp>
        <p:nvSpPr>
          <p:cNvPr id="13" name="Text 11"/>
          <p:cNvSpPr/>
          <p:nvPr/>
        </p:nvSpPr>
        <p:spPr>
          <a:xfrm>
            <a:off x="731520" y="2148840"/>
            <a:ext cx="3200400" cy="274320"/>
          </a:xfrm>
          <a:prstGeom prst="rect">
            <a:avLst/>
          </a:prstGeom>
          <a:noFill/>
          <a:ln/>
        </p:spPr>
        <p:txBody>
          <a:bodyPr wrap="square" rtlCol="0" anchor="ctr"/>
          <a:lstStyle/>
          <a:p>
            <a:pPr indent="0" marL="0">
              <a:buNone/>
            </a:pPr>
            <a:r>
              <a:rPr lang="en-US" sz="1000" b="1" spc="300" kern="0" dirty="0">
                <a:solidFill>
                  <a:srgbClr val="E11D48"/>
                </a:solidFill>
                <a:latin typeface="Consolas" pitchFamily="34" charset="0"/>
                <a:ea typeface="Consolas" pitchFamily="34" charset="-122"/>
                <a:cs typeface="Consolas" pitchFamily="34" charset="-120"/>
              </a:rPr>
              <a:t>5PM‑9PM</a:t>
            </a:r>
            <a:endParaRPr lang="en-US" sz="1000" dirty="0"/>
          </a:p>
        </p:txBody>
      </p:sp>
      <p:sp>
        <p:nvSpPr>
          <p:cNvPr id="14" name="Text 12"/>
          <p:cNvSpPr/>
          <p:nvPr/>
        </p:nvSpPr>
        <p:spPr>
          <a:xfrm>
            <a:off x="731520" y="2468880"/>
            <a:ext cx="3200400" cy="640080"/>
          </a:xfrm>
          <a:prstGeom prst="rect">
            <a:avLst/>
          </a:prstGeom>
          <a:noFill/>
          <a:ln/>
        </p:spPr>
        <p:txBody>
          <a:bodyPr wrap="square" rtlCol="0" anchor="ctr"/>
          <a:lstStyle/>
          <a:p>
            <a:pPr indent="0" marL="0">
              <a:buNone/>
            </a:pPr>
            <a:r>
              <a:rPr lang="en-US" sz="3000" b="1" dirty="0">
                <a:solidFill>
                  <a:srgbClr val="F5F7FA"/>
                </a:solidFill>
                <a:latin typeface="Georgia" pitchFamily="34" charset="0"/>
                <a:ea typeface="Georgia" pitchFamily="34" charset="-122"/>
                <a:cs typeface="Georgia" pitchFamily="34" charset="-120"/>
              </a:rPr>
              <a:t>Prime Time</a:t>
            </a:r>
            <a:endParaRPr lang="en-US" sz="3000" dirty="0"/>
          </a:p>
        </p:txBody>
      </p:sp>
      <p:sp>
        <p:nvSpPr>
          <p:cNvPr id="15" name="Shape 13"/>
          <p:cNvSpPr/>
          <p:nvPr/>
        </p:nvSpPr>
        <p:spPr>
          <a:xfrm>
            <a:off x="731520" y="3337560"/>
            <a:ext cx="365760" cy="27432"/>
          </a:xfrm>
          <a:prstGeom prst="rect">
            <a:avLst/>
          </a:prstGeom>
          <a:solidFill>
            <a:srgbClr val="E11D48"/>
          </a:solidFill>
          <a:ln/>
        </p:spPr>
      </p:sp>
      <p:sp>
        <p:nvSpPr>
          <p:cNvPr id="16" name="Text 14"/>
          <p:cNvSpPr/>
          <p:nvPr/>
        </p:nvSpPr>
        <p:spPr>
          <a:xfrm>
            <a:off x="731520" y="3520440"/>
            <a:ext cx="3200400" cy="2651760"/>
          </a:xfrm>
          <a:prstGeom prst="rect">
            <a:avLst/>
          </a:prstGeom>
          <a:noFill/>
          <a:ln/>
        </p:spPr>
        <p:txBody>
          <a:bodyPr wrap="square" rtlCol="0" anchor="ctr"/>
          <a:lstStyle/>
          <a:p>
            <a:pPr indent="0" marL="0">
              <a:buNone/>
            </a:pPr>
            <a:r>
              <a:rPr lang="en-US" sz="1300" dirty="0">
                <a:solidFill>
                  <a:srgbClr val="B8C2D4"/>
                </a:solidFill>
                <a:latin typeface="Calibri" pitchFamily="34" charset="0"/>
                <a:ea typeface="Calibri" pitchFamily="34" charset="-122"/>
                <a:cs typeface="Calibri" pitchFamily="34" charset="-120"/>
              </a:rPr>
              <a:t>The most lucrative window — highest audience concentration. Use it for flagship shows, live sport and premium ad inventory.</a:t>
            </a:r>
            <a:endParaRPr lang="en-US" sz="1300" dirty="0"/>
          </a:p>
        </p:txBody>
      </p:sp>
      <p:sp>
        <p:nvSpPr>
          <p:cNvPr id="17" name="Shape 15"/>
          <p:cNvSpPr/>
          <p:nvPr/>
        </p:nvSpPr>
        <p:spPr>
          <a:xfrm>
            <a:off x="4370832" y="1920240"/>
            <a:ext cx="3657600" cy="4480560"/>
          </a:xfrm>
          <a:prstGeom prst="rect">
            <a:avLst/>
          </a:prstGeom>
          <a:solidFill>
            <a:srgbClr val="1A2236"/>
          </a:solidFill>
          <a:ln w="9525">
            <a:solidFill>
              <a:srgbClr val="2A3650"/>
            </a:solidFill>
            <a:prstDash val="solid"/>
          </a:ln>
        </p:spPr>
      </p:sp>
      <p:sp>
        <p:nvSpPr>
          <p:cNvPr id="18" name="Shape 16"/>
          <p:cNvSpPr/>
          <p:nvPr/>
        </p:nvSpPr>
        <p:spPr>
          <a:xfrm>
            <a:off x="4370832" y="1920240"/>
            <a:ext cx="3657600" cy="109728"/>
          </a:xfrm>
          <a:prstGeom prst="rect">
            <a:avLst/>
          </a:prstGeom>
          <a:solidFill>
            <a:srgbClr val="F59E0B"/>
          </a:solidFill>
          <a:ln/>
        </p:spPr>
      </p:sp>
      <p:sp>
        <p:nvSpPr>
          <p:cNvPr id="19" name="Text 17"/>
          <p:cNvSpPr/>
          <p:nvPr/>
        </p:nvSpPr>
        <p:spPr>
          <a:xfrm>
            <a:off x="4645152" y="2148840"/>
            <a:ext cx="3200400" cy="274320"/>
          </a:xfrm>
          <a:prstGeom prst="rect">
            <a:avLst/>
          </a:prstGeom>
          <a:noFill/>
          <a:ln/>
        </p:spPr>
        <p:txBody>
          <a:bodyPr wrap="square" rtlCol="0" anchor="ctr"/>
          <a:lstStyle/>
          <a:p>
            <a:pPr indent="0" marL="0">
              <a:buNone/>
            </a:pPr>
            <a:r>
              <a:rPr lang="en-US" sz="1000" b="1" spc="300" kern="0" dirty="0">
                <a:solidFill>
                  <a:srgbClr val="F59E0B"/>
                </a:solidFill>
                <a:latin typeface="Consolas" pitchFamily="34" charset="0"/>
                <a:ea typeface="Consolas" pitchFamily="34" charset="-122"/>
                <a:cs typeface="Consolas" pitchFamily="34" charset="-120"/>
              </a:rPr>
              <a:t>12PM‑4PM</a:t>
            </a:r>
            <a:endParaRPr lang="en-US" sz="1000" dirty="0"/>
          </a:p>
        </p:txBody>
      </p:sp>
      <p:sp>
        <p:nvSpPr>
          <p:cNvPr id="20" name="Text 18"/>
          <p:cNvSpPr/>
          <p:nvPr/>
        </p:nvSpPr>
        <p:spPr>
          <a:xfrm>
            <a:off x="4645152" y="2468880"/>
            <a:ext cx="3200400" cy="640080"/>
          </a:xfrm>
          <a:prstGeom prst="rect">
            <a:avLst/>
          </a:prstGeom>
          <a:noFill/>
          <a:ln/>
        </p:spPr>
        <p:txBody>
          <a:bodyPr wrap="square" rtlCol="0" anchor="ctr"/>
          <a:lstStyle/>
          <a:p>
            <a:pPr indent="0" marL="0">
              <a:buNone/>
            </a:pPr>
            <a:r>
              <a:rPr lang="en-US" sz="3000" b="1" dirty="0">
                <a:solidFill>
                  <a:srgbClr val="F5F7FA"/>
                </a:solidFill>
                <a:latin typeface="Georgia" pitchFamily="34" charset="0"/>
                <a:ea typeface="Georgia" pitchFamily="34" charset="-122"/>
                <a:cs typeface="Georgia" pitchFamily="34" charset="-120"/>
              </a:rPr>
              <a:t>Daytime</a:t>
            </a:r>
            <a:endParaRPr lang="en-US" sz="3000" dirty="0"/>
          </a:p>
        </p:txBody>
      </p:sp>
      <p:sp>
        <p:nvSpPr>
          <p:cNvPr id="21" name="Shape 19"/>
          <p:cNvSpPr/>
          <p:nvPr/>
        </p:nvSpPr>
        <p:spPr>
          <a:xfrm>
            <a:off x="4645152" y="3337560"/>
            <a:ext cx="365760" cy="27432"/>
          </a:xfrm>
          <a:prstGeom prst="rect">
            <a:avLst/>
          </a:prstGeom>
          <a:solidFill>
            <a:srgbClr val="F59E0B"/>
          </a:solidFill>
          <a:ln/>
        </p:spPr>
      </p:sp>
      <p:sp>
        <p:nvSpPr>
          <p:cNvPr id="22" name="Text 20"/>
          <p:cNvSpPr/>
          <p:nvPr/>
        </p:nvSpPr>
        <p:spPr>
          <a:xfrm>
            <a:off x="4645152" y="3520440"/>
            <a:ext cx="3200400" cy="2651760"/>
          </a:xfrm>
          <a:prstGeom prst="rect">
            <a:avLst/>
          </a:prstGeom>
          <a:noFill/>
          <a:ln/>
        </p:spPr>
        <p:txBody>
          <a:bodyPr wrap="square" rtlCol="0" anchor="ctr"/>
          <a:lstStyle/>
          <a:p>
            <a:pPr indent="0" marL="0">
              <a:buNone/>
            </a:pPr>
            <a:r>
              <a:rPr lang="en-US" sz="1300" dirty="0">
                <a:solidFill>
                  <a:srgbClr val="B8C2D4"/>
                </a:solidFill>
                <a:latin typeface="Calibri" pitchFamily="34" charset="0"/>
                <a:ea typeface="Calibri" pitchFamily="34" charset="-122"/>
                <a:cs typeface="Calibri" pitchFamily="34" charset="-120"/>
              </a:rPr>
              <a:t>Strong engagement extends commercial opportunity well beyond traditional prime time — keep advertisers active across the day.</a:t>
            </a:r>
            <a:endParaRPr lang="en-US" sz="1300" dirty="0"/>
          </a:p>
        </p:txBody>
      </p:sp>
      <p:sp>
        <p:nvSpPr>
          <p:cNvPr id="23" name="Shape 21"/>
          <p:cNvSpPr/>
          <p:nvPr/>
        </p:nvSpPr>
        <p:spPr>
          <a:xfrm>
            <a:off x="8284464" y="1920240"/>
            <a:ext cx="3657600" cy="4480560"/>
          </a:xfrm>
          <a:prstGeom prst="rect">
            <a:avLst/>
          </a:prstGeom>
          <a:solidFill>
            <a:srgbClr val="1A2236"/>
          </a:solidFill>
          <a:ln w="9525">
            <a:solidFill>
              <a:srgbClr val="2A3650"/>
            </a:solidFill>
            <a:prstDash val="solid"/>
          </a:ln>
        </p:spPr>
      </p:sp>
      <p:sp>
        <p:nvSpPr>
          <p:cNvPr id="24" name="Shape 22"/>
          <p:cNvSpPr/>
          <p:nvPr/>
        </p:nvSpPr>
        <p:spPr>
          <a:xfrm>
            <a:off x="8284464" y="1920240"/>
            <a:ext cx="3657600" cy="109728"/>
          </a:xfrm>
          <a:prstGeom prst="rect">
            <a:avLst/>
          </a:prstGeom>
          <a:solidFill>
            <a:srgbClr val="3B82F6"/>
          </a:solidFill>
          <a:ln/>
        </p:spPr>
      </p:sp>
      <p:sp>
        <p:nvSpPr>
          <p:cNvPr id="25" name="Text 23"/>
          <p:cNvSpPr/>
          <p:nvPr/>
        </p:nvSpPr>
        <p:spPr>
          <a:xfrm>
            <a:off x="8558784" y="2148840"/>
            <a:ext cx="3200400" cy="274320"/>
          </a:xfrm>
          <a:prstGeom prst="rect">
            <a:avLst/>
          </a:prstGeom>
          <a:noFill/>
          <a:ln/>
        </p:spPr>
        <p:txBody>
          <a:bodyPr wrap="square" rtlCol="0" anchor="ctr"/>
          <a:lstStyle/>
          <a:p>
            <a:pPr indent="0" marL="0">
              <a:buNone/>
            </a:pPr>
            <a:r>
              <a:rPr lang="en-US" sz="1000" b="1" spc="300" kern="0" dirty="0">
                <a:solidFill>
                  <a:srgbClr val="3B82F6"/>
                </a:solidFill>
                <a:latin typeface="Consolas" pitchFamily="34" charset="0"/>
                <a:ea typeface="Consolas" pitchFamily="34" charset="-122"/>
                <a:cs typeface="Consolas" pitchFamily="34" charset="-120"/>
              </a:rPr>
              <a:t>MORNING &amp; LATE</a:t>
            </a:r>
            <a:endParaRPr lang="en-US" sz="1000" dirty="0"/>
          </a:p>
        </p:txBody>
      </p:sp>
      <p:sp>
        <p:nvSpPr>
          <p:cNvPr id="26" name="Text 24"/>
          <p:cNvSpPr/>
          <p:nvPr/>
        </p:nvSpPr>
        <p:spPr>
          <a:xfrm>
            <a:off x="8558784" y="2468880"/>
            <a:ext cx="3200400" cy="640080"/>
          </a:xfrm>
          <a:prstGeom prst="rect">
            <a:avLst/>
          </a:prstGeom>
          <a:noFill/>
          <a:ln/>
        </p:spPr>
        <p:txBody>
          <a:bodyPr wrap="square" rtlCol="0" anchor="ctr"/>
          <a:lstStyle/>
          <a:p>
            <a:pPr indent="0" marL="0">
              <a:buNone/>
            </a:pPr>
            <a:r>
              <a:rPr lang="en-US" sz="3000" b="1" dirty="0">
                <a:solidFill>
                  <a:srgbClr val="F5F7FA"/>
                </a:solidFill>
                <a:latin typeface="Georgia" pitchFamily="34" charset="0"/>
                <a:ea typeface="Georgia" pitchFamily="34" charset="-122"/>
                <a:cs typeface="Georgia" pitchFamily="34" charset="-120"/>
              </a:rPr>
              <a:t>Off-peak</a:t>
            </a:r>
            <a:endParaRPr lang="en-US" sz="3000" dirty="0"/>
          </a:p>
        </p:txBody>
      </p:sp>
      <p:sp>
        <p:nvSpPr>
          <p:cNvPr id="27" name="Shape 25"/>
          <p:cNvSpPr/>
          <p:nvPr/>
        </p:nvSpPr>
        <p:spPr>
          <a:xfrm>
            <a:off x="8558784" y="3337560"/>
            <a:ext cx="365760" cy="27432"/>
          </a:xfrm>
          <a:prstGeom prst="rect">
            <a:avLst/>
          </a:prstGeom>
          <a:solidFill>
            <a:srgbClr val="3B82F6"/>
          </a:solidFill>
          <a:ln/>
        </p:spPr>
      </p:sp>
      <p:sp>
        <p:nvSpPr>
          <p:cNvPr id="28" name="Text 26"/>
          <p:cNvSpPr/>
          <p:nvPr/>
        </p:nvSpPr>
        <p:spPr>
          <a:xfrm>
            <a:off x="8558784" y="3520440"/>
            <a:ext cx="3200400" cy="2651760"/>
          </a:xfrm>
          <a:prstGeom prst="rect">
            <a:avLst/>
          </a:prstGeom>
          <a:noFill/>
          <a:ln/>
        </p:spPr>
        <p:txBody>
          <a:bodyPr wrap="square" rtlCol="0" anchor="ctr"/>
          <a:lstStyle/>
          <a:p>
            <a:pPr indent="0" marL="0">
              <a:buNone/>
            </a:pPr>
            <a:r>
              <a:rPr lang="en-US" sz="1300" dirty="0">
                <a:solidFill>
                  <a:srgbClr val="B8C2D4"/>
                </a:solidFill>
                <a:latin typeface="Calibri" pitchFamily="34" charset="0"/>
                <a:ea typeface="Calibri" pitchFamily="34" charset="-122"/>
                <a:cs typeface="Calibri" pitchFamily="34" charset="-120"/>
              </a:rPr>
              <a:t>Smaller, predictable audiences. Ideal for lower‑cost content, reruns and sharply targeted niche programming.</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13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03</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AUDIENCE &amp; VIEWERSHIP</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Weekday viewership overview.</a:t>
            </a:r>
            <a:endParaRPr lang="en-US" sz="3600" dirty="0"/>
          </a:p>
        </p:txBody>
      </p:sp>
      <p:sp>
        <p:nvSpPr>
          <p:cNvPr id="11" name="Shape 9"/>
          <p:cNvSpPr/>
          <p:nvPr/>
        </p:nvSpPr>
        <p:spPr>
          <a:xfrm>
            <a:off x="457200" y="1920240"/>
            <a:ext cx="11247120" cy="4572000"/>
          </a:xfrm>
          <a:prstGeom prst="rect">
            <a:avLst/>
          </a:prstGeom>
          <a:solidFill>
            <a:srgbClr val="1A2236"/>
          </a:solidFill>
          <a:ln w="9525">
            <a:solidFill>
              <a:srgbClr val="2A3650"/>
            </a:solidFill>
            <a:prstDash val="solid"/>
          </a:ln>
        </p:spPr>
      </p:sp>
      <p:sp>
        <p:nvSpPr>
          <p:cNvPr id="12" name="Text 10"/>
          <p:cNvSpPr/>
          <p:nvPr/>
        </p:nvSpPr>
        <p:spPr>
          <a:xfrm>
            <a:off x="731520" y="2057400"/>
            <a:ext cx="2286000" cy="365760"/>
          </a:xfrm>
          <a:prstGeom prst="rect">
            <a:avLst/>
          </a:prstGeom>
          <a:noFill/>
          <a:ln/>
        </p:spPr>
        <p:txBody>
          <a:bodyPr wrap="square" rtlCol="0" anchor="ctr"/>
          <a:lstStyle/>
          <a:p>
            <a:pPr indent="0" marL="0">
              <a:buNone/>
            </a:pPr>
            <a:r>
              <a:rPr lang="en-US" sz="1000" spc="300" kern="0" dirty="0">
                <a:solidFill>
                  <a:srgbClr val="7A879F"/>
                </a:solidFill>
                <a:latin typeface="Consolas" pitchFamily="34" charset="0"/>
                <a:ea typeface="Consolas" pitchFamily="34" charset="-122"/>
                <a:cs typeface="Consolas" pitchFamily="34" charset="-120"/>
              </a:rPr>
              <a:t>DAY</a:t>
            </a:r>
            <a:endParaRPr lang="en-US" sz="1000" dirty="0"/>
          </a:p>
        </p:txBody>
      </p:sp>
      <p:sp>
        <p:nvSpPr>
          <p:cNvPr id="13" name="Text 11"/>
          <p:cNvSpPr/>
          <p:nvPr/>
        </p:nvSpPr>
        <p:spPr>
          <a:xfrm>
            <a:off x="3200400" y="2057400"/>
            <a:ext cx="1828800" cy="365760"/>
          </a:xfrm>
          <a:prstGeom prst="rect">
            <a:avLst/>
          </a:prstGeom>
          <a:noFill/>
          <a:ln/>
        </p:spPr>
        <p:txBody>
          <a:bodyPr wrap="square" rtlCol="0" anchor="ctr"/>
          <a:lstStyle/>
          <a:p>
            <a:pPr indent="0" marL="0">
              <a:buNone/>
            </a:pPr>
            <a:r>
              <a:rPr lang="en-US" sz="1000" spc="300" kern="0" dirty="0">
                <a:solidFill>
                  <a:srgbClr val="7A879F"/>
                </a:solidFill>
                <a:latin typeface="Consolas" pitchFamily="34" charset="0"/>
                <a:ea typeface="Consolas" pitchFamily="34" charset="-122"/>
                <a:cs typeface="Consolas" pitchFamily="34" charset="-120"/>
              </a:rPr>
              <a:t>RECORDS</a:t>
            </a:r>
            <a:endParaRPr lang="en-US" sz="1000" dirty="0"/>
          </a:p>
        </p:txBody>
      </p:sp>
      <p:sp>
        <p:nvSpPr>
          <p:cNvPr id="14" name="Text 12"/>
          <p:cNvSpPr/>
          <p:nvPr/>
        </p:nvSpPr>
        <p:spPr>
          <a:xfrm>
            <a:off x="5212080" y="2057400"/>
            <a:ext cx="3657600" cy="365760"/>
          </a:xfrm>
          <a:prstGeom prst="rect">
            <a:avLst/>
          </a:prstGeom>
          <a:noFill/>
          <a:ln/>
        </p:spPr>
        <p:txBody>
          <a:bodyPr wrap="square" rtlCol="0" anchor="ctr"/>
          <a:lstStyle/>
          <a:p>
            <a:pPr indent="0" marL="0">
              <a:buNone/>
            </a:pPr>
            <a:r>
              <a:rPr lang="en-US" sz="1000" spc="300" kern="0" dirty="0">
                <a:solidFill>
                  <a:srgbClr val="7A879F"/>
                </a:solidFill>
                <a:latin typeface="Consolas" pitchFamily="34" charset="0"/>
                <a:ea typeface="Consolas" pitchFamily="34" charset="-122"/>
                <a:cs typeface="Consolas" pitchFamily="34" charset="-120"/>
              </a:rPr>
              <a:t>SHARE</a:t>
            </a:r>
            <a:endParaRPr lang="en-US" sz="1000" dirty="0"/>
          </a:p>
        </p:txBody>
      </p:sp>
      <p:sp>
        <p:nvSpPr>
          <p:cNvPr id="15" name="Text 13"/>
          <p:cNvSpPr/>
          <p:nvPr/>
        </p:nvSpPr>
        <p:spPr>
          <a:xfrm>
            <a:off x="8869680" y="2057400"/>
            <a:ext cx="2743200" cy="365760"/>
          </a:xfrm>
          <a:prstGeom prst="rect">
            <a:avLst/>
          </a:prstGeom>
          <a:noFill/>
          <a:ln/>
        </p:spPr>
        <p:txBody>
          <a:bodyPr wrap="square" rtlCol="0" anchor="ctr"/>
          <a:lstStyle/>
          <a:p>
            <a:pPr indent="0" marL="0">
              <a:buNone/>
            </a:pPr>
            <a:r>
              <a:rPr lang="en-US" sz="1000" spc="300" kern="0" dirty="0">
                <a:solidFill>
                  <a:srgbClr val="7A879F"/>
                </a:solidFill>
                <a:latin typeface="Consolas" pitchFamily="34" charset="0"/>
                <a:ea typeface="Consolas" pitchFamily="34" charset="-122"/>
                <a:cs typeface="Consolas" pitchFamily="34" charset="-120"/>
              </a:rPr>
              <a:t>NOTE</a:t>
            </a:r>
            <a:endParaRPr lang="en-US" sz="1000" dirty="0"/>
          </a:p>
        </p:txBody>
      </p:sp>
      <p:sp>
        <p:nvSpPr>
          <p:cNvPr id="16" name="Shape 14"/>
          <p:cNvSpPr/>
          <p:nvPr/>
        </p:nvSpPr>
        <p:spPr>
          <a:xfrm>
            <a:off x="640080" y="2423160"/>
            <a:ext cx="10881360" cy="18288"/>
          </a:xfrm>
          <a:prstGeom prst="rect">
            <a:avLst/>
          </a:prstGeom>
          <a:solidFill>
            <a:srgbClr val="2A3650"/>
          </a:solidFill>
          <a:ln/>
        </p:spPr>
      </p:sp>
      <p:sp>
        <p:nvSpPr>
          <p:cNvPr id="17" name="Text 15"/>
          <p:cNvSpPr/>
          <p:nvPr/>
        </p:nvSpPr>
        <p:spPr>
          <a:xfrm>
            <a:off x="731520" y="2560320"/>
            <a:ext cx="2286000" cy="45720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Monday</a:t>
            </a:r>
            <a:endParaRPr lang="en-US" sz="1600" dirty="0"/>
          </a:p>
        </p:txBody>
      </p:sp>
      <p:sp>
        <p:nvSpPr>
          <p:cNvPr id="18" name="Text 16"/>
          <p:cNvSpPr/>
          <p:nvPr/>
        </p:nvSpPr>
        <p:spPr>
          <a:xfrm>
            <a:off x="3200400" y="2560320"/>
            <a:ext cx="1828800" cy="457200"/>
          </a:xfrm>
          <a:prstGeom prst="rect">
            <a:avLst/>
          </a:prstGeom>
          <a:noFill/>
          <a:ln/>
        </p:spPr>
        <p:txBody>
          <a:bodyPr wrap="square" rtlCol="0" anchor="ctr"/>
          <a:lstStyle/>
          <a:p>
            <a:pPr indent="0" marL="0">
              <a:buNone/>
            </a:pPr>
            <a:r>
              <a:rPr lang="en-US" sz="1400" dirty="0">
                <a:solidFill>
                  <a:srgbClr val="F5F7FA"/>
                </a:solidFill>
                <a:latin typeface="Consolas" pitchFamily="34" charset="0"/>
                <a:ea typeface="Consolas" pitchFamily="34" charset="-122"/>
                <a:cs typeface="Consolas" pitchFamily="34" charset="-120"/>
              </a:rPr>
              <a:t>974</a:t>
            </a:r>
            <a:endParaRPr lang="en-US" sz="1400" dirty="0"/>
          </a:p>
        </p:txBody>
      </p:sp>
      <p:sp>
        <p:nvSpPr>
          <p:cNvPr id="19" name="Shape 17"/>
          <p:cNvSpPr/>
          <p:nvPr/>
        </p:nvSpPr>
        <p:spPr>
          <a:xfrm>
            <a:off x="5212080" y="2724912"/>
            <a:ext cx="1816681" cy="164592"/>
          </a:xfrm>
          <a:prstGeom prst="rect">
            <a:avLst/>
          </a:prstGeom>
          <a:solidFill>
            <a:srgbClr val="3B82F6"/>
          </a:solidFill>
          <a:ln/>
        </p:spPr>
      </p:sp>
      <p:sp>
        <p:nvSpPr>
          <p:cNvPr id="20" name="Text 18"/>
          <p:cNvSpPr/>
          <p:nvPr/>
        </p:nvSpPr>
        <p:spPr>
          <a:xfrm>
            <a:off x="7120201" y="2560320"/>
            <a:ext cx="914400" cy="457200"/>
          </a:xfrm>
          <a:prstGeom prst="rect">
            <a:avLst/>
          </a:prstGeom>
          <a:noFill/>
          <a:ln/>
        </p:spPr>
        <p:txBody>
          <a:bodyPr wrap="square" rtlCol="0" anchor="ctr"/>
          <a:lstStyle/>
          <a:p>
            <a:pPr indent="0" marL="0">
              <a:buNone/>
            </a:pPr>
            <a:r>
              <a:rPr lang="en-US" sz="1200" b="1" dirty="0">
                <a:solidFill>
                  <a:srgbClr val="F5F7FA"/>
                </a:solidFill>
                <a:latin typeface="Consolas" pitchFamily="34" charset="0"/>
                <a:ea typeface="Consolas" pitchFamily="34" charset="-122"/>
                <a:cs typeface="Consolas" pitchFamily="34" charset="-120"/>
              </a:rPr>
              <a:t>9.7%</a:t>
            </a:r>
            <a:endParaRPr lang="en-US" sz="1200" dirty="0"/>
          </a:p>
        </p:txBody>
      </p:sp>
      <p:sp>
        <p:nvSpPr>
          <p:cNvPr id="21" name="Text 19"/>
          <p:cNvSpPr/>
          <p:nvPr/>
        </p:nvSpPr>
        <p:spPr>
          <a:xfrm>
            <a:off x="8869680" y="2560320"/>
            <a:ext cx="2743200" cy="457200"/>
          </a:xfrm>
          <a:prstGeom prst="rect">
            <a:avLst/>
          </a:prstGeom>
          <a:noFill/>
          <a:ln/>
        </p:spPr>
        <p:txBody>
          <a:bodyPr wrap="square" rtlCol="0" anchor="ctr"/>
          <a:lstStyle/>
          <a:p>
            <a:pPr indent="0" marL="0">
              <a:buNone/>
            </a:pPr>
            <a:r>
              <a:rPr lang="en-US" sz="1200" i="1" dirty="0">
                <a:solidFill>
                  <a:srgbClr val="B8C2D4"/>
                </a:solidFill>
                <a:latin typeface="Calibri" pitchFamily="34" charset="0"/>
                <a:ea typeface="Calibri" pitchFamily="34" charset="-122"/>
                <a:cs typeface="Calibri" pitchFamily="34" charset="-120"/>
              </a:rPr>
              <a:t>Lowest engagement</a:t>
            </a:r>
            <a:endParaRPr lang="en-US" sz="1200" dirty="0"/>
          </a:p>
        </p:txBody>
      </p:sp>
      <p:sp>
        <p:nvSpPr>
          <p:cNvPr id="22" name="Text 20"/>
          <p:cNvSpPr/>
          <p:nvPr/>
        </p:nvSpPr>
        <p:spPr>
          <a:xfrm>
            <a:off x="731520" y="3108960"/>
            <a:ext cx="2286000" cy="45720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Tuesday</a:t>
            </a:r>
            <a:endParaRPr lang="en-US" sz="1600" dirty="0"/>
          </a:p>
        </p:txBody>
      </p:sp>
      <p:sp>
        <p:nvSpPr>
          <p:cNvPr id="23" name="Text 21"/>
          <p:cNvSpPr/>
          <p:nvPr/>
        </p:nvSpPr>
        <p:spPr>
          <a:xfrm>
            <a:off x="3200400" y="3108960"/>
            <a:ext cx="1828800" cy="457200"/>
          </a:xfrm>
          <a:prstGeom prst="rect">
            <a:avLst/>
          </a:prstGeom>
          <a:noFill/>
          <a:ln/>
        </p:spPr>
        <p:txBody>
          <a:bodyPr wrap="square" rtlCol="0" anchor="ctr"/>
          <a:lstStyle/>
          <a:p>
            <a:pPr indent="0" marL="0">
              <a:buNone/>
            </a:pPr>
            <a:r>
              <a:rPr lang="en-US" sz="1400" dirty="0">
                <a:solidFill>
                  <a:srgbClr val="F5F7FA"/>
                </a:solidFill>
                <a:latin typeface="Consolas" pitchFamily="34" charset="0"/>
                <a:ea typeface="Consolas" pitchFamily="34" charset="-122"/>
                <a:cs typeface="Consolas" pitchFamily="34" charset="-120"/>
              </a:rPr>
              <a:t>1,321</a:t>
            </a:r>
            <a:endParaRPr lang="en-US" sz="1400" dirty="0"/>
          </a:p>
        </p:txBody>
      </p:sp>
      <p:sp>
        <p:nvSpPr>
          <p:cNvPr id="24" name="Shape 22"/>
          <p:cNvSpPr/>
          <p:nvPr/>
        </p:nvSpPr>
        <p:spPr>
          <a:xfrm>
            <a:off x="5212080" y="3273552"/>
            <a:ext cx="2472185" cy="164592"/>
          </a:xfrm>
          <a:prstGeom prst="rect">
            <a:avLst/>
          </a:prstGeom>
          <a:solidFill>
            <a:srgbClr val="3B82F6"/>
          </a:solidFill>
          <a:ln/>
        </p:spPr>
      </p:sp>
      <p:sp>
        <p:nvSpPr>
          <p:cNvPr id="25" name="Text 23"/>
          <p:cNvSpPr/>
          <p:nvPr/>
        </p:nvSpPr>
        <p:spPr>
          <a:xfrm>
            <a:off x="7775705" y="3108960"/>
            <a:ext cx="914400" cy="457200"/>
          </a:xfrm>
          <a:prstGeom prst="rect">
            <a:avLst/>
          </a:prstGeom>
          <a:noFill/>
          <a:ln/>
        </p:spPr>
        <p:txBody>
          <a:bodyPr wrap="square" rtlCol="0" anchor="ctr"/>
          <a:lstStyle/>
          <a:p>
            <a:pPr indent="0" marL="0">
              <a:buNone/>
            </a:pPr>
            <a:r>
              <a:rPr lang="en-US" sz="1200" b="1" dirty="0">
                <a:solidFill>
                  <a:srgbClr val="F5F7FA"/>
                </a:solidFill>
                <a:latin typeface="Consolas" pitchFamily="34" charset="0"/>
                <a:ea typeface="Consolas" pitchFamily="34" charset="-122"/>
                <a:cs typeface="Consolas" pitchFamily="34" charset="-120"/>
              </a:rPr>
              <a:t>13.2%</a:t>
            </a:r>
            <a:endParaRPr lang="en-US" sz="1200" dirty="0"/>
          </a:p>
        </p:txBody>
      </p:sp>
      <p:sp>
        <p:nvSpPr>
          <p:cNvPr id="26" name="Text 24"/>
          <p:cNvSpPr/>
          <p:nvPr/>
        </p:nvSpPr>
        <p:spPr>
          <a:xfrm>
            <a:off x="8869680" y="3108960"/>
            <a:ext cx="2743200" cy="457200"/>
          </a:xfrm>
          <a:prstGeom prst="rect">
            <a:avLst/>
          </a:prstGeom>
          <a:noFill/>
          <a:ln/>
        </p:spPr>
        <p:txBody>
          <a:bodyPr wrap="square" rtlCol="0" anchor="ctr"/>
          <a:lstStyle/>
          <a:p>
            <a:pPr indent="0" marL="0">
              <a:buNone/>
            </a:pPr>
            <a:r>
              <a:rPr lang="en-US" sz="1200" i="1" dirty="0">
                <a:solidFill>
                  <a:srgbClr val="B8C2D4"/>
                </a:solidFill>
                <a:latin typeface="Calibri" pitchFamily="34" charset="0"/>
                <a:ea typeface="Calibri" pitchFamily="34" charset="-122"/>
                <a:cs typeface="Calibri" pitchFamily="34" charset="-120"/>
              </a:rPr>
              <a:t>Steady recovery</a:t>
            </a:r>
            <a:endParaRPr lang="en-US" sz="1200" dirty="0"/>
          </a:p>
        </p:txBody>
      </p:sp>
      <p:sp>
        <p:nvSpPr>
          <p:cNvPr id="27" name="Text 25"/>
          <p:cNvSpPr/>
          <p:nvPr/>
        </p:nvSpPr>
        <p:spPr>
          <a:xfrm>
            <a:off x="731520" y="3657600"/>
            <a:ext cx="2286000" cy="45720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Wednesday</a:t>
            </a:r>
            <a:endParaRPr lang="en-US" sz="1600" dirty="0"/>
          </a:p>
        </p:txBody>
      </p:sp>
      <p:sp>
        <p:nvSpPr>
          <p:cNvPr id="28" name="Text 26"/>
          <p:cNvSpPr/>
          <p:nvPr/>
        </p:nvSpPr>
        <p:spPr>
          <a:xfrm>
            <a:off x="3200400" y="3657600"/>
            <a:ext cx="1828800" cy="457200"/>
          </a:xfrm>
          <a:prstGeom prst="rect">
            <a:avLst/>
          </a:prstGeom>
          <a:noFill/>
          <a:ln/>
        </p:spPr>
        <p:txBody>
          <a:bodyPr wrap="square" rtlCol="0" anchor="ctr"/>
          <a:lstStyle/>
          <a:p>
            <a:pPr indent="0" marL="0">
              <a:buNone/>
            </a:pPr>
            <a:r>
              <a:rPr lang="en-US" sz="1400" dirty="0">
                <a:solidFill>
                  <a:srgbClr val="F5F7FA"/>
                </a:solidFill>
                <a:latin typeface="Consolas" pitchFamily="34" charset="0"/>
                <a:ea typeface="Consolas" pitchFamily="34" charset="-122"/>
                <a:cs typeface="Consolas" pitchFamily="34" charset="-120"/>
              </a:rPr>
              <a:t>1,539</a:t>
            </a:r>
            <a:endParaRPr lang="en-US" sz="1400" dirty="0"/>
          </a:p>
        </p:txBody>
      </p:sp>
      <p:sp>
        <p:nvSpPr>
          <p:cNvPr id="29" name="Shape 27"/>
          <p:cNvSpPr/>
          <p:nvPr/>
        </p:nvSpPr>
        <p:spPr>
          <a:xfrm>
            <a:off x="5212080" y="3822192"/>
            <a:ext cx="2884216" cy="164592"/>
          </a:xfrm>
          <a:prstGeom prst="rect">
            <a:avLst/>
          </a:prstGeom>
          <a:solidFill>
            <a:srgbClr val="3B82F6"/>
          </a:solidFill>
          <a:ln/>
        </p:spPr>
      </p:sp>
      <p:sp>
        <p:nvSpPr>
          <p:cNvPr id="30" name="Text 28"/>
          <p:cNvSpPr/>
          <p:nvPr/>
        </p:nvSpPr>
        <p:spPr>
          <a:xfrm>
            <a:off x="8187736" y="3657600"/>
            <a:ext cx="914400" cy="457200"/>
          </a:xfrm>
          <a:prstGeom prst="rect">
            <a:avLst/>
          </a:prstGeom>
          <a:noFill/>
          <a:ln/>
        </p:spPr>
        <p:txBody>
          <a:bodyPr wrap="square" rtlCol="0" anchor="ctr"/>
          <a:lstStyle/>
          <a:p>
            <a:pPr indent="0" marL="0">
              <a:buNone/>
            </a:pPr>
            <a:r>
              <a:rPr lang="en-US" sz="1200" b="1" dirty="0">
                <a:solidFill>
                  <a:srgbClr val="F5F7FA"/>
                </a:solidFill>
                <a:latin typeface="Consolas" pitchFamily="34" charset="0"/>
                <a:ea typeface="Consolas" pitchFamily="34" charset="-122"/>
                <a:cs typeface="Consolas" pitchFamily="34" charset="-120"/>
              </a:rPr>
              <a:t>15.4%</a:t>
            </a:r>
            <a:endParaRPr lang="en-US" sz="1200" dirty="0"/>
          </a:p>
        </p:txBody>
      </p:sp>
      <p:sp>
        <p:nvSpPr>
          <p:cNvPr id="31" name="Text 29"/>
          <p:cNvSpPr/>
          <p:nvPr/>
        </p:nvSpPr>
        <p:spPr>
          <a:xfrm>
            <a:off x="8869680" y="3657600"/>
            <a:ext cx="2743200" cy="457200"/>
          </a:xfrm>
          <a:prstGeom prst="rect">
            <a:avLst/>
          </a:prstGeom>
          <a:noFill/>
          <a:ln/>
        </p:spPr>
        <p:txBody>
          <a:bodyPr wrap="square" rtlCol="0" anchor="ctr"/>
          <a:lstStyle/>
          <a:p>
            <a:pPr indent="0" marL="0">
              <a:buNone/>
            </a:pPr>
            <a:r>
              <a:rPr lang="en-US" sz="1200" i="1" dirty="0">
                <a:solidFill>
                  <a:srgbClr val="B8C2D4"/>
                </a:solidFill>
                <a:latin typeface="Calibri" pitchFamily="34" charset="0"/>
                <a:ea typeface="Calibri" pitchFamily="34" charset="-122"/>
                <a:cs typeface="Calibri" pitchFamily="34" charset="-120"/>
              </a:rPr>
              <a:t>Midweek growth</a:t>
            </a:r>
            <a:endParaRPr lang="en-US" sz="1200" dirty="0"/>
          </a:p>
        </p:txBody>
      </p:sp>
      <p:sp>
        <p:nvSpPr>
          <p:cNvPr id="32" name="Text 30"/>
          <p:cNvSpPr/>
          <p:nvPr/>
        </p:nvSpPr>
        <p:spPr>
          <a:xfrm>
            <a:off x="731520" y="4206240"/>
            <a:ext cx="2286000" cy="45720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Thursday</a:t>
            </a:r>
            <a:endParaRPr lang="en-US" sz="1600" dirty="0"/>
          </a:p>
        </p:txBody>
      </p:sp>
      <p:sp>
        <p:nvSpPr>
          <p:cNvPr id="33" name="Text 31"/>
          <p:cNvSpPr/>
          <p:nvPr/>
        </p:nvSpPr>
        <p:spPr>
          <a:xfrm>
            <a:off x="3200400" y="4206240"/>
            <a:ext cx="1828800" cy="457200"/>
          </a:xfrm>
          <a:prstGeom prst="rect">
            <a:avLst/>
          </a:prstGeom>
          <a:noFill/>
          <a:ln/>
        </p:spPr>
        <p:txBody>
          <a:bodyPr wrap="square" rtlCol="0" anchor="ctr"/>
          <a:lstStyle/>
          <a:p>
            <a:pPr indent="0" marL="0">
              <a:buNone/>
            </a:pPr>
            <a:r>
              <a:rPr lang="en-US" sz="1400" dirty="0">
                <a:solidFill>
                  <a:srgbClr val="F5F7FA"/>
                </a:solidFill>
                <a:latin typeface="Consolas" pitchFamily="34" charset="0"/>
                <a:ea typeface="Consolas" pitchFamily="34" charset="-122"/>
                <a:cs typeface="Consolas" pitchFamily="34" charset="-120"/>
              </a:rPr>
              <a:t>1,471</a:t>
            </a:r>
            <a:endParaRPr lang="en-US" sz="1400" dirty="0"/>
          </a:p>
        </p:txBody>
      </p:sp>
      <p:sp>
        <p:nvSpPr>
          <p:cNvPr id="34" name="Shape 32"/>
          <p:cNvSpPr/>
          <p:nvPr/>
        </p:nvSpPr>
        <p:spPr>
          <a:xfrm>
            <a:off x="5212080" y="4370832"/>
            <a:ext cx="2753115" cy="164592"/>
          </a:xfrm>
          <a:prstGeom prst="rect">
            <a:avLst/>
          </a:prstGeom>
          <a:solidFill>
            <a:srgbClr val="3B82F6"/>
          </a:solidFill>
          <a:ln/>
        </p:spPr>
      </p:sp>
      <p:sp>
        <p:nvSpPr>
          <p:cNvPr id="35" name="Text 33"/>
          <p:cNvSpPr/>
          <p:nvPr/>
        </p:nvSpPr>
        <p:spPr>
          <a:xfrm>
            <a:off x="8056635" y="4206240"/>
            <a:ext cx="914400" cy="457200"/>
          </a:xfrm>
          <a:prstGeom prst="rect">
            <a:avLst/>
          </a:prstGeom>
          <a:noFill/>
          <a:ln/>
        </p:spPr>
        <p:txBody>
          <a:bodyPr wrap="square" rtlCol="0" anchor="ctr"/>
          <a:lstStyle/>
          <a:p>
            <a:pPr indent="0" marL="0">
              <a:buNone/>
            </a:pPr>
            <a:r>
              <a:rPr lang="en-US" sz="1200" b="1" dirty="0">
                <a:solidFill>
                  <a:srgbClr val="F5F7FA"/>
                </a:solidFill>
                <a:latin typeface="Consolas" pitchFamily="34" charset="0"/>
                <a:ea typeface="Consolas" pitchFamily="34" charset="-122"/>
                <a:cs typeface="Consolas" pitchFamily="34" charset="-120"/>
              </a:rPr>
              <a:t>14.7%</a:t>
            </a:r>
            <a:endParaRPr lang="en-US" sz="1200" dirty="0"/>
          </a:p>
        </p:txBody>
      </p:sp>
      <p:sp>
        <p:nvSpPr>
          <p:cNvPr id="36" name="Text 34"/>
          <p:cNvSpPr/>
          <p:nvPr/>
        </p:nvSpPr>
        <p:spPr>
          <a:xfrm>
            <a:off x="8869680" y="4206240"/>
            <a:ext cx="2743200" cy="457200"/>
          </a:xfrm>
          <a:prstGeom prst="rect">
            <a:avLst/>
          </a:prstGeom>
          <a:noFill/>
          <a:ln/>
        </p:spPr>
        <p:txBody>
          <a:bodyPr wrap="square" rtlCol="0" anchor="ctr"/>
          <a:lstStyle/>
          <a:p>
            <a:pPr indent="0" marL="0">
              <a:buNone/>
            </a:pPr>
            <a:r>
              <a:rPr lang="en-US" sz="1200" i="1" dirty="0">
                <a:solidFill>
                  <a:srgbClr val="B8C2D4"/>
                </a:solidFill>
                <a:latin typeface="Calibri" pitchFamily="34" charset="0"/>
                <a:ea typeface="Calibri" pitchFamily="34" charset="-122"/>
                <a:cs typeface="Calibri" pitchFamily="34" charset="-120"/>
              </a:rPr>
              <a:t>Strong consistency</a:t>
            </a:r>
            <a:endParaRPr lang="en-US" sz="1200" dirty="0"/>
          </a:p>
        </p:txBody>
      </p:sp>
      <p:sp>
        <p:nvSpPr>
          <p:cNvPr id="37" name="Text 35"/>
          <p:cNvSpPr/>
          <p:nvPr/>
        </p:nvSpPr>
        <p:spPr>
          <a:xfrm>
            <a:off x="731520" y="4754880"/>
            <a:ext cx="2286000" cy="457200"/>
          </a:xfrm>
          <a:prstGeom prst="rect">
            <a:avLst/>
          </a:prstGeom>
          <a:noFill/>
          <a:ln/>
        </p:spPr>
        <p:txBody>
          <a:bodyPr wrap="square" rtlCol="0" anchor="ctr"/>
          <a:lstStyle/>
          <a:p>
            <a:pPr indent="0" marL="0">
              <a:buNone/>
            </a:pPr>
            <a:r>
              <a:rPr lang="en-US" sz="1600" b="1" dirty="0">
                <a:solidFill>
                  <a:srgbClr val="F59E0B"/>
                </a:solidFill>
                <a:latin typeface="Georgia" pitchFamily="34" charset="0"/>
                <a:ea typeface="Georgia" pitchFamily="34" charset="-122"/>
                <a:cs typeface="Georgia" pitchFamily="34" charset="-120"/>
              </a:rPr>
              <a:t>Friday</a:t>
            </a:r>
            <a:endParaRPr lang="en-US" sz="1600" dirty="0"/>
          </a:p>
        </p:txBody>
      </p:sp>
      <p:sp>
        <p:nvSpPr>
          <p:cNvPr id="38" name="Text 36"/>
          <p:cNvSpPr/>
          <p:nvPr/>
        </p:nvSpPr>
        <p:spPr>
          <a:xfrm>
            <a:off x="3200400" y="4754880"/>
            <a:ext cx="1828800" cy="457200"/>
          </a:xfrm>
          <a:prstGeom prst="rect">
            <a:avLst/>
          </a:prstGeom>
          <a:noFill/>
          <a:ln/>
        </p:spPr>
        <p:txBody>
          <a:bodyPr wrap="square" rtlCol="0" anchor="ctr"/>
          <a:lstStyle/>
          <a:p>
            <a:pPr indent="0" marL="0">
              <a:buNone/>
            </a:pPr>
            <a:r>
              <a:rPr lang="en-US" sz="1400" dirty="0">
                <a:solidFill>
                  <a:srgbClr val="F5F7FA"/>
                </a:solidFill>
                <a:latin typeface="Consolas" pitchFamily="34" charset="0"/>
                <a:ea typeface="Consolas" pitchFamily="34" charset="-122"/>
                <a:cs typeface="Consolas" pitchFamily="34" charset="-120"/>
              </a:rPr>
              <a:t>1,642</a:t>
            </a:r>
            <a:endParaRPr lang="en-US" sz="1400" dirty="0"/>
          </a:p>
        </p:txBody>
      </p:sp>
      <p:sp>
        <p:nvSpPr>
          <p:cNvPr id="39" name="Shape 37"/>
          <p:cNvSpPr/>
          <p:nvPr/>
        </p:nvSpPr>
        <p:spPr>
          <a:xfrm>
            <a:off x="5212080" y="4919472"/>
            <a:ext cx="3071503" cy="164592"/>
          </a:xfrm>
          <a:prstGeom prst="rect">
            <a:avLst/>
          </a:prstGeom>
          <a:solidFill>
            <a:srgbClr val="F59E0B"/>
          </a:solidFill>
          <a:ln/>
        </p:spPr>
      </p:sp>
      <p:sp>
        <p:nvSpPr>
          <p:cNvPr id="40" name="Text 38"/>
          <p:cNvSpPr/>
          <p:nvPr/>
        </p:nvSpPr>
        <p:spPr>
          <a:xfrm>
            <a:off x="8375023" y="4754880"/>
            <a:ext cx="914400" cy="457200"/>
          </a:xfrm>
          <a:prstGeom prst="rect">
            <a:avLst/>
          </a:prstGeom>
          <a:noFill/>
          <a:ln/>
        </p:spPr>
        <p:txBody>
          <a:bodyPr wrap="square" rtlCol="0" anchor="ctr"/>
          <a:lstStyle/>
          <a:p>
            <a:pPr indent="0" marL="0">
              <a:buNone/>
            </a:pPr>
            <a:r>
              <a:rPr lang="en-US" sz="1200" b="1" dirty="0">
                <a:solidFill>
                  <a:srgbClr val="F5F7FA"/>
                </a:solidFill>
                <a:latin typeface="Consolas" pitchFamily="34" charset="0"/>
                <a:ea typeface="Consolas" pitchFamily="34" charset="-122"/>
                <a:cs typeface="Consolas" pitchFamily="34" charset="-120"/>
              </a:rPr>
              <a:t>16.4%</a:t>
            </a:r>
            <a:endParaRPr lang="en-US" sz="1200" dirty="0"/>
          </a:p>
        </p:txBody>
      </p:sp>
      <p:sp>
        <p:nvSpPr>
          <p:cNvPr id="41" name="Text 39"/>
          <p:cNvSpPr/>
          <p:nvPr/>
        </p:nvSpPr>
        <p:spPr>
          <a:xfrm>
            <a:off x="8869680" y="4754880"/>
            <a:ext cx="2743200" cy="457200"/>
          </a:xfrm>
          <a:prstGeom prst="rect">
            <a:avLst/>
          </a:prstGeom>
          <a:noFill/>
          <a:ln/>
        </p:spPr>
        <p:txBody>
          <a:bodyPr wrap="square" rtlCol="0" anchor="ctr"/>
          <a:lstStyle/>
          <a:p>
            <a:pPr indent="0" marL="0">
              <a:buNone/>
            </a:pPr>
            <a:r>
              <a:rPr lang="en-US" sz="1200" i="1" dirty="0">
                <a:solidFill>
                  <a:srgbClr val="B8C2D4"/>
                </a:solidFill>
                <a:latin typeface="Calibri" pitchFamily="34" charset="0"/>
                <a:ea typeface="Calibri" pitchFamily="34" charset="-122"/>
                <a:cs typeface="Calibri" pitchFamily="34" charset="-120"/>
              </a:rPr>
              <a:t>End-of-week spike</a:t>
            </a:r>
            <a:endParaRPr lang="en-US" sz="1200" dirty="0"/>
          </a:p>
        </p:txBody>
      </p:sp>
      <p:sp>
        <p:nvSpPr>
          <p:cNvPr id="42" name="Text 40"/>
          <p:cNvSpPr/>
          <p:nvPr/>
        </p:nvSpPr>
        <p:spPr>
          <a:xfrm>
            <a:off x="731520" y="5303520"/>
            <a:ext cx="2286000" cy="457200"/>
          </a:xfrm>
          <a:prstGeom prst="rect">
            <a:avLst/>
          </a:prstGeom>
          <a:noFill/>
          <a:ln/>
        </p:spPr>
        <p:txBody>
          <a:bodyPr wrap="square" rtlCol="0" anchor="ctr"/>
          <a:lstStyle/>
          <a:p>
            <a:pPr indent="0" marL="0">
              <a:buNone/>
            </a:pPr>
            <a:r>
              <a:rPr lang="en-US" sz="1600" b="1" dirty="0">
                <a:solidFill>
                  <a:srgbClr val="F59E0B"/>
                </a:solidFill>
                <a:latin typeface="Georgia" pitchFamily="34" charset="0"/>
                <a:ea typeface="Georgia" pitchFamily="34" charset="-122"/>
                <a:cs typeface="Georgia" pitchFamily="34" charset="-120"/>
              </a:rPr>
              <a:t>Saturday</a:t>
            </a:r>
            <a:endParaRPr lang="en-US" sz="1600" dirty="0"/>
          </a:p>
        </p:txBody>
      </p:sp>
      <p:sp>
        <p:nvSpPr>
          <p:cNvPr id="43" name="Text 41"/>
          <p:cNvSpPr/>
          <p:nvPr/>
        </p:nvSpPr>
        <p:spPr>
          <a:xfrm>
            <a:off x="3200400" y="5303520"/>
            <a:ext cx="1828800" cy="457200"/>
          </a:xfrm>
          <a:prstGeom prst="rect">
            <a:avLst/>
          </a:prstGeom>
          <a:noFill/>
          <a:ln/>
        </p:spPr>
        <p:txBody>
          <a:bodyPr wrap="square" rtlCol="0" anchor="ctr"/>
          <a:lstStyle/>
          <a:p>
            <a:pPr indent="0" marL="0">
              <a:buNone/>
            </a:pPr>
            <a:r>
              <a:rPr lang="en-US" sz="1400" dirty="0">
                <a:solidFill>
                  <a:srgbClr val="F5F7FA"/>
                </a:solidFill>
                <a:latin typeface="Consolas" pitchFamily="34" charset="0"/>
                <a:ea typeface="Consolas" pitchFamily="34" charset="-122"/>
                <a:cs typeface="Consolas" pitchFamily="34" charset="-120"/>
              </a:rPr>
              <a:t>1,655</a:t>
            </a:r>
            <a:endParaRPr lang="en-US" sz="1400" dirty="0"/>
          </a:p>
        </p:txBody>
      </p:sp>
      <p:sp>
        <p:nvSpPr>
          <p:cNvPr id="44" name="Shape 42"/>
          <p:cNvSpPr/>
          <p:nvPr/>
        </p:nvSpPr>
        <p:spPr>
          <a:xfrm>
            <a:off x="5212080" y="5468112"/>
            <a:ext cx="3108960" cy="164592"/>
          </a:xfrm>
          <a:prstGeom prst="rect">
            <a:avLst/>
          </a:prstGeom>
          <a:solidFill>
            <a:srgbClr val="F59E0B"/>
          </a:solidFill>
          <a:ln/>
        </p:spPr>
      </p:sp>
      <p:sp>
        <p:nvSpPr>
          <p:cNvPr id="45" name="Text 43"/>
          <p:cNvSpPr/>
          <p:nvPr/>
        </p:nvSpPr>
        <p:spPr>
          <a:xfrm>
            <a:off x="8412480" y="5303520"/>
            <a:ext cx="914400" cy="457200"/>
          </a:xfrm>
          <a:prstGeom prst="rect">
            <a:avLst/>
          </a:prstGeom>
          <a:noFill/>
          <a:ln/>
        </p:spPr>
        <p:txBody>
          <a:bodyPr wrap="square" rtlCol="0" anchor="ctr"/>
          <a:lstStyle/>
          <a:p>
            <a:pPr indent="0" marL="0">
              <a:buNone/>
            </a:pPr>
            <a:r>
              <a:rPr lang="en-US" sz="1200" b="1" dirty="0">
                <a:solidFill>
                  <a:srgbClr val="F5F7FA"/>
                </a:solidFill>
                <a:latin typeface="Consolas" pitchFamily="34" charset="0"/>
                <a:ea typeface="Consolas" pitchFamily="34" charset="-122"/>
                <a:cs typeface="Consolas" pitchFamily="34" charset="-120"/>
              </a:rPr>
              <a:t>16.6%</a:t>
            </a:r>
            <a:endParaRPr lang="en-US" sz="1200" dirty="0"/>
          </a:p>
        </p:txBody>
      </p:sp>
      <p:sp>
        <p:nvSpPr>
          <p:cNvPr id="46" name="Text 44"/>
          <p:cNvSpPr/>
          <p:nvPr/>
        </p:nvSpPr>
        <p:spPr>
          <a:xfrm>
            <a:off x="8869680" y="5303520"/>
            <a:ext cx="2743200" cy="457200"/>
          </a:xfrm>
          <a:prstGeom prst="rect">
            <a:avLst/>
          </a:prstGeom>
          <a:noFill/>
          <a:ln/>
        </p:spPr>
        <p:txBody>
          <a:bodyPr wrap="square" rtlCol="0" anchor="ctr"/>
          <a:lstStyle/>
          <a:p>
            <a:pPr indent="0" marL="0">
              <a:buNone/>
            </a:pPr>
            <a:r>
              <a:rPr lang="en-US" sz="1200" i="1" dirty="0">
                <a:solidFill>
                  <a:srgbClr val="B8C2D4"/>
                </a:solidFill>
                <a:latin typeface="Calibri" pitchFamily="34" charset="0"/>
                <a:ea typeface="Calibri" pitchFamily="34" charset="-122"/>
                <a:cs typeface="Calibri" pitchFamily="34" charset="-120"/>
              </a:rPr>
              <a:t>Peak viewing day</a:t>
            </a:r>
            <a:endParaRPr lang="en-US" sz="1200" dirty="0"/>
          </a:p>
        </p:txBody>
      </p:sp>
      <p:sp>
        <p:nvSpPr>
          <p:cNvPr id="47" name="Text 45"/>
          <p:cNvSpPr/>
          <p:nvPr/>
        </p:nvSpPr>
        <p:spPr>
          <a:xfrm>
            <a:off x="731520" y="5852160"/>
            <a:ext cx="2286000" cy="45720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Sunday</a:t>
            </a:r>
            <a:endParaRPr lang="en-US" sz="1600" dirty="0"/>
          </a:p>
        </p:txBody>
      </p:sp>
      <p:sp>
        <p:nvSpPr>
          <p:cNvPr id="48" name="Text 46"/>
          <p:cNvSpPr/>
          <p:nvPr/>
        </p:nvSpPr>
        <p:spPr>
          <a:xfrm>
            <a:off x="3200400" y="5852160"/>
            <a:ext cx="1828800" cy="457200"/>
          </a:xfrm>
          <a:prstGeom prst="rect">
            <a:avLst/>
          </a:prstGeom>
          <a:noFill/>
          <a:ln/>
        </p:spPr>
        <p:txBody>
          <a:bodyPr wrap="square" rtlCol="0" anchor="ctr"/>
          <a:lstStyle/>
          <a:p>
            <a:pPr indent="0" marL="0">
              <a:buNone/>
            </a:pPr>
            <a:r>
              <a:rPr lang="en-US" sz="1400" dirty="0">
                <a:solidFill>
                  <a:srgbClr val="F5F7FA"/>
                </a:solidFill>
                <a:latin typeface="Consolas" pitchFamily="34" charset="0"/>
                <a:ea typeface="Consolas" pitchFamily="34" charset="-122"/>
                <a:cs typeface="Consolas" pitchFamily="34" charset="-120"/>
              </a:rPr>
              <a:t>1,398</a:t>
            </a:r>
            <a:endParaRPr lang="en-US" sz="1400" dirty="0"/>
          </a:p>
        </p:txBody>
      </p:sp>
      <p:sp>
        <p:nvSpPr>
          <p:cNvPr id="49" name="Shape 47"/>
          <p:cNvSpPr/>
          <p:nvPr/>
        </p:nvSpPr>
        <p:spPr>
          <a:xfrm>
            <a:off x="5212080" y="6016752"/>
            <a:ext cx="2622014" cy="164592"/>
          </a:xfrm>
          <a:prstGeom prst="rect">
            <a:avLst/>
          </a:prstGeom>
          <a:solidFill>
            <a:srgbClr val="3B82F6"/>
          </a:solidFill>
          <a:ln/>
        </p:spPr>
      </p:sp>
      <p:sp>
        <p:nvSpPr>
          <p:cNvPr id="50" name="Text 48"/>
          <p:cNvSpPr/>
          <p:nvPr/>
        </p:nvSpPr>
        <p:spPr>
          <a:xfrm>
            <a:off x="7925534" y="5852160"/>
            <a:ext cx="914400" cy="457200"/>
          </a:xfrm>
          <a:prstGeom prst="rect">
            <a:avLst/>
          </a:prstGeom>
          <a:noFill/>
          <a:ln/>
        </p:spPr>
        <p:txBody>
          <a:bodyPr wrap="square" rtlCol="0" anchor="ctr"/>
          <a:lstStyle/>
          <a:p>
            <a:pPr indent="0" marL="0">
              <a:buNone/>
            </a:pPr>
            <a:r>
              <a:rPr lang="en-US" sz="1200" b="1" dirty="0">
                <a:solidFill>
                  <a:srgbClr val="F5F7FA"/>
                </a:solidFill>
                <a:latin typeface="Consolas" pitchFamily="34" charset="0"/>
                <a:ea typeface="Consolas" pitchFamily="34" charset="-122"/>
                <a:cs typeface="Consolas" pitchFamily="34" charset="-120"/>
              </a:rPr>
              <a:t>14%</a:t>
            </a:r>
            <a:endParaRPr lang="en-US" sz="1200" dirty="0"/>
          </a:p>
        </p:txBody>
      </p:sp>
      <p:sp>
        <p:nvSpPr>
          <p:cNvPr id="51" name="Text 49"/>
          <p:cNvSpPr/>
          <p:nvPr/>
        </p:nvSpPr>
        <p:spPr>
          <a:xfrm>
            <a:off x="8869680" y="5852160"/>
            <a:ext cx="2743200" cy="457200"/>
          </a:xfrm>
          <a:prstGeom prst="rect">
            <a:avLst/>
          </a:prstGeom>
          <a:noFill/>
          <a:ln/>
        </p:spPr>
        <p:txBody>
          <a:bodyPr wrap="square" rtlCol="0" anchor="ctr"/>
          <a:lstStyle/>
          <a:p>
            <a:pPr indent="0" marL="0">
              <a:buNone/>
            </a:pPr>
            <a:r>
              <a:rPr lang="en-US" sz="1200" i="1" dirty="0">
                <a:solidFill>
                  <a:srgbClr val="B8C2D4"/>
                </a:solidFill>
                <a:latin typeface="Calibri" pitchFamily="34" charset="0"/>
                <a:ea typeface="Calibri" pitchFamily="34" charset="-122"/>
                <a:cs typeface="Calibri" pitchFamily="34" charset="-120"/>
              </a:rPr>
              <a:t>Family viewing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14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03</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AUDIENCE &amp; VIEWERSHIP</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The week builds toward the weekend.</a:t>
            </a:r>
            <a:endParaRPr lang="en-US" sz="3600" dirty="0"/>
          </a:p>
        </p:txBody>
      </p:sp>
      <p:sp>
        <p:nvSpPr>
          <p:cNvPr id="11" name="Text 9"/>
          <p:cNvSpPr/>
          <p:nvPr/>
        </p:nvSpPr>
        <p:spPr>
          <a:xfrm>
            <a:off x="457200" y="1828800"/>
            <a:ext cx="6858000" cy="1463040"/>
          </a:xfrm>
          <a:prstGeom prst="rect">
            <a:avLst/>
          </a:prstGeom>
          <a:noFill/>
          <a:ln/>
        </p:spPr>
        <p:txBody>
          <a:bodyPr wrap="square" rtlCol="0" anchor="ctr"/>
          <a:lstStyle/>
          <a:p>
            <a:pPr indent="0" marL="0">
              <a:buNone/>
            </a:pPr>
            <a:r>
              <a:rPr lang="en-US" sz="1600" dirty="0">
                <a:solidFill>
                  <a:srgbClr val="B8C2D4"/>
                </a:solidFill>
                <a:latin typeface="Calibri" pitchFamily="34" charset="0"/>
                <a:ea typeface="Calibri" pitchFamily="34" charset="-122"/>
                <a:cs typeface="Calibri" pitchFamily="34" charset="-120"/>
              </a:rPr>
              <a:t>Engagement builds steadily Monday → Saturday. Midweek (Wed/Thu) anchors routine viewing; the Fri–Sat peak is the most valuable two‑day window of the calendar.</a:t>
            </a:r>
            <a:endParaRPr lang="en-US" sz="1600" dirty="0"/>
          </a:p>
        </p:txBody>
      </p:sp>
      <p:sp>
        <p:nvSpPr>
          <p:cNvPr id="12" name="Text 10"/>
          <p:cNvSpPr/>
          <p:nvPr/>
        </p:nvSpPr>
        <p:spPr>
          <a:xfrm>
            <a:off x="457200" y="3749040"/>
            <a:ext cx="6858000" cy="2286000"/>
          </a:xfrm>
          <a:prstGeom prst="rect">
            <a:avLst/>
          </a:prstGeom>
          <a:noFill/>
          <a:ln/>
        </p:spPr>
        <p:txBody>
          <a:bodyPr wrap="square" rtlCol="0" anchor="ctr"/>
          <a:lstStyle/>
          <a:p>
            <a:pPr indent="0" marL="0">
              <a:buNone/>
            </a:pPr>
            <a:r>
              <a:rPr lang="en-US" sz="1400" i="1" dirty="0">
                <a:solidFill>
                  <a:srgbClr val="F5F7FA"/>
                </a:solidFill>
                <a:latin typeface="Calibri" pitchFamily="34" charset="0"/>
                <a:ea typeface="Calibri" pitchFamily="34" charset="-122"/>
                <a:cs typeface="Calibri" pitchFamily="34" charset="-120"/>
              </a:rPr>
              <a:t>Sunday remains solid — family‑oriented and leisure viewing. Maintain reliable weekday programming; reserve premium, high‑impact content for the weekend to maximise reach and revenue.</a:t>
            </a:r>
            <a:endParaRPr lang="en-US" sz="1400" dirty="0"/>
          </a:p>
        </p:txBody>
      </p:sp>
      <p:sp>
        <p:nvSpPr>
          <p:cNvPr id="13" name="Shape 11"/>
          <p:cNvSpPr/>
          <p:nvPr/>
        </p:nvSpPr>
        <p:spPr>
          <a:xfrm>
            <a:off x="7772400" y="1828800"/>
            <a:ext cx="3931920" cy="1280160"/>
          </a:xfrm>
          <a:prstGeom prst="rect">
            <a:avLst/>
          </a:prstGeom>
          <a:solidFill>
            <a:srgbClr val="1A2236"/>
          </a:solidFill>
          <a:ln w="9525">
            <a:solidFill>
              <a:srgbClr val="2A3650"/>
            </a:solidFill>
            <a:prstDash val="solid"/>
          </a:ln>
        </p:spPr>
      </p:sp>
      <p:sp>
        <p:nvSpPr>
          <p:cNvPr id="14" name="Shape 12"/>
          <p:cNvSpPr/>
          <p:nvPr/>
        </p:nvSpPr>
        <p:spPr>
          <a:xfrm>
            <a:off x="7772400" y="1828800"/>
            <a:ext cx="73152" cy="1280160"/>
          </a:xfrm>
          <a:prstGeom prst="rect">
            <a:avLst/>
          </a:prstGeom>
          <a:solidFill>
            <a:srgbClr val="F59E0B"/>
          </a:solidFill>
          <a:ln/>
        </p:spPr>
      </p:sp>
      <p:sp>
        <p:nvSpPr>
          <p:cNvPr id="15" name="Text 13"/>
          <p:cNvSpPr/>
          <p:nvPr/>
        </p:nvSpPr>
        <p:spPr>
          <a:xfrm>
            <a:off x="7955280" y="1965960"/>
            <a:ext cx="1371600" cy="365760"/>
          </a:xfrm>
          <a:prstGeom prst="rect">
            <a:avLst/>
          </a:prstGeom>
          <a:noFill/>
          <a:ln/>
        </p:spPr>
        <p:txBody>
          <a:bodyPr wrap="square" rtlCol="0" anchor="ctr"/>
          <a:lstStyle/>
          <a:p>
            <a:pPr indent="0" marL="0">
              <a:buNone/>
            </a:pPr>
            <a:r>
              <a:rPr lang="en-US" sz="1100" b="1" spc="400" kern="0" dirty="0">
                <a:solidFill>
                  <a:srgbClr val="F59E0B"/>
                </a:solidFill>
                <a:latin typeface="Consolas" pitchFamily="34" charset="0"/>
                <a:ea typeface="Consolas" pitchFamily="34" charset="-122"/>
                <a:cs typeface="Consolas" pitchFamily="34" charset="-120"/>
              </a:rPr>
              <a:t>SAT</a:t>
            </a:r>
            <a:endParaRPr lang="en-US" sz="1100" dirty="0"/>
          </a:p>
        </p:txBody>
      </p:sp>
      <p:sp>
        <p:nvSpPr>
          <p:cNvPr id="16" name="Text 14"/>
          <p:cNvSpPr/>
          <p:nvPr/>
        </p:nvSpPr>
        <p:spPr>
          <a:xfrm>
            <a:off x="7955280" y="2286000"/>
            <a:ext cx="3657600" cy="822960"/>
          </a:xfrm>
          <a:prstGeom prst="rect">
            <a:avLst/>
          </a:prstGeom>
          <a:noFill/>
          <a:ln/>
        </p:spPr>
        <p:txBody>
          <a:bodyPr wrap="square" rtlCol="0" anchor="ctr"/>
          <a:lstStyle/>
          <a:p>
            <a:pPr indent="0" marL="0">
              <a:buNone/>
            </a:pPr>
            <a:r>
              <a:rPr lang="en-US" sz="4400" b="1" dirty="0">
                <a:solidFill>
                  <a:srgbClr val="F5F7FA"/>
                </a:solidFill>
                <a:latin typeface="Georgia" pitchFamily="34" charset="0"/>
                <a:ea typeface="Georgia" pitchFamily="34" charset="-122"/>
                <a:cs typeface="Georgia" pitchFamily="34" charset="-120"/>
              </a:rPr>
              <a:t>16.6%</a:t>
            </a:r>
            <a:endParaRPr lang="en-US" sz="4400" dirty="0"/>
          </a:p>
        </p:txBody>
      </p:sp>
      <p:sp>
        <p:nvSpPr>
          <p:cNvPr id="17" name="Shape 15"/>
          <p:cNvSpPr/>
          <p:nvPr/>
        </p:nvSpPr>
        <p:spPr>
          <a:xfrm>
            <a:off x="7772400" y="3383280"/>
            <a:ext cx="3931920" cy="1280160"/>
          </a:xfrm>
          <a:prstGeom prst="rect">
            <a:avLst/>
          </a:prstGeom>
          <a:solidFill>
            <a:srgbClr val="1A2236"/>
          </a:solidFill>
          <a:ln w="9525">
            <a:solidFill>
              <a:srgbClr val="2A3650"/>
            </a:solidFill>
            <a:prstDash val="solid"/>
          </a:ln>
        </p:spPr>
      </p:sp>
      <p:sp>
        <p:nvSpPr>
          <p:cNvPr id="18" name="Shape 16"/>
          <p:cNvSpPr/>
          <p:nvPr/>
        </p:nvSpPr>
        <p:spPr>
          <a:xfrm>
            <a:off x="7772400" y="3383280"/>
            <a:ext cx="73152" cy="1280160"/>
          </a:xfrm>
          <a:prstGeom prst="rect">
            <a:avLst/>
          </a:prstGeom>
          <a:solidFill>
            <a:srgbClr val="F59E0B"/>
          </a:solidFill>
          <a:ln/>
        </p:spPr>
      </p:sp>
      <p:sp>
        <p:nvSpPr>
          <p:cNvPr id="19" name="Text 17"/>
          <p:cNvSpPr/>
          <p:nvPr/>
        </p:nvSpPr>
        <p:spPr>
          <a:xfrm>
            <a:off x="7955280" y="3520440"/>
            <a:ext cx="1371600" cy="365760"/>
          </a:xfrm>
          <a:prstGeom prst="rect">
            <a:avLst/>
          </a:prstGeom>
          <a:noFill/>
          <a:ln/>
        </p:spPr>
        <p:txBody>
          <a:bodyPr wrap="square" rtlCol="0" anchor="ctr"/>
          <a:lstStyle/>
          <a:p>
            <a:pPr indent="0" marL="0">
              <a:buNone/>
            </a:pPr>
            <a:r>
              <a:rPr lang="en-US" sz="1100" b="1" spc="400" kern="0" dirty="0">
                <a:solidFill>
                  <a:srgbClr val="F59E0B"/>
                </a:solidFill>
                <a:latin typeface="Consolas" pitchFamily="34" charset="0"/>
                <a:ea typeface="Consolas" pitchFamily="34" charset="-122"/>
                <a:cs typeface="Consolas" pitchFamily="34" charset="-120"/>
              </a:rPr>
              <a:t>FRI</a:t>
            </a:r>
            <a:endParaRPr lang="en-US" sz="1100" dirty="0"/>
          </a:p>
        </p:txBody>
      </p:sp>
      <p:sp>
        <p:nvSpPr>
          <p:cNvPr id="20" name="Text 18"/>
          <p:cNvSpPr/>
          <p:nvPr/>
        </p:nvSpPr>
        <p:spPr>
          <a:xfrm>
            <a:off x="7955280" y="3840480"/>
            <a:ext cx="3657600" cy="822960"/>
          </a:xfrm>
          <a:prstGeom prst="rect">
            <a:avLst/>
          </a:prstGeom>
          <a:noFill/>
          <a:ln/>
        </p:spPr>
        <p:txBody>
          <a:bodyPr wrap="square" rtlCol="0" anchor="ctr"/>
          <a:lstStyle/>
          <a:p>
            <a:pPr indent="0" marL="0">
              <a:buNone/>
            </a:pPr>
            <a:r>
              <a:rPr lang="en-US" sz="4400" b="1" dirty="0">
                <a:solidFill>
                  <a:srgbClr val="F5F7FA"/>
                </a:solidFill>
                <a:latin typeface="Georgia" pitchFamily="34" charset="0"/>
                <a:ea typeface="Georgia" pitchFamily="34" charset="-122"/>
                <a:cs typeface="Georgia" pitchFamily="34" charset="-120"/>
              </a:rPr>
              <a:t>16.4%</a:t>
            </a:r>
            <a:endParaRPr lang="en-US" sz="4400" dirty="0"/>
          </a:p>
        </p:txBody>
      </p:sp>
      <p:sp>
        <p:nvSpPr>
          <p:cNvPr id="21" name="Shape 19"/>
          <p:cNvSpPr/>
          <p:nvPr/>
        </p:nvSpPr>
        <p:spPr>
          <a:xfrm>
            <a:off x="7772400" y="4937760"/>
            <a:ext cx="3931920" cy="1280160"/>
          </a:xfrm>
          <a:prstGeom prst="rect">
            <a:avLst/>
          </a:prstGeom>
          <a:solidFill>
            <a:srgbClr val="1A2236"/>
          </a:solidFill>
          <a:ln w="9525">
            <a:solidFill>
              <a:srgbClr val="2A3650"/>
            </a:solidFill>
            <a:prstDash val="solid"/>
          </a:ln>
        </p:spPr>
      </p:sp>
      <p:sp>
        <p:nvSpPr>
          <p:cNvPr id="22" name="Shape 20"/>
          <p:cNvSpPr/>
          <p:nvPr/>
        </p:nvSpPr>
        <p:spPr>
          <a:xfrm>
            <a:off x="7772400" y="4937760"/>
            <a:ext cx="73152" cy="1280160"/>
          </a:xfrm>
          <a:prstGeom prst="rect">
            <a:avLst/>
          </a:prstGeom>
          <a:solidFill>
            <a:srgbClr val="E11D48"/>
          </a:solidFill>
          <a:ln/>
        </p:spPr>
      </p:sp>
      <p:sp>
        <p:nvSpPr>
          <p:cNvPr id="23" name="Text 21"/>
          <p:cNvSpPr/>
          <p:nvPr/>
        </p:nvSpPr>
        <p:spPr>
          <a:xfrm>
            <a:off x="7955280" y="5074920"/>
            <a:ext cx="1371600" cy="365760"/>
          </a:xfrm>
          <a:prstGeom prst="rect">
            <a:avLst/>
          </a:prstGeom>
          <a:noFill/>
          <a:ln/>
        </p:spPr>
        <p:txBody>
          <a:bodyPr wrap="square" rtlCol="0" anchor="ctr"/>
          <a:lstStyle/>
          <a:p>
            <a:pPr indent="0" marL="0">
              <a:buNone/>
            </a:pPr>
            <a:r>
              <a:rPr lang="en-US" sz="1100" b="1" spc="400" kern="0" dirty="0">
                <a:solidFill>
                  <a:srgbClr val="E11D48"/>
                </a:solidFill>
                <a:latin typeface="Consolas" pitchFamily="34" charset="0"/>
                <a:ea typeface="Consolas" pitchFamily="34" charset="-122"/>
                <a:cs typeface="Consolas" pitchFamily="34" charset="-120"/>
              </a:rPr>
              <a:t>MON</a:t>
            </a:r>
            <a:endParaRPr lang="en-US" sz="1100" dirty="0"/>
          </a:p>
        </p:txBody>
      </p:sp>
      <p:sp>
        <p:nvSpPr>
          <p:cNvPr id="24" name="Text 22"/>
          <p:cNvSpPr/>
          <p:nvPr/>
        </p:nvSpPr>
        <p:spPr>
          <a:xfrm>
            <a:off x="7955280" y="5394960"/>
            <a:ext cx="3657600" cy="822960"/>
          </a:xfrm>
          <a:prstGeom prst="rect">
            <a:avLst/>
          </a:prstGeom>
          <a:noFill/>
          <a:ln/>
        </p:spPr>
        <p:txBody>
          <a:bodyPr wrap="square" rtlCol="0" anchor="ctr"/>
          <a:lstStyle/>
          <a:p>
            <a:pPr indent="0" marL="0">
              <a:buNone/>
            </a:pPr>
            <a:r>
              <a:rPr lang="en-US" sz="4400" b="1" dirty="0">
                <a:solidFill>
                  <a:srgbClr val="F5F7FA"/>
                </a:solidFill>
                <a:latin typeface="Georgia" pitchFamily="34" charset="0"/>
                <a:ea typeface="Georgia" pitchFamily="34" charset="-122"/>
                <a:cs typeface="Georgia" pitchFamily="34" charset="-120"/>
              </a:rPr>
              <a:t>9.7%</a:t>
            </a:r>
            <a:endParaRPr lang="en-US" sz="4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15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04</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STRATEGIC RECOMMENDATIONS</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Recommendations  ·  Part I</a:t>
            </a:r>
            <a:endParaRPr lang="en-US" sz="3600" dirty="0"/>
          </a:p>
        </p:txBody>
      </p:sp>
      <p:sp>
        <p:nvSpPr>
          <p:cNvPr id="11" name="Shape 9"/>
          <p:cNvSpPr/>
          <p:nvPr/>
        </p:nvSpPr>
        <p:spPr>
          <a:xfrm>
            <a:off x="457200" y="1783080"/>
            <a:ext cx="11247120" cy="822960"/>
          </a:xfrm>
          <a:prstGeom prst="rect">
            <a:avLst/>
          </a:prstGeom>
          <a:solidFill>
            <a:srgbClr val="1A2236"/>
          </a:solidFill>
          <a:ln w="9525">
            <a:solidFill>
              <a:srgbClr val="2A3650"/>
            </a:solidFill>
            <a:prstDash val="solid"/>
          </a:ln>
        </p:spPr>
      </p:sp>
      <p:sp>
        <p:nvSpPr>
          <p:cNvPr id="12" name="Shape 10"/>
          <p:cNvSpPr/>
          <p:nvPr/>
        </p:nvSpPr>
        <p:spPr>
          <a:xfrm>
            <a:off x="457200" y="1783080"/>
            <a:ext cx="73152" cy="822960"/>
          </a:xfrm>
          <a:prstGeom prst="rect">
            <a:avLst/>
          </a:prstGeom>
          <a:solidFill>
            <a:srgbClr val="F59E0B"/>
          </a:solidFill>
          <a:ln/>
        </p:spPr>
      </p:sp>
      <p:sp>
        <p:nvSpPr>
          <p:cNvPr id="13" name="Text 11"/>
          <p:cNvSpPr/>
          <p:nvPr/>
        </p:nvSpPr>
        <p:spPr>
          <a:xfrm>
            <a:off x="685800" y="1783080"/>
            <a:ext cx="822960" cy="822960"/>
          </a:xfrm>
          <a:prstGeom prst="rect">
            <a:avLst/>
          </a:prstGeom>
          <a:noFill/>
          <a:ln/>
        </p:spPr>
        <p:txBody>
          <a:bodyPr wrap="square" rtlCol="0" anchor="ctr"/>
          <a:lstStyle/>
          <a:p>
            <a:pPr indent="0" marL="0">
              <a:buNone/>
            </a:pPr>
            <a:r>
              <a:rPr lang="en-US" sz="2200" b="1" dirty="0">
                <a:solidFill>
                  <a:srgbClr val="F59E0B"/>
                </a:solidFill>
                <a:latin typeface="Consolas" pitchFamily="34" charset="0"/>
                <a:ea typeface="Consolas" pitchFamily="34" charset="-122"/>
                <a:cs typeface="Consolas" pitchFamily="34" charset="-120"/>
              </a:rPr>
              <a:t>01</a:t>
            </a:r>
            <a:endParaRPr lang="en-US" sz="2200" dirty="0"/>
          </a:p>
        </p:txBody>
      </p:sp>
      <p:sp>
        <p:nvSpPr>
          <p:cNvPr id="14" name="Text 12"/>
          <p:cNvSpPr/>
          <p:nvPr/>
        </p:nvSpPr>
        <p:spPr>
          <a:xfrm>
            <a:off x="1554480" y="1783080"/>
            <a:ext cx="3657600" cy="82296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Build on the foundation</a:t>
            </a:r>
            <a:endParaRPr lang="en-US" sz="1600" dirty="0"/>
          </a:p>
        </p:txBody>
      </p:sp>
      <p:sp>
        <p:nvSpPr>
          <p:cNvPr id="15" name="Text 13"/>
          <p:cNvSpPr/>
          <p:nvPr/>
        </p:nvSpPr>
        <p:spPr>
          <a:xfrm>
            <a:off x="5303520" y="1783080"/>
            <a:ext cx="6309360" cy="82296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bright.tv’s national reach and dominant sport offering are a strong base for accelerated subscription growth.</a:t>
            </a:r>
            <a:endParaRPr lang="en-US" sz="1200" dirty="0"/>
          </a:p>
        </p:txBody>
      </p:sp>
      <p:sp>
        <p:nvSpPr>
          <p:cNvPr id="16" name="Shape 14"/>
          <p:cNvSpPr/>
          <p:nvPr/>
        </p:nvSpPr>
        <p:spPr>
          <a:xfrm>
            <a:off x="457200" y="2734056"/>
            <a:ext cx="11247120" cy="822960"/>
          </a:xfrm>
          <a:prstGeom prst="rect">
            <a:avLst/>
          </a:prstGeom>
          <a:solidFill>
            <a:srgbClr val="1A2236"/>
          </a:solidFill>
          <a:ln w="9525">
            <a:solidFill>
              <a:srgbClr val="2A3650"/>
            </a:solidFill>
            <a:prstDash val="solid"/>
          </a:ln>
        </p:spPr>
      </p:sp>
      <p:sp>
        <p:nvSpPr>
          <p:cNvPr id="17" name="Shape 15"/>
          <p:cNvSpPr/>
          <p:nvPr/>
        </p:nvSpPr>
        <p:spPr>
          <a:xfrm>
            <a:off x="457200" y="2734056"/>
            <a:ext cx="73152" cy="822960"/>
          </a:xfrm>
          <a:prstGeom prst="rect">
            <a:avLst/>
          </a:prstGeom>
          <a:solidFill>
            <a:srgbClr val="F59E0B"/>
          </a:solidFill>
          <a:ln/>
        </p:spPr>
      </p:sp>
      <p:sp>
        <p:nvSpPr>
          <p:cNvPr id="18" name="Text 16"/>
          <p:cNvSpPr/>
          <p:nvPr/>
        </p:nvSpPr>
        <p:spPr>
          <a:xfrm>
            <a:off x="685800" y="2734056"/>
            <a:ext cx="822960" cy="822960"/>
          </a:xfrm>
          <a:prstGeom prst="rect">
            <a:avLst/>
          </a:prstGeom>
          <a:noFill/>
          <a:ln/>
        </p:spPr>
        <p:txBody>
          <a:bodyPr wrap="square" rtlCol="0" anchor="ctr"/>
          <a:lstStyle/>
          <a:p>
            <a:pPr indent="0" marL="0">
              <a:buNone/>
            </a:pPr>
            <a:r>
              <a:rPr lang="en-US" sz="2200" b="1" dirty="0">
                <a:solidFill>
                  <a:srgbClr val="F59E0B"/>
                </a:solidFill>
                <a:latin typeface="Consolas" pitchFamily="34" charset="0"/>
                <a:ea typeface="Consolas" pitchFamily="34" charset="-122"/>
                <a:cs typeface="Consolas" pitchFamily="34" charset="-120"/>
              </a:rPr>
              <a:t>02</a:t>
            </a:r>
            <a:endParaRPr lang="en-US" sz="2200" dirty="0"/>
          </a:p>
        </p:txBody>
      </p:sp>
      <p:sp>
        <p:nvSpPr>
          <p:cNvPr id="19" name="Text 17"/>
          <p:cNvSpPr/>
          <p:nvPr/>
        </p:nvSpPr>
        <p:spPr>
          <a:xfrm>
            <a:off x="1554480" y="2734056"/>
            <a:ext cx="3657600" cy="82296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Treat data as an asset</a:t>
            </a:r>
            <a:endParaRPr lang="en-US" sz="1600" dirty="0"/>
          </a:p>
        </p:txBody>
      </p:sp>
      <p:sp>
        <p:nvSpPr>
          <p:cNvPr id="20" name="Text 18"/>
          <p:cNvSpPr/>
          <p:nvPr/>
        </p:nvSpPr>
        <p:spPr>
          <a:xfrm>
            <a:off x="5303520" y="2734056"/>
            <a:ext cx="6309360" cy="82296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Incomplete customer data caps insight, targeting and marketing effectiveness. Make capture a strategic priority.</a:t>
            </a:r>
            <a:endParaRPr lang="en-US" sz="1200" dirty="0"/>
          </a:p>
        </p:txBody>
      </p:sp>
      <p:sp>
        <p:nvSpPr>
          <p:cNvPr id="21" name="Shape 19"/>
          <p:cNvSpPr/>
          <p:nvPr/>
        </p:nvSpPr>
        <p:spPr>
          <a:xfrm>
            <a:off x="457200" y="3685032"/>
            <a:ext cx="11247120" cy="822960"/>
          </a:xfrm>
          <a:prstGeom prst="rect">
            <a:avLst/>
          </a:prstGeom>
          <a:solidFill>
            <a:srgbClr val="1A2236"/>
          </a:solidFill>
          <a:ln w="9525">
            <a:solidFill>
              <a:srgbClr val="2A3650"/>
            </a:solidFill>
            <a:prstDash val="solid"/>
          </a:ln>
        </p:spPr>
      </p:sp>
      <p:sp>
        <p:nvSpPr>
          <p:cNvPr id="22" name="Shape 20"/>
          <p:cNvSpPr/>
          <p:nvPr/>
        </p:nvSpPr>
        <p:spPr>
          <a:xfrm>
            <a:off x="457200" y="3685032"/>
            <a:ext cx="73152" cy="822960"/>
          </a:xfrm>
          <a:prstGeom prst="rect">
            <a:avLst/>
          </a:prstGeom>
          <a:solidFill>
            <a:srgbClr val="F59E0B"/>
          </a:solidFill>
          <a:ln/>
        </p:spPr>
      </p:sp>
      <p:sp>
        <p:nvSpPr>
          <p:cNvPr id="23" name="Text 21"/>
          <p:cNvSpPr/>
          <p:nvPr/>
        </p:nvSpPr>
        <p:spPr>
          <a:xfrm>
            <a:off x="685800" y="3685032"/>
            <a:ext cx="822960" cy="822960"/>
          </a:xfrm>
          <a:prstGeom prst="rect">
            <a:avLst/>
          </a:prstGeom>
          <a:noFill/>
          <a:ln/>
        </p:spPr>
        <p:txBody>
          <a:bodyPr wrap="square" rtlCol="0" anchor="ctr"/>
          <a:lstStyle/>
          <a:p>
            <a:pPr indent="0" marL="0">
              <a:buNone/>
            </a:pPr>
            <a:r>
              <a:rPr lang="en-US" sz="2200" b="1" dirty="0">
                <a:solidFill>
                  <a:srgbClr val="F59E0B"/>
                </a:solidFill>
                <a:latin typeface="Consolas" pitchFamily="34" charset="0"/>
                <a:ea typeface="Consolas" pitchFamily="34" charset="-122"/>
                <a:cs typeface="Consolas" pitchFamily="34" charset="-120"/>
              </a:rPr>
              <a:t>03</a:t>
            </a:r>
            <a:endParaRPr lang="en-US" sz="2200" dirty="0"/>
          </a:p>
        </p:txBody>
      </p:sp>
      <p:sp>
        <p:nvSpPr>
          <p:cNvPr id="24" name="Text 22"/>
          <p:cNvSpPr/>
          <p:nvPr/>
        </p:nvSpPr>
        <p:spPr>
          <a:xfrm>
            <a:off x="1554480" y="3685032"/>
            <a:ext cx="3657600" cy="82296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Personalise the experience</a:t>
            </a:r>
            <a:endParaRPr lang="en-US" sz="1600" dirty="0"/>
          </a:p>
        </p:txBody>
      </p:sp>
      <p:sp>
        <p:nvSpPr>
          <p:cNvPr id="25" name="Text 23"/>
          <p:cNvSpPr/>
          <p:nvPr/>
        </p:nvSpPr>
        <p:spPr>
          <a:xfrm>
            <a:off x="5303520" y="3685032"/>
            <a:ext cx="6309360" cy="82296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Use first‑party data to personalise communication, lift engagement and reduce churn.</a:t>
            </a:r>
            <a:endParaRPr lang="en-US" sz="1200" dirty="0"/>
          </a:p>
        </p:txBody>
      </p:sp>
      <p:sp>
        <p:nvSpPr>
          <p:cNvPr id="26" name="Shape 24"/>
          <p:cNvSpPr/>
          <p:nvPr/>
        </p:nvSpPr>
        <p:spPr>
          <a:xfrm>
            <a:off x="457200" y="4636008"/>
            <a:ext cx="11247120" cy="822960"/>
          </a:xfrm>
          <a:prstGeom prst="rect">
            <a:avLst/>
          </a:prstGeom>
          <a:solidFill>
            <a:srgbClr val="1A2236"/>
          </a:solidFill>
          <a:ln w="9525">
            <a:solidFill>
              <a:srgbClr val="2A3650"/>
            </a:solidFill>
            <a:prstDash val="solid"/>
          </a:ln>
        </p:spPr>
      </p:sp>
      <p:sp>
        <p:nvSpPr>
          <p:cNvPr id="27" name="Shape 25"/>
          <p:cNvSpPr/>
          <p:nvPr/>
        </p:nvSpPr>
        <p:spPr>
          <a:xfrm>
            <a:off x="457200" y="4636008"/>
            <a:ext cx="73152" cy="822960"/>
          </a:xfrm>
          <a:prstGeom prst="rect">
            <a:avLst/>
          </a:prstGeom>
          <a:solidFill>
            <a:srgbClr val="F59E0B"/>
          </a:solidFill>
          <a:ln/>
        </p:spPr>
      </p:sp>
      <p:sp>
        <p:nvSpPr>
          <p:cNvPr id="28" name="Text 26"/>
          <p:cNvSpPr/>
          <p:nvPr/>
        </p:nvSpPr>
        <p:spPr>
          <a:xfrm>
            <a:off x="685800" y="4636008"/>
            <a:ext cx="822960" cy="822960"/>
          </a:xfrm>
          <a:prstGeom prst="rect">
            <a:avLst/>
          </a:prstGeom>
          <a:noFill/>
          <a:ln/>
        </p:spPr>
        <p:txBody>
          <a:bodyPr wrap="square" rtlCol="0" anchor="ctr"/>
          <a:lstStyle/>
          <a:p>
            <a:pPr indent="0" marL="0">
              <a:buNone/>
            </a:pPr>
            <a:r>
              <a:rPr lang="en-US" sz="2200" b="1" dirty="0">
                <a:solidFill>
                  <a:srgbClr val="F59E0B"/>
                </a:solidFill>
                <a:latin typeface="Consolas" pitchFamily="34" charset="0"/>
                <a:ea typeface="Consolas" pitchFamily="34" charset="-122"/>
                <a:cs typeface="Consolas" pitchFamily="34" charset="-120"/>
              </a:rPr>
              <a:t>04</a:t>
            </a:r>
            <a:endParaRPr lang="en-US" sz="2200" dirty="0"/>
          </a:p>
        </p:txBody>
      </p:sp>
      <p:sp>
        <p:nvSpPr>
          <p:cNvPr id="29" name="Text 27"/>
          <p:cNvSpPr/>
          <p:nvPr/>
        </p:nvSpPr>
        <p:spPr>
          <a:xfrm>
            <a:off x="1554480" y="4636008"/>
            <a:ext cx="3657600" cy="82296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Turn fans into advocates</a:t>
            </a:r>
            <a:endParaRPr lang="en-US" sz="1600" dirty="0"/>
          </a:p>
        </p:txBody>
      </p:sp>
      <p:sp>
        <p:nvSpPr>
          <p:cNvPr id="30" name="Text 28"/>
          <p:cNvSpPr/>
          <p:nvPr/>
        </p:nvSpPr>
        <p:spPr>
          <a:xfrm>
            <a:off x="5303520" y="4636008"/>
            <a:ext cx="6309360" cy="82296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Convert satisfied subscribers into a growth channel via referral and advocacy programmes.</a:t>
            </a:r>
            <a:endParaRPr lang="en-US" sz="1200" dirty="0"/>
          </a:p>
        </p:txBody>
      </p:sp>
      <p:sp>
        <p:nvSpPr>
          <p:cNvPr id="31" name="Shape 29"/>
          <p:cNvSpPr/>
          <p:nvPr/>
        </p:nvSpPr>
        <p:spPr>
          <a:xfrm>
            <a:off x="457200" y="5586984"/>
            <a:ext cx="11247120" cy="822960"/>
          </a:xfrm>
          <a:prstGeom prst="rect">
            <a:avLst/>
          </a:prstGeom>
          <a:solidFill>
            <a:srgbClr val="1A2236"/>
          </a:solidFill>
          <a:ln w="9525">
            <a:solidFill>
              <a:srgbClr val="2A3650"/>
            </a:solidFill>
            <a:prstDash val="solid"/>
          </a:ln>
        </p:spPr>
      </p:sp>
      <p:sp>
        <p:nvSpPr>
          <p:cNvPr id="32" name="Shape 30"/>
          <p:cNvSpPr/>
          <p:nvPr/>
        </p:nvSpPr>
        <p:spPr>
          <a:xfrm>
            <a:off x="457200" y="5586984"/>
            <a:ext cx="73152" cy="822960"/>
          </a:xfrm>
          <a:prstGeom prst="rect">
            <a:avLst/>
          </a:prstGeom>
          <a:solidFill>
            <a:srgbClr val="F59E0B"/>
          </a:solidFill>
          <a:ln/>
        </p:spPr>
      </p:sp>
      <p:sp>
        <p:nvSpPr>
          <p:cNvPr id="33" name="Text 31"/>
          <p:cNvSpPr/>
          <p:nvPr/>
        </p:nvSpPr>
        <p:spPr>
          <a:xfrm>
            <a:off x="685800" y="5586984"/>
            <a:ext cx="822960" cy="822960"/>
          </a:xfrm>
          <a:prstGeom prst="rect">
            <a:avLst/>
          </a:prstGeom>
          <a:noFill/>
          <a:ln/>
        </p:spPr>
        <p:txBody>
          <a:bodyPr wrap="square" rtlCol="0" anchor="ctr"/>
          <a:lstStyle/>
          <a:p>
            <a:pPr indent="0" marL="0">
              <a:buNone/>
            </a:pPr>
            <a:r>
              <a:rPr lang="en-US" sz="2200" b="1" dirty="0">
                <a:solidFill>
                  <a:srgbClr val="F59E0B"/>
                </a:solidFill>
                <a:latin typeface="Consolas" pitchFamily="34" charset="0"/>
                <a:ea typeface="Consolas" pitchFamily="34" charset="-122"/>
                <a:cs typeface="Consolas" pitchFamily="34" charset="-120"/>
              </a:rPr>
              <a:t>05</a:t>
            </a:r>
            <a:endParaRPr lang="en-US" sz="2200" dirty="0"/>
          </a:p>
        </p:txBody>
      </p:sp>
      <p:sp>
        <p:nvSpPr>
          <p:cNvPr id="34" name="Text 32"/>
          <p:cNvSpPr/>
          <p:nvPr/>
        </p:nvSpPr>
        <p:spPr>
          <a:xfrm>
            <a:off x="1554480" y="5586984"/>
            <a:ext cx="3657600" cy="82296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Monetise sport</a:t>
            </a:r>
            <a:endParaRPr lang="en-US" sz="1600" dirty="0"/>
          </a:p>
        </p:txBody>
      </p:sp>
      <p:sp>
        <p:nvSpPr>
          <p:cNvPr id="35" name="Text 33"/>
          <p:cNvSpPr/>
          <p:nvPr/>
        </p:nvSpPr>
        <p:spPr>
          <a:xfrm>
            <a:off x="5303520" y="5586984"/>
            <a:ext cx="6309360" cy="82296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Sport is the strongest growth lever — monetise the season with targeted campaigns and bundles.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16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04</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STRATEGIC RECOMMENDATIONS</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Recommendations  ·  Part II</a:t>
            </a:r>
            <a:endParaRPr lang="en-US" sz="3600" dirty="0"/>
          </a:p>
        </p:txBody>
      </p:sp>
      <p:sp>
        <p:nvSpPr>
          <p:cNvPr id="11" name="Shape 9"/>
          <p:cNvSpPr/>
          <p:nvPr/>
        </p:nvSpPr>
        <p:spPr>
          <a:xfrm>
            <a:off x="457200" y="1783080"/>
            <a:ext cx="11247120" cy="822960"/>
          </a:xfrm>
          <a:prstGeom prst="rect">
            <a:avLst/>
          </a:prstGeom>
          <a:solidFill>
            <a:srgbClr val="1A2236"/>
          </a:solidFill>
          <a:ln w="9525">
            <a:solidFill>
              <a:srgbClr val="2A3650"/>
            </a:solidFill>
            <a:prstDash val="solid"/>
          </a:ln>
        </p:spPr>
      </p:sp>
      <p:sp>
        <p:nvSpPr>
          <p:cNvPr id="12" name="Shape 10"/>
          <p:cNvSpPr/>
          <p:nvPr/>
        </p:nvSpPr>
        <p:spPr>
          <a:xfrm>
            <a:off x="457200" y="1783080"/>
            <a:ext cx="73152" cy="822960"/>
          </a:xfrm>
          <a:prstGeom prst="rect">
            <a:avLst/>
          </a:prstGeom>
          <a:solidFill>
            <a:srgbClr val="E11D48"/>
          </a:solidFill>
          <a:ln/>
        </p:spPr>
      </p:sp>
      <p:sp>
        <p:nvSpPr>
          <p:cNvPr id="13" name="Text 11"/>
          <p:cNvSpPr/>
          <p:nvPr/>
        </p:nvSpPr>
        <p:spPr>
          <a:xfrm>
            <a:off x="685800" y="1783080"/>
            <a:ext cx="822960" cy="822960"/>
          </a:xfrm>
          <a:prstGeom prst="rect">
            <a:avLst/>
          </a:prstGeom>
          <a:noFill/>
          <a:ln/>
        </p:spPr>
        <p:txBody>
          <a:bodyPr wrap="square" rtlCol="0" anchor="ctr"/>
          <a:lstStyle/>
          <a:p>
            <a:pPr indent="0" marL="0">
              <a:buNone/>
            </a:pPr>
            <a:r>
              <a:rPr lang="en-US" sz="2200" b="1" dirty="0">
                <a:solidFill>
                  <a:srgbClr val="E11D48"/>
                </a:solidFill>
                <a:latin typeface="Consolas" pitchFamily="34" charset="0"/>
                <a:ea typeface="Consolas" pitchFamily="34" charset="-122"/>
                <a:cs typeface="Consolas" pitchFamily="34" charset="-120"/>
              </a:rPr>
              <a:t>06</a:t>
            </a:r>
            <a:endParaRPr lang="en-US" sz="2200" dirty="0"/>
          </a:p>
        </p:txBody>
      </p:sp>
      <p:sp>
        <p:nvSpPr>
          <p:cNvPr id="14" name="Text 12"/>
          <p:cNvSpPr/>
          <p:nvPr/>
        </p:nvSpPr>
        <p:spPr>
          <a:xfrm>
            <a:off x="1554480" y="1783080"/>
            <a:ext cx="3657600" cy="82296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Premium bundles</a:t>
            </a:r>
            <a:endParaRPr lang="en-US" sz="1600" dirty="0"/>
          </a:p>
        </p:txBody>
      </p:sp>
      <p:sp>
        <p:nvSpPr>
          <p:cNvPr id="15" name="Text 13"/>
          <p:cNvSpPr/>
          <p:nvPr/>
        </p:nvSpPr>
        <p:spPr>
          <a:xfrm>
            <a:off x="5303520" y="1783080"/>
            <a:ext cx="6309360" cy="82296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Build tiered bundles around flagship sport and movies to lift ARPU.</a:t>
            </a:r>
            <a:endParaRPr lang="en-US" sz="1200" dirty="0"/>
          </a:p>
        </p:txBody>
      </p:sp>
      <p:sp>
        <p:nvSpPr>
          <p:cNvPr id="16" name="Shape 14"/>
          <p:cNvSpPr/>
          <p:nvPr/>
        </p:nvSpPr>
        <p:spPr>
          <a:xfrm>
            <a:off x="457200" y="2734056"/>
            <a:ext cx="11247120" cy="822960"/>
          </a:xfrm>
          <a:prstGeom prst="rect">
            <a:avLst/>
          </a:prstGeom>
          <a:solidFill>
            <a:srgbClr val="1A2236"/>
          </a:solidFill>
          <a:ln w="9525">
            <a:solidFill>
              <a:srgbClr val="2A3650"/>
            </a:solidFill>
            <a:prstDash val="solid"/>
          </a:ln>
        </p:spPr>
      </p:sp>
      <p:sp>
        <p:nvSpPr>
          <p:cNvPr id="17" name="Shape 15"/>
          <p:cNvSpPr/>
          <p:nvPr/>
        </p:nvSpPr>
        <p:spPr>
          <a:xfrm>
            <a:off x="457200" y="2734056"/>
            <a:ext cx="73152" cy="822960"/>
          </a:xfrm>
          <a:prstGeom prst="rect">
            <a:avLst/>
          </a:prstGeom>
          <a:solidFill>
            <a:srgbClr val="E11D48"/>
          </a:solidFill>
          <a:ln/>
        </p:spPr>
      </p:sp>
      <p:sp>
        <p:nvSpPr>
          <p:cNvPr id="18" name="Text 16"/>
          <p:cNvSpPr/>
          <p:nvPr/>
        </p:nvSpPr>
        <p:spPr>
          <a:xfrm>
            <a:off x="685800" y="2734056"/>
            <a:ext cx="822960" cy="822960"/>
          </a:xfrm>
          <a:prstGeom prst="rect">
            <a:avLst/>
          </a:prstGeom>
          <a:noFill/>
          <a:ln/>
        </p:spPr>
        <p:txBody>
          <a:bodyPr wrap="square" rtlCol="0" anchor="ctr"/>
          <a:lstStyle/>
          <a:p>
            <a:pPr indent="0" marL="0">
              <a:buNone/>
            </a:pPr>
            <a:r>
              <a:rPr lang="en-US" sz="2200" b="1" dirty="0">
                <a:solidFill>
                  <a:srgbClr val="E11D48"/>
                </a:solidFill>
                <a:latin typeface="Consolas" pitchFamily="34" charset="0"/>
                <a:ea typeface="Consolas" pitchFamily="34" charset="-122"/>
                <a:cs typeface="Consolas" pitchFamily="34" charset="-120"/>
              </a:rPr>
              <a:t>07</a:t>
            </a:r>
            <a:endParaRPr lang="en-US" sz="2200" dirty="0"/>
          </a:p>
        </p:txBody>
      </p:sp>
      <p:sp>
        <p:nvSpPr>
          <p:cNvPr id="19" name="Text 17"/>
          <p:cNvSpPr/>
          <p:nvPr/>
        </p:nvSpPr>
        <p:spPr>
          <a:xfrm>
            <a:off x="1554480" y="2734056"/>
            <a:ext cx="3657600" cy="82296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Own prime time</a:t>
            </a:r>
            <a:endParaRPr lang="en-US" sz="1600" dirty="0"/>
          </a:p>
        </p:txBody>
      </p:sp>
      <p:sp>
        <p:nvSpPr>
          <p:cNvPr id="20" name="Text 18"/>
          <p:cNvSpPr/>
          <p:nvPr/>
        </p:nvSpPr>
        <p:spPr>
          <a:xfrm>
            <a:off x="5303520" y="2734056"/>
            <a:ext cx="6309360" cy="82296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Optimise the 5PM‑9PM window and weekend schedule around flagship content.</a:t>
            </a:r>
            <a:endParaRPr lang="en-US" sz="1200" dirty="0"/>
          </a:p>
        </p:txBody>
      </p:sp>
      <p:sp>
        <p:nvSpPr>
          <p:cNvPr id="21" name="Shape 19"/>
          <p:cNvSpPr/>
          <p:nvPr/>
        </p:nvSpPr>
        <p:spPr>
          <a:xfrm>
            <a:off x="457200" y="3685032"/>
            <a:ext cx="11247120" cy="822960"/>
          </a:xfrm>
          <a:prstGeom prst="rect">
            <a:avLst/>
          </a:prstGeom>
          <a:solidFill>
            <a:srgbClr val="1A2236"/>
          </a:solidFill>
          <a:ln w="9525">
            <a:solidFill>
              <a:srgbClr val="2A3650"/>
            </a:solidFill>
            <a:prstDash val="solid"/>
          </a:ln>
        </p:spPr>
      </p:sp>
      <p:sp>
        <p:nvSpPr>
          <p:cNvPr id="22" name="Shape 20"/>
          <p:cNvSpPr/>
          <p:nvPr/>
        </p:nvSpPr>
        <p:spPr>
          <a:xfrm>
            <a:off x="457200" y="3685032"/>
            <a:ext cx="73152" cy="822960"/>
          </a:xfrm>
          <a:prstGeom prst="rect">
            <a:avLst/>
          </a:prstGeom>
          <a:solidFill>
            <a:srgbClr val="E11D48"/>
          </a:solidFill>
          <a:ln/>
        </p:spPr>
      </p:sp>
      <p:sp>
        <p:nvSpPr>
          <p:cNvPr id="23" name="Text 21"/>
          <p:cNvSpPr/>
          <p:nvPr/>
        </p:nvSpPr>
        <p:spPr>
          <a:xfrm>
            <a:off x="685800" y="3685032"/>
            <a:ext cx="822960" cy="822960"/>
          </a:xfrm>
          <a:prstGeom prst="rect">
            <a:avLst/>
          </a:prstGeom>
          <a:noFill/>
          <a:ln/>
        </p:spPr>
        <p:txBody>
          <a:bodyPr wrap="square" rtlCol="0" anchor="ctr"/>
          <a:lstStyle/>
          <a:p>
            <a:pPr indent="0" marL="0">
              <a:buNone/>
            </a:pPr>
            <a:r>
              <a:rPr lang="en-US" sz="2200" b="1" dirty="0">
                <a:solidFill>
                  <a:srgbClr val="E11D48"/>
                </a:solidFill>
                <a:latin typeface="Consolas" pitchFamily="34" charset="0"/>
                <a:ea typeface="Consolas" pitchFamily="34" charset="-122"/>
                <a:cs typeface="Consolas" pitchFamily="34" charset="-120"/>
              </a:rPr>
              <a:t>08</a:t>
            </a:r>
            <a:endParaRPr lang="en-US" sz="2200" dirty="0"/>
          </a:p>
        </p:txBody>
      </p:sp>
      <p:sp>
        <p:nvSpPr>
          <p:cNvPr id="24" name="Text 22"/>
          <p:cNvSpPr/>
          <p:nvPr/>
        </p:nvSpPr>
        <p:spPr>
          <a:xfrm>
            <a:off x="1554480" y="3685032"/>
            <a:ext cx="3657600" cy="82296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Close the female gap</a:t>
            </a:r>
            <a:endParaRPr lang="en-US" sz="1600" dirty="0"/>
          </a:p>
        </p:txBody>
      </p:sp>
      <p:sp>
        <p:nvSpPr>
          <p:cNvPr id="25" name="Text 23"/>
          <p:cNvSpPr/>
          <p:nvPr/>
        </p:nvSpPr>
        <p:spPr>
          <a:xfrm>
            <a:off x="5303520" y="3685032"/>
            <a:ext cx="6309360" cy="82296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Targeted content (women’s sport, lifestyle, drama) and dedicated marketing.</a:t>
            </a:r>
            <a:endParaRPr lang="en-US" sz="1200" dirty="0"/>
          </a:p>
        </p:txBody>
      </p:sp>
      <p:sp>
        <p:nvSpPr>
          <p:cNvPr id="26" name="Shape 24"/>
          <p:cNvSpPr/>
          <p:nvPr/>
        </p:nvSpPr>
        <p:spPr>
          <a:xfrm>
            <a:off x="457200" y="4636008"/>
            <a:ext cx="11247120" cy="822960"/>
          </a:xfrm>
          <a:prstGeom prst="rect">
            <a:avLst/>
          </a:prstGeom>
          <a:solidFill>
            <a:srgbClr val="1A2236"/>
          </a:solidFill>
          <a:ln w="9525">
            <a:solidFill>
              <a:srgbClr val="2A3650"/>
            </a:solidFill>
            <a:prstDash val="solid"/>
          </a:ln>
        </p:spPr>
      </p:sp>
      <p:sp>
        <p:nvSpPr>
          <p:cNvPr id="27" name="Shape 25"/>
          <p:cNvSpPr/>
          <p:nvPr/>
        </p:nvSpPr>
        <p:spPr>
          <a:xfrm>
            <a:off x="457200" y="4636008"/>
            <a:ext cx="73152" cy="822960"/>
          </a:xfrm>
          <a:prstGeom prst="rect">
            <a:avLst/>
          </a:prstGeom>
          <a:solidFill>
            <a:srgbClr val="E11D48"/>
          </a:solidFill>
          <a:ln/>
        </p:spPr>
      </p:sp>
      <p:sp>
        <p:nvSpPr>
          <p:cNvPr id="28" name="Text 26"/>
          <p:cNvSpPr/>
          <p:nvPr/>
        </p:nvSpPr>
        <p:spPr>
          <a:xfrm>
            <a:off x="685800" y="4636008"/>
            <a:ext cx="822960" cy="822960"/>
          </a:xfrm>
          <a:prstGeom prst="rect">
            <a:avLst/>
          </a:prstGeom>
          <a:noFill/>
          <a:ln/>
        </p:spPr>
        <p:txBody>
          <a:bodyPr wrap="square" rtlCol="0" anchor="ctr"/>
          <a:lstStyle/>
          <a:p>
            <a:pPr indent="0" marL="0">
              <a:buNone/>
            </a:pPr>
            <a:r>
              <a:rPr lang="en-US" sz="2200" b="1" dirty="0">
                <a:solidFill>
                  <a:srgbClr val="E11D48"/>
                </a:solidFill>
                <a:latin typeface="Consolas" pitchFamily="34" charset="0"/>
                <a:ea typeface="Consolas" pitchFamily="34" charset="-122"/>
                <a:cs typeface="Consolas" pitchFamily="34" charset="-120"/>
              </a:rPr>
              <a:t>09</a:t>
            </a:r>
            <a:endParaRPr lang="en-US" sz="2200" dirty="0"/>
          </a:p>
        </p:txBody>
      </p:sp>
      <p:sp>
        <p:nvSpPr>
          <p:cNvPr id="29" name="Text 27"/>
          <p:cNvSpPr/>
          <p:nvPr/>
        </p:nvSpPr>
        <p:spPr>
          <a:xfrm>
            <a:off x="1554480" y="4636008"/>
            <a:ext cx="3657600" cy="82296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Schedule with science</a:t>
            </a:r>
            <a:endParaRPr lang="en-US" sz="1600" dirty="0"/>
          </a:p>
        </p:txBody>
      </p:sp>
      <p:sp>
        <p:nvSpPr>
          <p:cNvPr id="30" name="Text 28"/>
          <p:cNvSpPr/>
          <p:nvPr/>
        </p:nvSpPr>
        <p:spPr>
          <a:xfrm>
            <a:off x="5303520" y="4636008"/>
            <a:ext cx="6309360" cy="82296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Use predictable viewing patterns to optimise programming and content ROI.</a:t>
            </a:r>
            <a:endParaRPr lang="en-US" sz="1200" dirty="0"/>
          </a:p>
        </p:txBody>
      </p:sp>
      <p:sp>
        <p:nvSpPr>
          <p:cNvPr id="31" name="Shape 29"/>
          <p:cNvSpPr/>
          <p:nvPr/>
        </p:nvSpPr>
        <p:spPr>
          <a:xfrm>
            <a:off x="457200" y="5586984"/>
            <a:ext cx="11247120" cy="822960"/>
          </a:xfrm>
          <a:prstGeom prst="rect">
            <a:avLst/>
          </a:prstGeom>
          <a:solidFill>
            <a:srgbClr val="1A2236"/>
          </a:solidFill>
          <a:ln w="9525">
            <a:solidFill>
              <a:srgbClr val="2A3650"/>
            </a:solidFill>
            <a:prstDash val="solid"/>
          </a:ln>
        </p:spPr>
      </p:sp>
      <p:sp>
        <p:nvSpPr>
          <p:cNvPr id="32" name="Shape 30"/>
          <p:cNvSpPr/>
          <p:nvPr/>
        </p:nvSpPr>
        <p:spPr>
          <a:xfrm>
            <a:off x="457200" y="5586984"/>
            <a:ext cx="73152" cy="822960"/>
          </a:xfrm>
          <a:prstGeom prst="rect">
            <a:avLst/>
          </a:prstGeom>
          <a:solidFill>
            <a:srgbClr val="E11D48"/>
          </a:solidFill>
          <a:ln/>
        </p:spPr>
      </p:sp>
      <p:sp>
        <p:nvSpPr>
          <p:cNvPr id="33" name="Text 31"/>
          <p:cNvSpPr/>
          <p:nvPr/>
        </p:nvSpPr>
        <p:spPr>
          <a:xfrm>
            <a:off x="685800" y="5586984"/>
            <a:ext cx="822960" cy="822960"/>
          </a:xfrm>
          <a:prstGeom prst="rect">
            <a:avLst/>
          </a:prstGeom>
          <a:noFill/>
          <a:ln/>
        </p:spPr>
        <p:txBody>
          <a:bodyPr wrap="square" rtlCol="0" anchor="ctr"/>
          <a:lstStyle/>
          <a:p>
            <a:pPr indent="0" marL="0">
              <a:buNone/>
            </a:pPr>
            <a:r>
              <a:rPr lang="en-US" sz="2200" b="1" dirty="0">
                <a:solidFill>
                  <a:srgbClr val="E11D48"/>
                </a:solidFill>
                <a:latin typeface="Consolas" pitchFamily="34" charset="0"/>
                <a:ea typeface="Consolas" pitchFamily="34" charset="-122"/>
                <a:cs typeface="Consolas" pitchFamily="34" charset="-120"/>
              </a:rPr>
              <a:t>10</a:t>
            </a:r>
            <a:endParaRPr lang="en-US" sz="2200" dirty="0"/>
          </a:p>
        </p:txBody>
      </p:sp>
      <p:sp>
        <p:nvSpPr>
          <p:cNvPr id="34" name="Text 32"/>
          <p:cNvSpPr/>
          <p:nvPr/>
        </p:nvSpPr>
        <p:spPr>
          <a:xfrm>
            <a:off x="1554480" y="5586984"/>
            <a:ext cx="3657600" cy="822960"/>
          </a:xfrm>
          <a:prstGeom prst="rect">
            <a:avLst/>
          </a:prstGeom>
          <a:noFill/>
          <a:ln/>
        </p:spPr>
        <p:txBody>
          <a:bodyPr wrap="square" rtlCol="0" anchor="ctr"/>
          <a:lstStyle/>
          <a:p>
            <a:pPr indent="0" marL="0">
              <a:buNone/>
            </a:pPr>
            <a:r>
              <a:rPr lang="en-US" sz="1600" b="1" dirty="0">
                <a:solidFill>
                  <a:srgbClr val="F5F7FA"/>
                </a:solidFill>
                <a:latin typeface="Georgia" pitchFamily="34" charset="0"/>
                <a:ea typeface="Georgia" pitchFamily="34" charset="-122"/>
                <a:cs typeface="Georgia" pitchFamily="34" charset="-120"/>
              </a:rPr>
              <a:t>Compound the wins</a:t>
            </a:r>
            <a:endParaRPr lang="en-US" sz="1600" dirty="0"/>
          </a:p>
        </p:txBody>
      </p:sp>
      <p:sp>
        <p:nvSpPr>
          <p:cNvPr id="35" name="Text 33"/>
          <p:cNvSpPr/>
          <p:nvPr/>
        </p:nvSpPr>
        <p:spPr>
          <a:xfrm>
            <a:off x="5303520" y="5586984"/>
            <a:ext cx="6309360" cy="822960"/>
          </a:xfrm>
          <a:prstGeom prst="rect">
            <a:avLst/>
          </a:prstGeom>
          <a:noFill/>
          <a:ln/>
        </p:spPr>
        <p:txBody>
          <a:bodyPr wrap="square" rtlCol="0" anchor="ctr"/>
          <a:lstStyle/>
          <a:p>
            <a:pPr indent="0" marL="0">
              <a:buNone/>
            </a:pPr>
            <a:r>
              <a:rPr lang="en-US" sz="1200" dirty="0">
                <a:solidFill>
                  <a:srgbClr val="B8C2D4"/>
                </a:solidFill>
                <a:latin typeface="Calibri" pitchFamily="34" charset="0"/>
                <a:ea typeface="Calibri" pitchFamily="34" charset="-122"/>
                <a:cs typeface="Calibri" pitchFamily="34" charset="-120"/>
              </a:rPr>
              <a:t>Better data → better experiences → smarter monetisation → sustainable growth.</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Shape 1"/>
          <p:cNvSpPr/>
          <p:nvPr/>
        </p:nvSpPr>
        <p:spPr>
          <a:xfrm>
            <a:off x="0" y="6784848"/>
            <a:ext cx="12188952" cy="18288"/>
          </a:xfrm>
          <a:prstGeom prst="rect">
            <a:avLst/>
          </a:prstGeom>
          <a:solidFill>
            <a:srgbClr val="2A3650"/>
          </a:solidFill>
          <a:ln/>
        </p:spPr>
      </p:sp>
      <p:sp>
        <p:nvSpPr>
          <p:cNvPr id="4" name="Text 2"/>
          <p:cNvSpPr/>
          <p:nvPr/>
        </p:nvSpPr>
        <p:spPr>
          <a:xfrm>
            <a:off x="365760" y="6565392"/>
            <a:ext cx="1828800" cy="228600"/>
          </a:xfrm>
          <a:prstGeom prst="rect">
            <a:avLst/>
          </a:prstGeom>
          <a:noFill/>
          <a:ln/>
        </p:spPr>
        <p:txBody>
          <a:bodyPr wrap="square" rtlCol="0" anchor="ctr"/>
          <a:lstStyle/>
          <a:p>
            <a:pPr indent="0" marL="0">
              <a:buNone/>
            </a:pPr>
            <a:r>
              <a:rPr lang="en-US" sz="1000" b="1" spc="400" kern="0" dirty="0">
                <a:solidFill>
                  <a:srgbClr val="F59E0B"/>
                </a:solidFill>
                <a:latin typeface="Georgia" pitchFamily="34" charset="0"/>
                <a:ea typeface="Georgia" pitchFamily="34" charset="-122"/>
                <a:cs typeface="Georgia" pitchFamily="34" charset="-120"/>
              </a:rPr>
              <a:t>bright.tv</a:t>
            </a:r>
            <a:endParaRPr lang="en-US" sz="1000" dirty="0"/>
          </a:p>
        </p:txBody>
      </p:sp>
      <p:sp>
        <p:nvSpPr>
          <p:cNvPr id="5" name="Text 3"/>
          <p:cNvSpPr/>
          <p:nvPr/>
        </p:nvSpPr>
        <p:spPr>
          <a:xfrm>
            <a:off x="3657600" y="6565392"/>
            <a:ext cx="5486400" cy="228600"/>
          </a:xfrm>
          <a:prstGeom prst="rect">
            <a:avLst/>
          </a:prstGeom>
          <a:noFill/>
          <a:ln/>
        </p:spPr>
        <p:txBody>
          <a:bodyPr wrap="square" rtlCol="0" anchor="ctr"/>
          <a:lstStyle/>
          <a:p>
            <a:pPr algn="ctr" indent="0" marL="0">
              <a:buNone/>
            </a:pPr>
            <a:r>
              <a:rPr lang="en-US" sz="800" spc="200" kern="0" dirty="0">
                <a:solidFill>
                  <a:srgbClr val="7A879F"/>
                </a:solidFill>
                <a:latin typeface="Calibri" pitchFamily="34" charset="0"/>
                <a:ea typeface="Calibri" pitchFamily="34" charset="-122"/>
                <a:cs typeface="Calibri" pitchFamily="34" charset="-120"/>
              </a:rPr>
              <a:t>STRATEGIC GROWTH &amp; MARKET ANALYSIS  ·  APRIL 2026</a:t>
            </a:r>
            <a:endParaRPr lang="en-US" sz="800" dirty="0"/>
          </a:p>
        </p:txBody>
      </p:sp>
      <p:sp>
        <p:nvSpPr>
          <p:cNvPr id="6" name="Text 4"/>
          <p:cNvSpPr/>
          <p:nvPr/>
        </p:nvSpPr>
        <p:spPr>
          <a:xfrm>
            <a:off x="10515600" y="6565392"/>
            <a:ext cx="1280160" cy="228600"/>
          </a:xfrm>
          <a:prstGeom prst="rect">
            <a:avLst/>
          </a:prstGeom>
          <a:noFill/>
          <a:ln/>
        </p:spPr>
        <p:txBody>
          <a:bodyPr wrap="square" rtlCol="0" anchor="ctr"/>
          <a:lstStyle/>
          <a:p>
            <a:pPr algn="r" indent="0" marL="0">
              <a:buNone/>
            </a:pPr>
            <a:r>
              <a:rPr lang="en-US" sz="900" dirty="0">
                <a:solidFill>
                  <a:srgbClr val="7A879F"/>
                </a:solidFill>
                <a:latin typeface="Consolas" pitchFamily="34" charset="0"/>
                <a:ea typeface="Consolas" pitchFamily="34" charset="-122"/>
                <a:cs typeface="Consolas" pitchFamily="34" charset="-120"/>
              </a:rPr>
              <a:t>17 / 17</a:t>
            </a:r>
            <a:endParaRPr lang="en-US" sz="900" dirty="0"/>
          </a:p>
        </p:txBody>
      </p:sp>
      <p:sp>
        <p:nvSpPr>
          <p:cNvPr id="7" name="Text 5"/>
          <p:cNvSpPr/>
          <p:nvPr/>
        </p:nvSpPr>
        <p:spPr>
          <a:xfrm>
            <a:off x="457200" y="320040"/>
            <a:ext cx="548640" cy="320040"/>
          </a:xfrm>
          <a:prstGeom prst="rect">
            <a:avLst/>
          </a:prstGeom>
          <a:noFill/>
          <a:ln/>
        </p:spPr>
        <p:txBody>
          <a:bodyPr wrap="square"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05</a:t>
            </a:r>
            <a:endParaRPr lang="en-US" sz="1400" dirty="0"/>
          </a:p>
        </p:txBody>
      </p:sp>
      <p:sp>
        <p:nvSpPr>
          <p:cNvPr id="8" name="Text 6"/>
          <p:cNvSpPr/>
          <p:nvPr/>
        </p:nvSpPr>
        <p:spPr>
          <a:xfrm>
            <a:off x="960120" y="347472"/>
            <a:ext cx="5486400" cy="274320"/>
          </a:xfrm>
          <a:prstGeom prst="rect">
            <a:avLst/>
          </a:prstGeom>
          <a:noFill/>
          <a:ln/>
        </p:spPr>
        <p:txBody>
          <a:bodyPr wrap="square" rtlCol="0" anchor="ctr"/>
          <a:lstStyle/>
          <a:p>
            <a:pPr indent="0" marL="0">
              <a:buNone/>
            </a:pPr>
            <a:r>
              <a:rPr lang="en-US" sz="1000" spc="400" kern="0" dirty="0">
                <a:solidFill>
                  <a:srgbClr val="7A879F"/>
                </a:solidFill>
                <a:latin typeface="Calibri" pitchFamily="34" charset="0"/>
                <a:ea typeface="Calibri" pitchFamily="34" charset="-122"/>
                <a:cs typeface="Calibri" pitchFamily="34" charset="-120"/>
              </a:rPr>
              <a:t>CONCLUSION</a:t>
            </a:r>
            <a:endParaRPr lang="en-US" sz="1000" dirty="0"/>
          </a:p>
        </p:txBody>
      </p:sp>
      <p:sp>
        <p:nvSpPr>
          <p:cNvPr id="9" name="Shape 7"/>
          <p:cNvSpPr/>
          <p:nvPr/>
        </p:nvSpPr>
        <p:spPr>
          <a:xfrm>
            <a:off x="457200" y="713232"/>
            <a:ext cx="548640" cy="22860"/>
          </a:xfrm>
          <a:prstGeom prst="rect">
            <a:avLst/>
          </a:prstGeom>
          <a:solidFill>
            <a:srgbClr val="F59E0B"/>
          </a:solidFill>
          <a:ln/>
        </p:spPr>
      </p:sp>
      <p:sp>
        <p:nvSpPr>
          <p:cNvPr id="10" name="Text 8"/>
          <p:cNvSpPr/>
          <p:nvPr/>
        </p:nvSpPr>
        <p:spPr>
          <a:xfrm>
            <a:off x="457200" y="914400"/>
            <a:ext cx="11247120" cy="822960"/>
          </a:xfrm>
          <a:prstGeom prst="rect">
            <a:avLst/>
          </a:prstGeom>
          <a:noFill/>
          <a:ln/>
        </p:spPr>
        <p:txBody>
          <a:bodyPr wrap="square" rtlCol="0" anchor="ctr"/>
          <a:lstStyle/>
          <a:p>
            <a:pPr indent="0" marL="0">
              <a:buNone/>
            </a:pPr>
            <a:r>
              <a:rPr lang="en-US" sz="3600" b="1" dirty="0">
                <a:solidFill>
                  <a:srgbClr val="F5F7FA"/>
                </a:solidFill>
                <a:latin typeface="Georgia" pitchFamily="34" charset="0"/>
                <a:ea typeface="Georgia" pitchFamily="34" charset="-122"/>
                <a:cs typeface="Georgia" pitchFamily="34" charset="-120"/>
              </a:rPr>
              <a:t>The digital frontier is the next subscriber base.</a:t>
            </a:r>
            <a:endParaRPr lang="en-US" sz="3600" dirty="0"/>
          </a:p>
        </p:txBody>
      </p:sp>
      <p:sp>
        <p:nvSpPr>
          <p:cNvPr id="11" name="Shape 9"/>
          <p:cNvSpPr/>
          <p:nvPr/>
        </p:nvSpPr>
        <p:spPr>
          <a:xfrm>
            <a:off x="457200" y="1920240"/>
            <a:ext cx="11247120" cy="4114800"/>
          </a:xfrm>
          <a:prstGeom prst="rect">
            <a:avLst/>
          </a:prstGeom>
          <a:solidFill>
            <a:srgbClr val="1A2236"/>
          </a:solidFill>
          <a:ln w="9525">
            <a:solidFill>
              <a:srgbClr val="2A3650"/>
            </a:solidFill>
            <a:prstDash val="solid"/>
          </a:ln>
        </p:spPr>
      </p:sp>
      <p:sp>
        <p:nvSpPr>
          <p:cNvPr id="12" name="Shape 10"/>
          <p:cNvSpPr/>
          <p:nvPr/>
        </p:nvSpPr>
        <p:spPr>
          <a:xfrm>
            <a:off x="457200" y="1920240"/>
            <a:ext cx="109728" cy="4114800"/>
          </a:xfrm>
          <a:prstGeom prst="rect">
            <a:avLst/>
          </a:prstGeom>
          <a:solidFill>
            <a:srgbClr val="F59E0B"/>
          </a:solidFill>
          <a:ln/>
        </p:spPr>
      </p:sp>
      <p:sp>
        <p:nvSpPr>
          <p:cNvPr id="13" name="Text 11"/>
          <p:cNvSpPr/>
          <p:nvPr/>
        </p:nvSpPr>
        <p:spPr>
          <a:xfrm>
            <a:off x="822960" y="2194560"/>
            <a:ext cx="10515600" cy="1371600"/>
          </a:xfrm>
          <a:prstGeom prst="rect">
            <a:avLst/>
          </a:prstGeom>
          <a:noFill/>
          <a:ln/>
        </p:spPr>
        <p:txBody>
          <a:bodyPr wrap="square" rtlCol="0" anchor="ctr"/>
          <a:lstStyle/>
          <a:p>
            <a:pPr indent="0" marL="0">
              <a:buNone/>
            </a:pPr>
            <a:r>
              <a:rPr lang="en-US" sz="2600" i="1" dirty="0">
                <a:solidFill>
                  <a:srgbClr val="F5F7FA"/>
                </a:solidFill>
                <a:latin typeface="Georgia" pitchFamily="34" charset="0"/>
                <a:ea typeface="Georgia" pitchFamily="34" charset="-122"/>
                <a:cs typeface="Georgia" pitchFamily="34" charset="-120"/>
              </a:rPr>
              <a:t>In the digital economy, knowing a customer’s digital presence is more valuable than knowing where they live.</a:t>
            </a:r>
            <a:endParaRPr lang="en-US" sz="2600" dirty="0"/>
          </a:p>
        </p:txBody>
      </p:sp>
      <p:sp>
        <p:nvSpPr>
          <p:cNvPr id="14" name="Text 12"/>
          <p:cNvSpPr/>
          <p:nvPr/>
        </p:nvSpPr>
        <p:spPr>
          <a:xfrm>
            <a:off x="822960" y="4114800"/>
            <a:ext cx="10515600" cy="1828800"/>
          </a:xfrm>
          <a:prstGeom prst="rect">
            <a:avLst/>
          </a:prstGeom>
          <a:noFill/>
          <a:ln/>
        </p:spPr>
        <p:txBody>
          <a:bodyPr wrap="square" rtlCol="0" anchor="ctr"/>
          <a:lstStyle/>
          <a:p>
            <a:pPr indent="0" marL="0">
              <a:buNone/>
            </a:pPr>
            <a:r>
              <a:rPr lang="en-US" sz="1400" dirty="0">
                <a:solidFill>
                  <a:srgbClr val="B8C2D4"/>
                </a:solidFill>
                <a:latin typeface="Calibri" pitchFamily="34" charset="0"/>
                <a:ea typeface="Calibri" pitchFamily="34" charset="-122"/>
                <a:cs typeface="Calibri" pitchFamily="34" charset="-120"/>
              </a:rPr>
              <a:t>Email and social platforms are not nice‑to‑haves — they are strategic distribution. A single channel can reach millions of interconnected communities. bright.tv must invest in data and social as the primary tools to understand customers, communicate effectively and grow the subscriber base at scale.</a:t>
            </a:r>
            <a:endParaRPr lang="en-US" sz="1400" dirty="0"/>
          </a:p>
        </p:txBody>
      </p:sp>
      <p:sp>
        <p:nvSpPr>
          <p:cNvPr id="15" name="Text 13"/>
          <p:cNvSpPr/>
          <p:nvPr/>
        </p:nvSpPr>
        <p:spPr>
          <a:xfrm>
            <a:off x="457200" y="6263640"/>
            <a:ext cx="11247120" cy="274320"/>
          </a:xfrm>
          <a:prstGeom prst="rect">
            <a:avLst/>
          </a:prstGeom>
          <a:noFill/>
          <a:ln/>
        </p:spPr>
        <p:txBody>
          <a:bodyPr wrap="square" rtlCol="0" anchor="ctr"/>
          <a:lstStyle/>
          <a:p>
            <a:pPr algn="ctr" indent="0" marL="0">
              <a:buNone/>
            </a:pPr>
            <a:r>
              <a:rPr lang="en-US" sz="1000" b="1" spc="600" kern="0" dirty="0">
                <a:solidFill>
                  <a:srgbClr val="F59E0B"/>
                </a:solidFill>
                <a:latin typeface="Consolas" pitchFamily="34" charset="0"/>
                <a:ea typeface="Consolas" pitchFamily="34" charset="-122"/>
                <a:cs typeface="Consolas" pitchFamily="34" charset="-120"/>
              </a:rPr>
              <a:t>END OF DECK  ·  THANK YOU</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bright.tv - Strategic Growth &amp; Market Analysis</dc:title>
  <dc:subject>PptxGenJS Presentation</dc:subject>
  <dc:creator>PptxGenJS</dc:creator>
  <cp:lastModifiedBy>PptxGenJS</cp:lastModifiedBy>
  <cp:revision>1</cp:revision>
  <dcterms:created xsi:type="dcterms:W3CDTF">2026-04-20T20:11:52Z</dcterms:created>
  <dcterms:modified xsi:type="dcterms:W3CDTF">2026-04-20T20:11:52Z</dcterms:modified>
</cp:coreProperties>
</file>